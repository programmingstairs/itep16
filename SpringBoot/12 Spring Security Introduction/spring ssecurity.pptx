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4" r:id="rId8"/>
    <p:sldId id="266" r:id="rId9"/>
    <p:sldId id="272" r:id="rId10"/>
    <p:sldId id="268"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CCB7D-8174-386B-3E06-B93660B3DE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778DFD-28B9-9D4B-9639-4DE73C4A2C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E63639-0705-831F-EA7D-F713D25F68F7}"/>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5" name="Footer Placeholder 4">
            <a:extLst>
              <a:ext uri="{FF2B5EF4-FFF2-40B4-BE49-F238E27FC236}">
                <a16:creationId xmlns:a16="http://schemas.microsoft.com/office/drawing/2014/main" id="{1BFEF9AB-EB37-2A30-AA39-9D7440B15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E87180-D263-DF7B-0A48-A1CE07C13660}"/>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406554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5CE03-4647-919D-97B7-6D3AB4435C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2560F8-EF47-638B-E442-77B6FDCB46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D658E9-7251-08D6-1F72-0F2E05F1A4A3}"/>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5" name="Footer Placeholder 4">
            <a:extLst>
              <a:ext uri="{FF2B5EF4-FFF2-40B4-BE49-F238E27FC236}">
                <a16:creationId xmlns:a16="http://schemas.microsoft.com/office/drawing/2014/main" id="{FF20A100-C770-4169-D3D2-A8BAC98CC1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A1A51-0A40-9DD6-49B3-45CDE134F2D5}"/>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1463401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4A752-BB87-6F25-FB80-B0869825BE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E78C4D-F716-DDD2-6742-5A18EC88E0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463AD2-E492-FC24-84E2-136018877610}"/>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5" name="Footer Placeholder 4">
            <a:extLst>
              <a:ext uri="{FF2B5EF4-FFF2-40B4-BE49-F238E27FC236}">
                <a16:creationId xmlns:a16="http://schemas.microsoft.com/office/drawing/2014/main" id="{3DFF8632-B69B-C495-BD4E-B256D2A53A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14B39-BE62-271D-38E7-53D76DBC1147}"/>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14990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4A358-C50C-BE5E-70EC-5730F37AA6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7B4679-2181-11E2-2353-CBA3AA76CC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8C500A-6A8D-6B61-7AC0-804EC7E255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619032-B2BA-9E0C-C841-4D1D7F1DA97B}"/>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6" name="Footer Placeholder 5">
            <a:extLst>
              <a:ext uri="{FF2B5EF4-FFF2-40B4-BE49-F238E27FC236}">
                <a16:creationId xmlns:a16="http://schemas.microsoft.com/office/drawing/2014/main" id="{96FD0412-1C01-25EA-109A-EFFC0BB8EF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FDB949-7D9C-B5A3-5196-463FC53404B1}"/>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1911041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BCFE0-8E71-3F22-5A9B-FF1A4A3AFA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270337-455F-8704-0B90-FEBF5B2C61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3CAFB5-1089-35D6-7636-395A37A107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87516E-B910-9BC0-1149-4F691DFB7A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A74BF1-7ABA-01EE-E1BC-456F5A33A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9E4832-B2D1-0414-4C6E-AB03FB26E811}"/>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8" name="Footer Placeholder 7">
            <a:extLst>
              <a:ext uri="{FF2B5EF4-FFF2-40B4-BE49-F238E27FC236}">
                <a16:creationId xmlns:a16="http://schemas.microsoft.com/office/drawing/2014/main" id="{220A7732-5772-D786-F7FE-B09E1EFD5F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C2ECD-8DBE-EAB9-C23C-3F7AA619C1E8}"/>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2933930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47D3-848D-40DC-CCD6-FF8FFEEACE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8A07F2-C28A-19AC-566A-1EE985974897}"/>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4" name="Footer Placeholder 3">
            <a:extLst>
              <a:ext uri="{FF2B5EF4-FFF2-40B4-BE49-F238E27FC236}">
                <a16:creationId xmlns:a16="http://schemas.microsoft.com/office/drawing/2014/main" id="{60858644-CACD-6764-6271-044D433F14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CB4ED3-313B-1E65-76F0-A239D3E67A5D}"/>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3134316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ECEC46-D420-A9ED-6704-D4AC0D867C31}"/>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3" name="Footer Placeholder 2">
            <a:extLst>
              <a:ext uri="{FF2B5EF4-FFF2-40B4-BE49-F238E27FC236}">
                <a16:creationId xmlns:a16="http://schemas.microsoft.com/office/drawing/2014/main" id="{4B9E9BFF-E9E8-9C0E-EFB0-D135F7E5C2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19E3E2-F3C6-E8B6-BCA3-29C741E9E86E}"/>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3707890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A5796-9D22-53AD-82E5-8824782777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824424-7DFE-5560-50CD-04B005B4DA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93956-FEEE-ECC5-936A-36BEDE1CB7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2EC9F8-25DF-46D3-52CD-2FD8FD37D955}"/>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6" name="Footer Placeholder 5">
            <a:extLst>
              <a:ext uri="{FF2B5EF4-FFF2-40B4-BE49-F238E27FC236}">
                <a16:creationId xmlns:a16="http://schemas.microsoft.com/office/drawing/2014/main" id="{FE68AB1A-8D84-5EF9-609F-F8D75FC055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3BBAC2-DABC-2289-40F2-FE8166322DB3}"/>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3739564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D19A8-8FC7-9ED3-2343-0E00283B86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2DD3A-EA96-E090-626B-4257ED54FD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836700-A63A-8D8D-A388-C7567041E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651303-70BD-451B-4D70-301094B488C3}"/>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6" name="Footer Placeholder 5">
            <a:extLst>
              <a:ext uri="{FF2B5EF4-FFF2-40B4-BE49-F238E27FC236}">
                <a16:creationId xmlns:a16="http://schemas.microsoft.com/office/drawing/2014/main" id="{A7B092E6-B53E-41E4-E283-C8964CCDC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ACDCB1-3D9C-81D2-622D-7222249C741C}"/>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3354883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9AAFE-0E98-B3A9-FDAE-DC30844AC2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EF531-9481-EA4A-84EE-54934F0728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E2FB1-9AD0-8D89-FA1E-8B0BEEE9546B}"/>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5" name="Footer Placeholder 4">
            <a:extLst>
              <a:ext uri="{FF2B5EF4-FFF2-40B4-BE49-F238E27FC236}">
                <a16:creationId xmlns:a16="http://schemas.microsoft.com/office/drawing/2014/main" id="{9813F315-CF31-3673-6D33-24E495453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FE2D70-7B3E-B867-7427-C4881BE213F6}"/>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264445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4595A8-21F8-2F52-277A-34017BBF24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160BA9-502F-CF6A-2840-A4E961A65F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DE938-F455-6929-7737-A6184A971424}"/>
              </a:ext>
            </a:extLst>
          </p:cNvPr>
          <p:cNvSpPr>
            <a:spLocks noGrp="1"/>
          </p:cNvSpPr>
          <p:nvPr>
            <p:ph type="dt" sz="half" idx="10"/>
          </p:nvPr>
        </p:nvSpPr>
        <p:spPr/>
        <p:txBody>
          <a:bodyPr/>
          <a:lstStyle/>
          <a:p>
            <a:fld id="{C0FCC0A0-4038-443D-A681-384C04919816}" type="datetimeFigureOut">
              <a:rPr lang="en-US" smtClean="0"/>
              <a:t>1/20/2026</a:t>
            </a:fld>
            <a:endParaRPr lang="en-US"/>
          </a:p>
        </p:txBody>
      </p:sp>
      <p:sp>
        <p:nvSpPr>
          <p:cNvPr id="5" name="Footer Placeholder 4">
            <a:extLst>
              <a:ext uri="{FF2B5EF4-FFF2-40B4-BE49-F238E27FC236}">
                <a16:creationId xmlns:a16="http://schemas.microsoft.com/office/drawing/2014/main" id="{D6D2F5D1-2161-E4FD-3F94-D16D3C18E7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79E0C-2646-34BB-9309-8796826669D1}"/>
              </a:ext>
            </a:extLst>
          </p:cNvPr>
          <p:cNvSpPr>
            <a:spLocks noGrp="1"/>
          </p:cNvSpPr>
          <p:nvPr>
            <p:ph type="sldNum" sz="quarter" idx="12"/>
          </p:nvPr>
        </p:nvSpPr>
        <p:spPr/>
        <p:txBody>
          <a:bodyPr/>
          <a:lstStyle/>
          <a:p>
            <a:fld id="{D5E30386-1088-4B9C-AD42-CA6F5F8DA6C2}" type="slidenum">
              <a:rPr lang="en-US" smtClean="0"/>
              <a:t>‹#›</a:t>
            </a:fld>
            <a:endParaRPr lang="en-US"/>
          </a:p>
        </p:txBody>
      </p:sp>
    </p:spTree>
    <p:extLst>
      <p:ext uri="{BB962C8B-B14F-4D97-AF65-F5344CB8AC3E}">
        <p14:creationId xmlns:p14="http://schemas.microsoft.com/office/powerpoint/2010/main" val="350142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7CE529-8357-FD62-5FC7-8C5128DDD1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81EB80-DDB6-F4CD-96E4-A70F254460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51D8C-BE59-4665-3C42-0D25E59149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FCC0A0-4038-443D-A681-384C04919816}" type="datetimeFigureOut">
              <a:rPr lang="en-US" smtClean="0"/>
              <a:t>1/20/2026</a:t>
            </a:fld>
            <a:endParaRPr lang="en-US"/>
          </a:p>
        </p:txBody>
      </p:sp>
      <p:sp>
        <p:nvSpPr>
          <p:cNvPr id="5" name="Footer Placeholder 4">
            <a:extLst>
              <a:ext uri="{FF2B5EF4-FFF2-40B4-BE49-F238E27FC236}">
                <a16:creationId xmlns:a16="http://schemas.microsoft.com/office/drawing/2014/main" id="{BA14D929-28C5-C450-BA3D-31FF904449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F845AA-F4EA-B112-3E3D-B0768AB625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E30386-1088-4B9C-AD42-CA6F5F8DA6C2}" type="slidenum">
              <a:rPr lang="en-US" smtClean="0"/>
              <a:t>‹#›</a:t>
            </a:fld>
            <a:endParaRPr lang="en-US"/>
          </a:p>
        </p:txBody>
      </p:sp>
    </p:spTree>
    <p:extLst>
      <p:ext uri="{BB962C8B-B14F-4D97-AF65-F5344CB8AC3E}">
        <p14:creationId xmlns:p14="http://schemas.microsoft.com/office/powerpoint/2010/main" val="3137804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bing.com/ck/a?!&amp;&amp;p=21cce34856ba436827ef2a7c782f70acf0149f4cd5604c1237a4f1c06ee1fd39JmltdHM9MTc2ODM0ODgwMA&amp;ptn=3&amp;ver=2&amp;hsh=4&amp;fclid=07f07891-df4a-6cf7-0b95-6e4cdee26d6d&amp;psq=spring+security+in+spring+boot&amp;u=a1aHR0cHM6Ly93d3cubGlua2VkaW4uY29tL3B1bHNlL3VuZGVyc3RhbmRpbmctc3ByaW5nLXNlY3VyaXR5LWJvb3QtZ3VpZGUtc29mdHdhcmUtc3VzaXJ1LXNhbmNoaXRoYS1wZG52Yy8&amp;ntb=1"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8B56C-3912-A6E3-B972-69032C5B8A52}"/>
              </a:ext>
            </a:extLst>
          </p:cNvPr>
          <p:cNvSpPr>
            <a:spLocks noGrp="1"/>
          </p:cNvSpPr>
          <p:nvPr>
            <p:ph type="ctrTitle"/>
          </p:nvPr>
        </p:nvSpPr>
        <p:spPr>
          <a:xfrm>
            <a:off x="1524000" y="1570181"/>
            <a:ext cx="9144000" cy="2115128"/>
          </a:xfrm>
        </p:spPr>
        <p:txBody>
          <a:bodyPr/>
          <a:lstStyle/>
          <a:p>
            <a:r>
              <a:rPr lang="en-US" dirty="0"/>
              <a:t>Spring Security</a:t>
            </a:r>
          </a:p>
        </p:txBody>
      </p:sp>
    </p:spTree>
    <p:extLst>
      <p:ext uri="{BB962C8B-B14F-4D97-AF65-F5344CB8AC3E}">
        <p14:creationId xmlns:p14="http://schemas.microsoft.com/office/powerpoint/2010/main" val="2306336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E35A9A-7C10-065F-8755-AF0414D63EC0}"/>
              </a:ext>
            </a:extLst>
          </p:cNvPr>
          <p:cNvSpPr>
            <a:spLocks noGrp="1"/>
          </p:cNvSpPr>
          <p:nvPr>
            <p:ph idx="1"/>
          </p:nvPr>
        </p:nvSpPr>
        <p:spPr>
          <a:xfrm>
            <a:off x="766618" y="655782"/>
            <a:ext cx="10587182" cy="5938981"/>
          </a:xfrm>
        </p:spPr>
        <p:txBody>
          <a:bodyPr>
            <a:noAutofit/>
          </a:bodyPr>
          <a:lstStyle/>
          <a:p>
            <a:pPr algn="just"/>
            <a:r>
              <a:rPr lang="en-US" sz="2200" dirty="0"/>
              <a:t>Spring Security is a </a:t>
            </a:r>
            <a:r>
              <a:rPr lang="en-US" sz="2200" b="1" dirty="0"/>
              <a:t>framework that provides authentication, authorization, and protection against common security </a:t>
            </a:r>
            <a:r>
              <a:rPr lang="en-US" sz="2200" dirty="0"/>
              <a:t>threats like CSRF (Cross-Site Request Forgery) and session fixation in Java applications, particularly Spring-based ones.</a:t>
            </a:r>
          </a:p>
          <a:p>
            <a:pPr algn="just"/>
            <a:r>
              <a:rPr lang="en-US" sz="2200" b="1" dirty="0"/>
              <a:t>Here CSRF is an attack where a malicious website tricks a logged-in user’s browser into sending an unauthorized request to another trusted website.</a:t>
            </a:r>
            <a:endParaRPr lang="en-US" sz="2200" dirty="0"/>
          </a:p>
          <a:p>
            <a:pPr algn="just"/>
            <a:r>
              <a:rPr lang="en-US" sz="2200" dirty="0"/>
              <a:t>The key point is the request is sent </a:t>
            </a:r>
            <a:r>
              <a:rPr lang="en-US" sz="2200" b="1" dirty="0"/>
              <a:t>using the victim’s session/cookies</a:t>
            </a:r>
            <a:r>
              <a:rPr lang="en-US" sz="2200" dirty="0"/>
              <a:t>, so the server thinks it’s a valid user.</a:t>
            </a:r>
          </a:p>
          <a:p>
            <a:pPr algn="just"/>
            <a:r>
              <a:rPr lang="en-US" sz="2200" dirty="0"/>
              <a:t>Also Session Fixation is an attack where the attacker forces a user to use a known session ID, then hijacks the session after login.</a:t>
            </a:r>
          </a:p>
          <a:p>
            <a:pPr algn="just"/>
            <a:r>
              <a:rPr lang="en-US" sz="2200" dirty="0"/>
              <a:t>Also</a:t>
            </a:r>
            <a:r>
              <a:rPr lang="en-US" sz="2200" b="1" dirty="0"/>
              <a:t> </a:t>
            </a:r>
            <a:r>
              <a:rPr lang="en-US" sz="2200" dirty="0"/>
              <a:t>XSS is a security attack where an attacker injects malicious JavaScript into a trusted website, which then runs in another user’s browser.</a:t>
            </a:r>
          </a:p>
          <a:p>
            <a:pPr algn="just"/>
            <a:r>
              <a:rPr lang="en-US" sz="2200" b="1" dirty="0"/>
              <a:t>Why We Use Spring Security:</a:t>
            </a:r>
            <a:endParaRPr lang="en-US" sz="2200" dirty="0"/>
          </a:p>
          <a:p>
            <a:pPr lvl="1" algn="just"/>
            <a:r>
              <a:rPr lang="en-US" sz="1800" dirty="0"/>
              <a:t>Secures web applications and REST APIs from unauthorized access.</a:t>
            </a:r>
          </a:p>
          <a:p>
            <a:pPr lvl="1" algn="just"/>
            <a:r>
              <a:rPr lang="en-US" sz="1800" dirty="0"/>
              <a:t>Handles authentication and authorization seamlessly.</a:t>
            </a:r>
          </a:p>
          <a:p>
            <a:pPr lvl="1" algn="just"/>
            <a:r>
              <a:rPr lang="en-US" sz="1800" dirty="0"/>
              <a:t>Provides built-in protection against CSRF, XSS(Cross-Site Scripting), session fixation, etc.</a:t>
            </a:r>
          </a:p>
          <a:p>
            <a:pPr algn="just"/>
            <a:endParaRPr lang="en-US" sz="2200" dirty="0"/>
          </a:p>
        </p:txBody>
      </p:sp>
    </p:spTree>
    <p:extLst>
      <p:ext uri="{BB962C8B-B14F-4D97-AF65-F5344CB8AC3E}">
        <p14:creationId xmlns:p14="http://schemas.microsoft.com/office/powerpoint/2010/main" val="1928042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BD0DE4-1716-3CB9-537E-68C81939DA76}"/>
              </a:ext>
            </a:extLst>
          </p:cNvPr>
          <p:cNvSpPr>
            <a:spLocks noGrp="1"/>
          </p:cNvSpPr>
          <p:nvPr>
            <p:ph idx="1"/>
          </p:nvPr>
        </p:nvSpPr>
        <p:spPr>
          <a:xfrm>
            <a:off x="748145" y="748144"/>
            <a:ext cx="10605655" cy="5428819"/>
          </a:xfrm>
        </p:spPr>
        <p:txBody>
          <a:bodyPr>
            <a:normAutofit fontScale="92500" lnSpcReduction="20000"/>
          </a:bodyPr>
          <a:lstStyle/>
          <a:p>
            <a:r>
              <a:rPr lang="en-US" sz="2200" b="1" dirty="0"/>
              <a:t>When to use:</a:t>
            </a:r>
            <a:endParaRPr lang="en-US" sz="2200" dirty="0"/>
          </a:p>
          <a:p>
            <a:pPr lvl="1"/>
            <a:r>
              <a:rPr lang="en-US" sz="2200" dirty="0"/>
              <a:t>Any </a:t>
            </a:r>
            <a:r>
              <a:rPr lang="en-US" sz="2200" b="1" dirty="0"/>
              <a:t>Spring application</a:t>
            </a:r>
            <a:r>
              <a:rPr lang="en-US" sz="2200" dirty="0"/>
              <a:t> where user access needs control.</a:t>
            </a:r>
          </a:p>
          <a:p>
            <a:pPr lvl="1"/>
            <a:r>
              <a:rPr lang="en-US" sz="2200" dirty="0"/>
              <a:t>Applications exposing </a:t>
            </a:r>
            <a:r>
              <a:rPr lang="en-US" sz="2200" b="1" dirty="0"/>
              <a:t>REST APIs</a:t>
            </a:r>
            <a:r>
              <a:rPr lang="en-US" sz="2200" dirty="0"/>
              <a:t> that require secure access.</a:t>
            </a:r>
          </a:p>
          <a:p>
            <a:pPr lvl="1"/>
            <a:r>
              <a:rPr lang="en-US" sz="2200" dirty="0"/>
              <a:t>Apps with </a:t>
            </a:r>
            <a:r>
              <a:rPr lang="en-US" sz="2200" b="1" dirty="0"/>
              <a:t>multiple user roles</a:t>
            </a:r>
            <a:r>
              <a:rPr lang="en-US" sz="2200" dirty="0"/>
              <a:t> like admin, user, manager.</a:t>
            </a:r>
          </a:p>
          <a:p>
            <a:pPr lvl="1"/>
            <a:endParaRPr lang="en-US" sz="2200" dirty="0"/>
          </a:p>
          <a:p>
            <a:r>
              <a:rPr lang="en-US" sz="2200" b="1" dirty="0"/>
              <a:t>Where to use:</a:t>
            </a:r>
            <a:endParaRPr lang="en-US" sz="2200" dirty="0"/>
          </a:p>
          <a:p>
            <a:pPr lvl="1"/>
            <a:r>
              <a:rPr lang="en-US" sz="2200" dirty="0"/>
              <a:t>Web applications (Spring MVC, Spring Boot).</a:t>
            </a:r>
          </a:p>
          <a:p>
            <a:pPr lvl="1"/>
            <a:r>
              <a:rPr lang="en-US" sz="2200" dirty="0"/>
              <a:t>Microservices requiring </a:t>
            </a:r>
            <a:r>
              <a:rPr lang="en-US" sz="2200" b="1" dirty="0"/>
              <a:t>role-based access control</a:t>
            </a:r>
            <a:r>
              <a:rPr lang="en-US" sz="2200" dirty="0"/>
              <a:t>.</a:t>
            </a:r>
          </a:p>
          <a:p>
            <a:r>
              <a:rPr lang="en-US" sz="2200" dirty="0"/>
              <a:t>Enterprise applications handling </a:t>
            </a:r>
            <a:r>
              <a:rPr lang="en-US" sz="2200" b="1" dirty="0"/>
              <a:t>sensitive data</a:t>
            </a:r>
            <a:r>
              <a:rPr lang="en-US" sz="2200" dirty="0"/>
              <a:t>.</a:t>
            </a:r>
            <a:r>
              <a:rPr lang="en-US" sz="2200" b="1" dirty="0"/>
              <a:t> </a:t>
            </a:r>
          </a:p>
          <a:p>
            <a:endParaRPr lang="en-US" sz="2200" b="1" dirty="0"/>
          </a:p>
          <a:p>
            <a:r>
              <a:rPr lang="en-US" sz="2200" b="1" dirty="0"/>
              <a:t>How to use:</a:t>
            </a:r>
            <a:endParaRPr lang="en-US" sz="2200" dirty="0"/>
          </a:p>
          <a:p>
            <a:pPr marL="457200" lvl="1" indent="0">
              <a:buNone/>
            </a:pPr>
            <a:r>
              <a:rPr lang="en-US" sz="2200" dirty="0"/>
              <a:t>Include Spring Security dependency:</a:t>
            </a:r>
          </a:p>
          <a:p>
            <a:pPr marL="457200" lvl="1" indent="0">
              <a:buNone/>
            </a:pPr>
            <a:r>
              <a:rPr lang="en-US" sz="2200" dirty="0"/>
              <a:t>&lt;dependency&gt;</a:t>
            </a:r>
          </a:p>
          <a:p>
            <a:pPr marL="457200" lvl="1" indent="0">
              <a:buNone/>
            </a:pPr>
            <a:r>
              <a:rPr lang="en-US" sz="2200" dirty="0"/>
              <a:t>    &lt;</a:t>
            </a:r>
            <a:r>
              <a:rPr lang="en-US" sz="2200" dirty="0" err="1"/>
              <a:t>groupId</a:t>
            </a:r>
            <a:r>
              <a:rPr lang="en-US" sz="2200" dirty="0"/>
              <a:t>&gt;</a:t>
            </a:r>
            <a:r>
              <a:rPr lang="en-US" sz="2200" dirty="0" err="1"/>
              <a:t>org.springframework.boot</a:t>
            </a:r>
            <a:r>
              <a:rPr lang="en-US" sz="2200" dirty="0"/>
              <a:t>&lt;/</a:t>
            </a:r>
            <a:r>
              <a:rPr lang="en-US" sz="2200" dirty="0" err="1"/>
              <a:t>groupId</a:t>
            </a:r>
            <a:r>
              <a:rPr lang="en-US" sz="2200" dirty="0"/>
              <a:t>&gt;</a:t>
            </a:r>
          </a:p>
          <a:p>
            <a:pPr marL="457200" lvl="1" indent="0">
              <a:buNone/>
            </a:pPr>
            <a:r>
              <a:rPr lang="en-US" sz="2200" dirty="0"/>
              <a:t>    &lt;</a:t>
            </a:r>
            <a:r>
              <a:rPr lang="en-US" sz="2200" dirty="0" err="1"/>
              <a:t>artifactId</a:t>
            </a:r>
            <a:r>
              <a:rPr lang="en-US" sz="2200" dirty="0"/>
              <a:t>&gt;spring-boot-starter-security&lt;/</a:t>
            </a:r>
            <a:r>
              <a:rPr lang="en-US" sz="2200" dirty="0" err="1"/>
              <a:t>artifactId</a:t>
            </a:r>
            <a:r>
              <a:rPr lang="en-US" sz="2200" dirty="0"/>
              <a:t>&gt;</a:t>
            </a:r>
          </a:p>
          <a:p>
            <a:pPr marL="457200" lvl="1" indent="0">
              <a:buNone/>
            </a:pPr>
            <a:r>
              <a:rPr lang="en-US" sz="2200" dirty="0"/>
              <a:t>&lt;/dependency&gt;</a:t>
            </a:r>
          </a:p>
          <a:p>
            <a:r>
              <a:rPr lang="en-US" sz="2200" dirty="0"/>
              <a:t>Configure security using Java configuration (@EnableWebSecurity) or XML.</a:t>
            </a:r>
          </a:p>
          <a:p>
            <a:r>
              <a:rPr lang="en-US" sz="2200" dirty="0"/>
              <a:t>Use built-in authentication and authorization mechanisms.</a:t>
            </a:r>
          </a:p>
          <a:p>
            <a:endParaRPr lang="en-US" sz="2200" dirty="0"/>
          </a:p>
          <a:p>
            <a:pPr lvl="1"/>
            <a:endParaRPr lang="en-US" sz="2200" dirty="0"/>
          </a:p>
          <a:p>
            <a:endParaRPr lang="en-US" sz="2200" dirty="0"/>
          </a:p>
        </p:txBody>
      </p:sp>
    </p:spTree>
    <p:extLst>
      <p:ext uri="{BB962C8B-B14F-4D97-AF65-F5344CB8AC3E}">
        <p14:creationId xmlns:p14="http://schemas.microsoft.com/office/powerpoint/2010/main" val="44845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F3A09-AA99-713C-4E34-D06084155D23}"/>
              </a:ext>
            </a:extLst>
          </p:cNvPr>
          <p:cNvSpPr>
            <a:spLocks noGrp="1"/>
          </p:cNvSpPr>
          <p:nvPr>
            <p:ph type="title"/>
          </p:nvPr>
        </p:nvSpPr>
        <p:spPr>
          <a:xfrm>
            <a:off x="838200" y="365125"/>
            <a:ext cx="10515600" cy="798657"/>
          </a:xfrm>
        </p:spPr>
        <p:txBody>
          <a:bodyPr/>
          <a:lstStyle/>
          <a:p>
            <a:r>
              <a:rPr lang="en-US" dirty="0"/>
              <a:t>Authentication &amp; Authorization Concepts</a:t>
            </a:r>
          </a:p>
        </p:txBody>
      </p:sp>
      <p:sp>
        <p:nvSpPr>
          <p:cNvPr id="3" name="Content Placeholder 2">
            <a:extLst>
              <a:ext uri="{FF2B5EF4-FFF2-40B4-BE49-F238E27FC236}">
                <a16:creationId xmlns:a16="http://schemas.microsoft.com/office/drawing/2014/main" id="{CD6EA3B8-AE0B-03E5-F574-668EBC1494DF}"/>
              </a:ext>
            </a:extLst>
          </p:cNvPr>
          <p:cNvSpPr>
            <a:spLocks noGrp="1"/>
          </p:cNvSpPr>
          <p:nvPr>
            <p:ph idx="1"/>
          </p:nvPr>
        </p:nvSpPr>
        <p:spPr>
          <a:xfrm>
            <a:off x="838200" y="1542473"/>
            <a:ext cx="10515600" cy="4634490"/>
          </a:xfrm>
        </p:spPr>
        <p:txBody>
          <a:bodyPr>
            <a:normAutofit/>
          </a:bodyPr>
          <a:lstStyle/>
          <a:p>
            <a:pPr algn="just"/>
            <a:r>
              <a:rPr lang="en-US" sz="2200" b="1" dirty="0"/>
              <a:t>Authentication: </a:t>
            </a:r>
            <a:r>
              <a:rPr lang="en-US" sz="2200" dirty="0"/>
              <a:t>Verifies user identity through various mechanisms, including form-based authentication, basic authentication, and OAuth2. Spring Security supports multiple authentication methods, making it flexible for different application needs. </a:t>
            </a:r>
            <a:endParaRPr lang="en-US" sz="2200" u="sng" dirty="0">
              <a:hlinkClick r:id="rId2"/>
            </a:endParaRPr>
          </a:p>
          <a:p>
            <a:pPr algn="just"/>
            <a:r>
              <a:rPr lang="en-US" sz="2200" b="1" dirty="0"/>
              <a:t>Why: </a:t>
            </a:r>
            <a:r>
              <a:rPr lang="en-US" sz="2200" dirty="0"/>
              <a:t>To ensure only legitimate users access the system.</a:t>
            </a:r>
          </a:p>
          <a:p>
            <a:pPr algn="just"/>
            <a:r>
              <a:rPr lang="en-US" sz="2200" b="1" dirty="0"/>
              <a:t>When:</a:t>
            </a:r>
            <a:r>
              <a:rPr lang="en-US" sz="2200" dirty="0"/>
              <a:t> Every time a user logs in or calls a secured endpoint.</a:t>
            </a:r>
          </a:p>
          <a:p>
            <a:pPr algn="just"/>
            <a:r>
              <a:rPr lang="en-US" sz="2200" dirty="0"/>
              <a:t>Here OAuth 2.0 allows users to grant limited access to their resources to third-party apps without exposing credentials. Like Login with Google / GitHub / Facebook</a:t>
            </a:r>
          </a:p>
          <a:p>
            <a:pPr algn="just"/>
            <a:r>
              <a:rPr lang="en-US" sz="2200" dirty="0"/>
              <a:t>You Don’t give your password to the app but Allow Google to share limited data (email, profile)</a:t>
            </a:r>
          </a:p>
          <a:p>
            <a:pPr algn="just"/>
            <a:endParaRPr lang="en-US" sz="2200" dirty="0"/>
          </a:p>
        </p:txBody>
      </p:sp>
    </p:spTree>
    <p:extLst>
      <p:ext uri="{BB962C8B-B14F-4D97-AF65-F5344CB8AC3E}">
        <p14:creationId xmlns:p14="http://schemas.microsoft.com/office/powerpoint/2010/main" val="908936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6720D-8B7F-F80F-0068-883FE5669C45}"/>
              </a:ext>
            </a:extLst>
          </p:cNvPr>
          <p:cNvSpPr>
            <a:spLocks noGrp="1"/>
          </p:cNvSpPr>
          <p:nvPr>
            <p:ph idx="1"/>
          </p:nvPr>
        </p:nvSpPr>
        <p:spPr>
          <a:xfrm>
            <a:off x="838199" y="544945"/>
            <a:ext cx="10919691" cy="5632018"/>
          </a:xfrm>
        </p:spPr>
        <p:txBody>
          <a:bodyPr>
            <a:normAutofit/>
          </a:bodyPr>
          <a:lstStyle/>
          <a:p>
            <a:r>
              <a:rPr lang="en-US" sz="2200" b="1" dirty="0"/>
              <a:t>Authorization:</a:t>
            </a:r>
            <a:r>
              <a:rPr lang="en-US" sz="2200" dirty="0"/>
              <a:t> Controls access to resources based on user roles and privileges. For example, an "ADMIN" role may have full access, while a "USER" role has limited access. </a:t>
            </a:r>
          </a:p>
          <a:p>
            <a:r>
              <a:rPr lang="en-US" sz="2200" b="1" dirty="0"/>
              <a:t>Why:</a:t>
            </a:r>
            <a:r>
              <a:rPr lang="en-US" sz="2200" dirty="0"/>
              <a:t> To restrict access based on roles or privileges.</a:t>
            </a:r>
          </a:p>
          <a:p>
            <a:r>
              <a:rPr lang="en-US" sz="2200" b="1" dirty="0"/>
              <a:t>When:</a:t>
            </a:r>
            <a:r>
              <a:rPr lang="en-US" sz="2200" dirty="0"/>
              <a:t> Every time a user requests a resource or API endpoint.</a:t>
            </a:r>
          </a:p>
          <a:p>
            <a:r>
              <a:rPr lang="en-US" sz="2200" b="1" dirty="0"/>
              <a:t>Where:</a:t>
            </a:r>
            <a:r>
              <a:rPr lang="en-US" sz="2200" dirty="0"/>
              <a:t> Controller methods, REST endpoints, UI pages.</a:t>
            </a:r>
          </a:p>
          <a:p>
            <a:r>
              <a:rPr lang="en-US" sz="2200" b="1" dirty="0"/>
              <a:t>How:</a:t>
            </a:r>
            <a:endParaRPr lang="en-US" sz="2200" dirty="0"/>
          </a:p>
          <a:p>
            <a:pPr lvl="1"/>
            <a:r>
              <a:rPr lang="en-US" sz="2200" dirty="0"/>
              <a:t>Role-based (ROLE_ADMIN, ROLE_USER)</a:t>
            </a:r>
          </a:p>
          <a:p>
            <a:pPr lvl="1"/>
            <a:r>
              <a:rPr lang="en-US" sz="2200" dirty="0"/>
              <a:t>Permission-based (method-level security @PreAuthorize)</a:t>
            </a:r>
          </a:p>
          <a:p>
            <a:r>
              <a:rPr lang="en-US" sz="2200" b="1" dirty="0"/>
              <a:t>Example:</a:t>
            </a:r>
            <a:endParaRPr lang="en-US" sz="2200" dirty="0"/>
          </a:p>
          <a:p>
            <a:pPr marL="457200" lvl="1" indent="0">
              <a:buNone/>
            </a:pPr>
            <a:r>
              <a:rPr lang="en-US" dirty="0"/>
              <a:t>.</a:t>
            </a:r>
            <a:r>
              <a:rPr lang="en-US" dirty="0" err="1"/>
              <a:t>authorizeHttpRequests</a:t>
            </a:r>
            <a:r>
              <a:rPr lang="en-US" dirty="0"/>
              <a:t>(auth -&gt; auth</a:t>
            </a:r>
          </a:p>
          <a:p>
            <a:pPr marL="457200" lvl="1" indent="0">
              <a:buNone/>
            </a:pPr>
            <a:r>
              <a:rPr lang="en-US" dirty="0"/>
              <a:t>	.</a:t>
            </a:r>
            <a:r>
              <a:rPr lang="en-US" dirty="0" err="1"/>
              <a:t>requestMatchers</a:t>
            </a:r>
            <a:r>
              <a:rPr lang="en-US" dirty="0"/>
              <a:t>("/admin/**").</a:t>
            </a:r>
            <a:r>
              <a:rPr lang="en-US" dirty="0" err="1"/>
              <a:t>hasRole</a:t>
            </a:r>
            <a:r>
              <a:rPr lang="en-US" dirty="0"/>
              <a:t>("ADMIN")</a:t>
            </a:r>
          </a:p>
          <a:p>
            <a:pPr marL="457200" lvl="1" indent="0">
              <a:buNone/>
            </a:pPr>
            <a:r>
              <a:rPr lang="en-US" dirty="0"/>
              <a:t>	.</a:t>
            </a:r>
            <a:r>
              <a:rPr lang="en-US" dirty="0" err="1"/>
              <a:t>requestMatchers</a:t>
            </a:r>
            <a:r>
              <a:rPr lang="en-US" dirty="0"/>
              <a:t>("/user/**").</a:t>
            </a:r>
            <a:r>
              <a:rPr lang="en-US" dirty="0" err="1"/>
              <a:t>hasAnyRole</a:t>
            </a:r>
            <a:r>
              <a:rPr lang="en-US" dirty="0"/>
              <a:t>("ADMIN", "USER")</a:t>
            </a:r>
          </a:p>
          <a:p>
            <a:pPr marL="457200" lvl="1" indent="0">
              <a:buNone/>
            </a:pPr>
            <a:r>
              <a:rPr lang="en-US" dirty="0"/>
              <a:t>	.</a:t>
            </a:r>
            <a:r>
              <a:rPr lang="en-US" dirty="0" err="1"/>
              <a:t>anyRequest</a:t>
            </a:r>
            <a:r>
              <a:rPr lang="en-US" dirty="0"/>
              <a:t>().authenticated()</a:t>
            </a:r>
          </a:p>
          <a:p>
            <a:pPr marL="457200" lvl="1" indent="0">
              <a:buNone/>
            </a:pPr>
            <a:r>
              <a:rPr lang="en-US" dirty="0"/>
              <a:t>)</a:t>
            </a:r>
          </a:p>
          <a:p>
            <a:endParaRPr lang="en-US" sz="2200" dirty="0"/>
          </a:p>
        </p:txBody>
      </p:sp>
    </p:spTree>
    <p:extLst>
      <p:ext uri="{BB962C8B-B14F-4D97-AF65-F5344CB8AC3E}">
        <p14:creationId xmlns:p14="http://schemas.microsoft.com/office/powerpoint/2010/main" val="3015682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EA99D-DBA0-6F6F-B629-73ED354F803C}"/>
              </a:ext>
            </a:extLst>
          </p:cNvPr>
          <p:cNvSpPr>
            <a:spLocks noGrp="1"/>
          </p:cNvSpPr>
          <p:nvPr>
            <p:ph type="title"/>
          </p:nvPr>
        </p:nvSpPr>
        <p:spPr>
          <a:xfrm>
            <a:off x="838200" y="161637"/>
            <a:ext cx="10515600" cy="844839"/>
          </a:xfrm>
        </p:spPr>
        <p:txBody>
          <a:bodyPr/>
          <a:lstStyle/>
          <a:p>
            <a:r>
              <a:rPr lang="en-US" dirty="0"/>
              <a:t>Securing REST APIs</a:t>
            </a:r>
          </a:p>
        </p:txBody>
      </p:sp>
      <p:sp>
        <p:nvSpPr>
          <p:cNvPr id="3" name="Content Placeholder 2">
            <a:extLst>
              <a:ext uri="{FF2B5EF4-FFF2-40B4-BE49-F238E27FC236}">
                <a16:creationId xmlns:a16="http://schemas.microsoft.com/office/drawing/2014/main" id="{28FDC98B-08A8-475A-3645-86BA17281EDF}"/>
              </a:ext>
            </a:extLst>
          </p:cNvPr>
          <p:cNvSpPr>
            <a:spLocks noGrp="1"/>
          </p:cNvSpPr>
          <p:nvPr>
            <p:ph idx="1"/>
          </p:nvPr>
        </p:nvSpPr>
        <p:spPr>
          <a:xfrm>
            <a:off x="838200" y="1136072"/>
            <a:ext cx="10515600" cy="5721928"/>
          </a:xfrm>
        </p:spPr>
        <p:txBody>
          <a:bodyPr>
            <a:normAutofit fontScale="85000" lnSpcReduction="20000"/>
          </a:bodyPr>
          <a:lstStyle/>
          <a:p>
            <a:pPr marL="0" indent="0" algn="just">
              <a:buNone/>
            </a:pPr>
            <a:r>
              <a:rPr lang="en-US" sz="2200" dirty="0"/>
              <a:t>Protecting API endpoints so only authorized users can access them.</a:t>
            </a:r>
          </a:p>
          <a:p>
            <a:pPr algn="just"/>
            <a:r>
              <a:rPr lang="en-US" sz="2200" b="1" dirty="0"/>
              <a:t>Why: </a:t>
            </a:r>
            <a:r>
              <a:rPr lang="en-US" sz="2200" dirty="0"/>
              <a:t>REST APIs are stateless and exposed over the network, making them vulnerable.</a:t>
            </a:r>
          </a:p>
          <a:p>
            <a:pPr algn="just"/>
            <a:r>
              <a:rPr lang="en-US" sz="2200" dirty="0"/>
              <a:t>Ensures </a:t>
            </a:r>
            <a:r>
              <a:rPr lang="en-US" sz="2200" b="1" dirty="0"/>
              <a:t>only authenticated users</a:t>
            </a:r>
            <a:r>
              <a:rPr lang="en-US" sz="2200" dirty="0"/>
              <a:t> can perform actions.</a:t>
            </a:r>
          </a:p>
          <a:p>
            <a:pPr algn="just"/>
            <a:r>
              <a:rPr lang="en-US" sz="2200" b="1" dirty="0"/>
              <a:t>When: </a:t>
            </a:r>
            <a:r>
              <a:rPr lang="en-US" sz="2200" dirty="0"/>
              <a:t>Always for APIs that handle sensitive data (users, payments, reports).</a:t>
            </a:r>
          </a:p>
          <a:p>
            <a:pPr algn="just"/>
            <a:r>
              <a:rPr lang="en-US" sz="2200" b="1" dirty="0"/>
              <a:t>Where: </a:t>
            </a:r>
            <a:r>
              <a:rPr lang="en-US" sz="2200" dirty="0"/>
              <a:t>Spring Boot controllers, services handling API endpoints.</a:t>
            </a:r>
          </a:p>
          <a:p>
            <a:r>
              <a:rPr lang="en-US" sz="2200" b="1" dirty="0"/>
              <a:t>How:</a:t>
            </a:r>
            <a:endParaRPr lang="en-US" sz="2200" dirty="0"/>
          </a:p>
          <a:p>
            <a:r>
              <a:rPr lang="en-US" sz="2200" dirty="0"/>
              <a:t>Use Spring Security filters to secure endpoints.</a:t>
            </a:r>
          </a:p>
          <a:p>
            <a:r>
              <a:rPr lang="en-US" sz="2200" dirty="0"/>
              <a:t>Configure URL patterns with .</a:t>
            </a:r>
            <a:r>
              <a:rPr lang="en-US" sz="2200" dirty="0" err="1"/>
              <a:t>requestMatchers</a:t>
            </a:r>
            <a:r>
              <a:rPr lang="en-US" sz="2200" dirty="0"/>
              <a:t>() and roles.</a:t>
            </a:r>
          </a:p>
          <a:p>
            <a:r>
              <a:rPr lang="en-US" sz="2200" dirty="0"/>
              <a:t>Optionally combine with JWT for </a:t>
            </a:r>
            <a:r>
              <a:rPr lang="en-US" sz="2200" b="1" dirty="0"/>
              <a:t>stateless authentication</a:t>
            </a:r>
            <a:r>
              <a:rPr lang="en-US" sz="2200" dirty="0"/>
              <a:t>.</a:t>
            </a:r>
          </a:p>
          <a:p>
            <a:r>
              <a:rPr lang="en-US" sz="2200" b="1" dirty="0"/>
              <a:t>Example:</a:t>
            </a:r>
            <a:endParaRPr lang="en-US" sz="2200" dirty="0"/>
          </a:p>
          <a:p>
            <a:pPr marL="457200" lvl="1" indent="0">
              <a:buNone/>
            </a:pPr>
            <a:r>
              <a:rPr lang="en-US" dirty="0"/>
              <a:t>http</a:t>
            </a:r>
          </a:p>
          <a:p>
            <a:pPr marL="457200" lvl="1" indent="0">
              <a:buNone/>
            </a:pPr>
            <a:r>
              <a:rPr lang="en-US" dirty="0"/>
              <a:t>	.</a:t>
            </a:r>
            <a:r>
              <a:rPr lang="en-US" dirty="0" err="1"/>
              <a:t>csrf</a:t>
            </a:r>
            <a:r>
              <a:rPr lang="en-US" dirty="0"/>
              <a:t>(</a:t>
            </a:r>
            <a:r>
              <a:rPr lang="en-US" dirty="0" err="1"/>
              <a:t>csrf</a:t>
            </a:r>
            <a:r>
              <a:rPr lang="en-US" dirty="0"/>
              <a:t> -&gt; </a:t>
            </a:r>
            <a:r>
              <a:rPr lang="en-US" dirty="0" err="1"/>
              <a:t>csrf.disable</a:t>
            </a:r>
            <a:r>
              <a:rPr lang="en-US" dirty="0"/>
              <a:t>()) // Disable CSRF (for REST APIs)</a:t>
            </a:r>
          </a:p>
          <a:p>
            <a:pPr marL="457200" lvl="1" indent="0">
              <a:buNone/>
            </a:pPr>
            <a:r>
              <a:rPr lang="en-US" dirty="0"/>
              <a:t>	.</a:t>
            </a:r>
            <a:r>
              <a:rPr lang="en-US" dirty="0" err="1"/>
              <a:t>authorizeHttpRequests</a:t>
            </a:r>
            <a:r>
              <a:rPr lang="en-US" dirty="0"/>
              <a:t>(auth -&gt; auth  // Authorization Rules</a:t>
            </a:r>
          </a:p>
          <a:p>
            <a:pPr marL="457200" lvl="1" indent="0">
              <a:buNone/>
            </a:pPr>
            <a:r>
              <a:rPr lang="en-US" dirty="0"/>
              <a:t>	.</a:t>
            </a:r>
            <a:r>
              <a:rPr lang="en-US" dirty="0" err="1"/>
              <a:t>requestMatchers</a:t>
            </a:r>
            <a:r>
              <a:rPr lang="en-US" dirty="0"/>
              <a:t>("/admin/**").</a:t>
            </a:r>
            <a:r>
              <a:rPr lang="en-US" dirty="0" err="1"/>
              <a:t>hasRole</a:t>
            </a:r>
            <a:r>
              <a:rPr lang="en-US" dirty="0"/>
              <a:t>("ADMIN")</a:t>
            </a:r>
          </a:p>
          <a:p>
            <a:pPr marL="457200" lvl="1" indent="0">
              <a:buNone/>
            </a:pPr>
            <a:r>
              <a:rPr lang="en-US" dirty="0"/>
              <a:t>	.</a:t>
            </a:r>
            <a:r>
              <a:rPr lang="en-US" dirty="0" err="1"/>
              <a:t>requestMatchers</a:t>
            </a:r>
            <a:r>
              <a:rPr lang="en-US" dirty="0"/>
              <a:t>("/user/**").</a:t>
            </a:r>
            <a:r>
              <a:rPr lang="en-US" dirty="0" err="1"/>
              <a:t>hasAnyRole</a:t>
            </a:r>
            <a:r>
              <a:rPr lang="en-US" dirty="0"/>
              <a:t>("ADMIN", "USER")</a:t>
            </a:r>
          </a:p>
          <a:p>
            <a:pPr marL="457200" lvl="1" indent="0">
              <a:buNone/>
            </a:pPr>
            <a:r>
              <a:rPr lang="en-US" dirty="0"/>
              <a:t>	.</a:t>
            </a:r>
            <a:r>
              <a:rPr lang="en-US" dirty="0" err="1"/>
              <a:t>anyRequest</a:t>
            </a:r>
            <a:r>
              <a:rPr lang="en-US" dirty="0"/>
              <a:t>().authenticated()</a:t>
            </a:r>
          </a:p>
          <a:p>
            <a:pPr marL="457200" lvl="1" indent="0">
              <a:buNone/>
            </a:pPr>
            <a:r>
              <a:rPr lang="en-US" dirty="0"/>
              <a:t>)</a:t>
            </a:r>
          </a:p>
          <a:p>
            <a:pPr marL="457200" lvl="1" indent="0">
              <a:buNone/>
            </a:pPr>
            <a:r>
              <a:rPr lang="en-US" dirty="0"/>
              <a:t>.</a:t>
            </a:r>
            <a:r>
              <a:rPr lang="en-US" dirty="0" err="1"/>
              <a:t>httpBasic</a:t>
            </a:r>
            <a:r>
              <a:rPr lang="en-US" dirty="0"/>
              <a:t>(</a:t>
            </a:r>
            <a:r>
              <a:rPr lang="en-US" dirty="0" err="1"/>
              <a:t>Customizer.</a:t>
            </a:r>
            <a:r>
              <a:rPr lang="en-US" i="1" dirty="0" err="1"/>
              <a:t>withDefaults</a:t>
            </a:r>
            <a:r>
              <a:rPr lang="en-US" dirty="0"/>
              <a:t>()); // HTTP Basic Authentication</a:t>
            </a:r>
          </a:p>
          <a:p>
            <a:endParaRPr lang="en-US" dirty="0"/>
          </a:p>
          <a:p>
            <a:pPr marL="457200" lvl="1" indent="0">
              <a:buNone/>
            </a:pPr>
            <a:endParaRPr lang="en-US" sz="1800" dirty="0"/>
          </a:p>
          <a:p>
            <a:pPr marL="457200" lvl="1" indent="0" algn="just">
              <a:buNone/>
            </a:pPr>
            <a:endParaRPr lang="en-US" sz="1800" dirty="0"/>
          </a:p>
          <a:p>
            <a:pPr algn="just"/>
            <a:endParaRPr lang="en-US" sz="2200" dirty="0"/>
          </a:p>
        </p:txBody>
      </p:sp>
    </p:spTree>
    <p:extLst>
      <p:ext uri="{BB962C8B-B14F-4D97-AF65-F5344CB8AC3E}">
        <p14:creationId xmlns:p14="http://schemas.microsoft.com/office/powerpoint/2010/main" val="2752817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9841E-77CF-22A5-30A7-0F38FCF0032C}"/>
              </a:ext>
            </a:extLst>
          </p:cNvPr>
          <p:cNvSpPr>
            <a:spLocks noGrp="1"/>
          </p:cNvSpPr>
          <p:nvPr>
            <p:ph type="title"/>
          </p:nvPr>
        </p:nvSpPr>
        <p:spPr>
          <a:xfrm>
            <a:off x="838200" y="365126"/>
            <a:ext cx="10515600" cy="669348"/>
          </a:xfrm>
        </p:spPr>
        <p:txBody>
          <a:bodyPr>
            <a:normAutofit fontScale="90000"/>
          </a:bodyPr>
          <a:lstStyle/>
          <a:p>
            <a:r>
              <a:rPr lang="en-US" dirty="0"/>
              <a:t>In-Memory Authentication</a:t>
            </a:r>
          </a:p>
        </p:txBody>
      </p:sp>
      <p:sp>
        <p:nvSpPr>
          <p:cNvPr id="3" name="Content Placeholder 2">
            <a:extLst>
              <a:ext uri="{FF2B5EF4-FFF2-40B4-BE49-F238E27FC236}">
                <a16:creationId xmlns:a16="http://schemas.microsoft.com/office/drawing/2014/main" id="{D2929A6F-AE0A-AB4E-4012-B28E020B9A77}"/>
              </a:ext>
            </a:extLst>
          </p:cNvPr>
          <p:cNvSpPr>
            <a:spLocks noGrp="1"/>
          </p:cNvSpPr>
          <p:nvPr>
            <p:ph idx="1"/>
          </p:nvPr>
        </p:nvSpPr>
        <p:spPr>
          <a:xfrm>
            <a:off x="838200" y="1034474"/>
            <a:ext cx="11159836" cy="5142489"/>
          </a:xfrm>
        </p:spPr>
        <p:txBody>
          <a:bodyPr>
            <a:normAutofit fontScale="85000" lnSpcReduction="10000"/>
          </a:bodyPr>
          <a:lstStyle/>
          <a:p>
            <a:r>
              <a:rPr lang="en-US" sz="2600" dirty="0"/>
              <a:t>Users and credentials are stored </a:t>
            </a:r>
            <a:r>
              <a:rPr lang="en-US" sz="2600" b="1" dirty="0"/>
              <a:t>in memory</a:t>
            </a:r>
            <a:r>
              <a:rPr lang="en-US" sz="2600" dirty="0"/>
              <a:t> (RAM).</a:t>
            </a:r>
          </a:p>
          <a:p>
            <a:r>
              <a:rPr lang="en-US" sz="2600" dirty="0"/>
              <a:t>Useful for </a:t>
            </a:r>
            <a:r>
              <a:rPr lang="en-US" sz="2600" b="1" dirty="0"/>
              <a:t>quick testing</a:t>
            </a:r>
            <a:r>
              <a:rPr lang="en-US" sz="2600" dirty="0"/>
              <a:t>.</a:t>
            </a:r>
          </a:p>
          <a:p>
            <a:r>
              <a:rPr lang="en-US" sz="2600" b="1" dirty="0"/>
              <a:t>Why: </a:t>
            </a:r>
            <a:r>
              <a:rPr lang="en-US" sz="2600" dirty="0"/>
              <a:t>Easy to set up for learning or testing small apps, No need for a database initially.</a:t>
            </a:r>
          </a:p>
          <a:p>
            <a:r>
              <a:rPr lang="en-US" sz="2600" b="1" dirty="0"/>
              <a:t>When: </a:t>
            </a:r>
            <a:r>
              <a:rPr lang="en-US" sz="2600" dirty="0"/>
              <a:t>During </a:t>
            </a:r>
            <a:r>
              <a:rPr lang="en-US" sz="2600" b="1" dirty="0"/>
              <a:t>development</a:t>
            </a:r>
            <a:endParaRPr lang="en-US" sz="2600" dirty="0"/>
          </a:p>
          <a:p>
            <a:r>
              <a:rPr lang="en-US" sz="2600" b="1" dirty="0"/>
              <a:t>Where: </a:t>
            </a:r>
            <a:r>
              <a:rPr lang="en-US" sz="2600" dirty="0"/>
              <a:t>Spring Security configuration class.</a:t>
            </a:r>
          </a:p>
          <a:p>
            <a:r>
              <a:rPr lang="en-US" sz="2600" b="1" dirty="0"/>
              <a:t>How:</a:t>
            </a:r>
            <a:endParaRPr lang="en-US" sz="2600" dirty="0"/>
          </a:p>
          <a:p>
            <a:pPr marL="457200" lvl="1" indent="0">
              <a:buNone/>
            </a:pPr>
            <a:r>
              <a:rPr lang="en-US" dirty="0"/>
              <a:t>@Override</a:t>
            </a:r>
          </a:p>
          <a:p>
            <a:pPr marL="457200" lvl="1" indent="0">
              <a:buNone/>
            </a:pPr>
            <a:r>
              <a:rPr lang="en-US" dirty="0"/>
              <a:t>protected void configure(</a:t>
            </a:r>
            <a:r>
              <a:rPr lang="en-US" dirty="0" err="1"/>
              <a:t>AuthenticationManagerBuilder</a:t>
            </a:r>
            <a:r>
              <a:rPr lang="en-US" dirty="0"/>
              <a:t> auth) throws Exception {</a:t>
            </a:r>
          </a:p>
          <a:p>
            <a:pPr marL="457200" lvl="1" indent="0">
              <a:buNone/>
            </a:pPr>
            <a:r>
              <a:rPr lang="en-US" dirty="0"/>
              <a:t>    </a:t>
            </a:r>
            <a:r>
              <a:rPr lang="en-US" dirty="0" err="1"/>
              <a:t>auth.inMemoryAuthentication</a:t>
            </a:r>
            <a:r>
              <a:rPr lang="en-US" dirty="0"/>
              <a:t>()</a:t>
            </a:r>
          </a:p>
          <a:p>
            <a:pPr marL="457200" lvl="1" indent="0">
              <a:buNone/>
            </a:pPr>
            <a:r>
              <a:rPr lang="en-US" dirty="0"/>
              <a:t>        .</a:t>
            </a:r>
            <a:r>
              <a:rPr lang="en-US" dirty="0" err="1"/>
              <a:t>withUser</a:t>
            </a:r>
            <a:r>
              <a:rPr lang="en-US" dirty="0"/>
              <a:t>("user").password(</a:t>
            </a:r>
            <a:r>
              <a:rPr lang="en-US" dirty="0" err="1"/>
              <a:t>passwordEncoder</a:t>
            </a:r>
            <a:r>
              <a:rPr lang="en-US" dirty="0"/>
              <a:t>().encode("user123")).roles("USER")</a:t>
            </a:r>
          </a:p>
          <a:p>
            <a:pPr marL="457200" lvl="1" indent="0">
              <a:buNone/>
            </a:pPr>
            <a:r>
              <a:rPr lang="en-US" dirty="0"/>
              <a:t>        .and()        .</a:t>
            </a:r>
            <a:r>
              <a:rPr lang="en-US" dirty="0" err="1"/>
              <a:t>withUser</a:t>
            </a:r>
            <a:r>
              <a:rPr lang="en-US" dirty="0"/>
              <a:t>("admin").password(</a:t>
            </a:r>
            <a:r>
              <a:rPr lang="en-US" dirty="0" err="1"/>
              <a:t>passwordEncoder</a:t>
            </a:r>
            <a:r>
              <a:rPr lang="en-US" dirty="0"/>
              <a:t>().encode("admin123")).roles("ADMIN");</a:t>
            </a:r>
          </a:p>
          <a:p>
            <a:pPr marL="457200" lvl="1" indent="0">
              <a:buNone/>
            </a:pPr>
            <a:r>
              <a:rPr lang="en-US" dirty="0"/>
              <a:t>}</a:t>
            </a:r>
          </a:p>
          <a:p>
            <a:r>
              <a:rPr lang="en-US" sz="2600" b="1" dirty="0"/>
              <a:t>Tip:</a:t>
            </a:r>
            <a:r>
              <a:rPr lang="en-US" sz="2600" dirty="0"/>
              <a:t> Always encode passwords even for in-memory users.</a:t>
            </a:r>
          </a:p>
          <a:p>
            <a:endParaRPr lang="en-US" dirty="0"/>
          </a:p>
          <a:p>
            <a:endParaRPr lang="en-US" dirty="0"/>
          </a:p>
          <a:p>
            <a:endParaRPr lang="en-US" dirty="0"/>
          </a:p>
        </p:txBody>
      </p:sp>
    </p:spTree>
    <p:extLst>
      <p:ext uri="{BB962C8B-B14F-4D97-AF65-F5344CB8AC3E}">
        <p14:creationId xmlns:p14="http://schemas.microsoft.com/office/powerpoint/2010/main" val="167250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658D-91F1-1E82-8A58-5A3C1E7F5657}"/>
              </a:ext>
            </a:extLst>
          </p:cNvPr>
          <p:cNvSpPr>
            <a:spLocks noGrp="1"/>
          </p:cNvSpPr>
          <p:nvPr>
            <p:ph type="title"/>
          </p:nvPr>
        </p:nvSpPr>
        <p:spPr>
          <a:xfrm>
            <a:off x="838200" y="365126"/>
            <a:ext cx="10515600" cy="669348"/>
          </a:xfrm>
        </p:spPr>
        <p:txBody>
          <a:bodyPr>
            <a:normAutofit fontScale="90000"/>
          </a:bodyPr>
          <a:lstStyle/>
          <a:p>
            <a:r>
              <a:rPr lang="en-US" dirty="0"/>
              <a:t>Database Authentication</a:t>
            </a:r>
          </a:p>
        </p:txBody>
      </p:sp>
      <p:sp>
        <p:nvSpPr>
          <p:cNvPr id="3" name="Content Placeholder 2">
            <a:extLst>
              <a:ext uri="{FF2B5EF4-FFF2-40B4-BE49-F238E27FC236}">
                <a16:creationId xmlns:a16="http://schemas.microsoft.com/office/drawing/2014/main" id="{CB044D0E-4996-57C8-822D-2DB153C545D2}"/>
              </a:ext>
            </a:extLst>
          </p:cNvPr>
          <p:cNvSpPr>
            <a:spLocks noGrp="1"/>
          </p:cNvSpPr>
          <p:nvPr>
            <p:ph idx="1"/>
          </p:nvPr>
        </p:nvSpPr>
        <p:spPr>
          <a:xfrm>
            <a:off x="838200" y="1108364"/>
            <a:ext cx="10515600" cy="5643418"/>
          </a:xfrm>
        </p:spPr>
        <p:txBody>
          <a:bodyPr>
            <a:normAutofit/>
          </a:bodyPr>
          <a:lstStyle/>
          <a:p>
            <a:pPr marL="0" indent="0">
              <a:buNone/>
            </a:pPr>
            <a:r>
              <a:rPr lang="en-US" sz="2400" dirty="0"/>
              <a:t>User credentials and roles are stored in a </a:t>
            </a:r>
            <a:r>
              <a:rPr lang="en-US" sz="2400" b="1" dirty="0"/>
              <a:t>database</a:t>
            </a:r>
            <a:r>
              <a:rPr lang="en-US" sz="2400" dirty="0"/>
              <a:t> (MySQL, PostgreSQL, etc.).</a:t>
            </a:r>
          </a:p>
          <a:p>
            <a:pPr marL="0" indent="0">
              <a:buNone/>
            </a:pPr>
            <a:r>
              <a:rPr lang="en-US" sz="2400" b="1" dirty="0"/>
              <a:t>Why: </a:t>
            </a:r>
            <a:r>
              <a:rPr lang="en-US" sz="2400" dirty="0"/>
              <a:t>Realistic approach for production apps and Supports </a:t>
            </a:r>
            <a:r>
              <a:rPr lang="en-US" sz="2400" b="1" dirty="0"/>
              <a:t>dynamic user management</a:t>
            </a:r>
            <a:r>
              <a:rPr lang="en-US" sz="2400" dirty="0"/>
              <a:t> (adding/deleting users).</a:t>
            </a:r>
          </a:p>
          <a:p>
            <a:pPr marL="0" indent="0">
              <a:buNone/>
            </a:pPr>
            <a:r>
              <a:rPr lang="en-US" sz="2400" b="1" dirty="0"/>
              <a:t>When: </a:t>
            </a:r>
            <a:r>
              <a:rPr lang="en-US" sz="2400" dirty="0"/>
              <a:t>Production apps where users are stored in </a:t>
            </a:r>
            <a:r>
              <a:rPr lang="en-US" sz="2400" b="1" dirty="0"/>
              <a:t>databases or external systems</a:t>
            </a:r>
            <a:r>
              <a:rPr lang="en-US" sz="2400" dirty="0"/>
              <a:t>.</a:t>
            </a:r>
          </a:p>
          <a:p>
            <a:pPr marL="0" indent="0">
              <a:buNone/>
            </a:pPr>
            <a:r>
              <a:rPr lang="en-US" sz="2400" b="1" dirty="0"/>
              <a:t>Where: </a:t>
            </a:r>
            <a:r>
              <a:rPr lang="en-US" sz="2400" dirty="0"/>
              <a:t>Implement </a:t>
            </a:r>
            <a:r>
              <a:rPr lang="en-US" sz="2400" dirty="0" err="1"/>
              <a:t>UserDetailsService</a:t>
            </a:r>
            <a:r>
              <a:rPr lang="en-US" sz="2400" dirty="0"/>
              <a:t> to fetch user details from DB.</a:t>
            </a:r>
          </a:p>
        </p:txBody>
      </p:sp>
    </p:spTree>
    <p:extLst>
      <p:ext uri="{BB962C8B-B14F-4D97-AF65-F5344CB8AC3E}">
        <p14:creationId xmlns:p14="http://schemas.microsoft.com/office/powerpoint/2010/main" val="3119498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BAEFA-C66E-BDA5-287D-8DA8FD66EA3B}"/>
              </a:ext>
            </a:extLst>
          </p:cNvPr>
          <p:cNvSpPr>
            <a:spLocks noGrp="1"/>
          </p:cNvSpPr>
          <p:nvPr>
            <p:ph idx="1"/>
          </p:nvPr>
        </p:nvSpPr>
        <p:spPr>
          <a:xfrm>
            <a:off x="101601" y="212436"/>
            <a:ext cx="11942618" cy="6483928"/>
          </a:xfrm>
        </p:spPr>
        <p:txBody>
          <a:bodyPr>
            <a:noAutofit/>
          </a:bodyPr>
          <a:lstStyle/>
          <a:p>
            <a:pPr marL="0" indent="0">
              <a:buNone/>
            </a:pPr>
            <a:r>
              <a:rPr lang="en-US" sz="1500" b="1" dirty="0"/>
              <a:t>How:</a:t>
            </a:r>
            <a:endParaRPr lang="en-US" sz="1500" dirty="0"/>
          </a:p>
          <a:p>
            <a:pPr marL="0" indent="0">
              <a:buNone/>
            </a:pPr>
            <a:r>
              <a:rPr lang="en-US" sz="1500" i="1" dirty="0"/>
              <a:t>@Service</a:t>
            </a:r>
            <a:endParaRPr lang="en-US" sz="1500" dirty="0"/>
          </a:p>
          <a:p>
            <a:pPr marL="0" indent="0">
              <a:buNone/>
            </a:pPr>
            <a:r>
              <a:rPr lang="en-US" sz="1500" i="1" dirty="0"/>
              <a:t>@Transactional</a:t>
            </a:r>
            <a:endParaRPr lang="en-US" sz="1500" dirty="0"/>
          </a:p>
          <a:p>
            <a:pPr marL="0" indent="0">
              <a:buNone/>
            </a:pPr>
            <a:r>
              <a:rPr lang="en-US" sz="1500" dirty="0"/>
              <a:t>public class </a:t>
            </a:r>
            <a:r>
              <a:rPr lang="en-US" sz="1500" dirty="0" err="1"/>
              <a:t>CustomUserDetailService</a:t>
            </a:r>
            <a:r>
              <a:rPr lang="en-US" sz="1500" dirty="0"/>
              <a:t> implements </a:t>
            </a:r>
            <a:r>
              <a:rPr lang="en-US" sz="1500" dirty="0" err="1"/>
              <a:t>UserDetailsService</a:t>
            </a:r>
            <a:r>
              <a:rPr lang="en-US" sz="1500" dirty="0"/>
              <a:t>{</a:t>
            </a:r>
          </a:p>
          <a:p>
            <a:pPr marL="0" indent="0">
              <a:buNone/>
            </a:pPr>
            <a:r>
              <a:rPr lang="en-US" sz="1500" dirty="0"/>
              <a:t>private </a:t>
            </a:r>
            <a:r>
              <a:rPr lang="en-US" sz="1500" dirty="0" err="1"/>
              <a:t>UserRepository</a:t>
            </a:r>
            <a:r>
              <a:rPr lang="en-US" sz="1500" dirty="0"/>
              <a:t> </a:t>
            </a:r>
            <a:r>
              <a:rPr lang="en-US" sz="1500" dirty="0" err="1"/>
              <a:t>userRepository</a:t>
            </a:r>
            <a:r>
              <a:rPr lang="en-US" sz="1500" dirty="0"/>
              <a:t>;</a:t>
            </a:r>
          </a:p>
          <a:p>
            <a:pPr marL="0" indent="0">
              <a:buNone/>
            </a:pPr>
            <a:r>
              <a:rPr lang="en-US" sz="1500" dirty="0"/>
              <a:t>public </a:t>
            </a:r>
            <a:r>
              <a:rPr lang="en-US" sz="1500" dirty="0" err="1"/>
              <a:t>CustomUserDetailService</a:t>
            </a:r>
            <a:r>
              <a:rPr lang="en-US" sz="1500" dirty="0"/>
              <a:t>(</a:t>
            </a:r>
            <a:r>
              <a:rPr lang="en-US" sz="1500" dirty="0" err="1"/>
              <a:t>UserRepository</a:t>
            </a:r>
            <a:r>
              <a:rPr lang="en-US" sz="1500" dirty="0"/>
              <a:t> </a:t>
            </a:r>
            <a:r>
              <a:rPr lang="en-US" sz="1500" dirty="0" err="1"/>
              <a:t>userRepository</a:t>
            </a:r>
            <a:r>
              <a:rPr lang="en-US" sz="1500" dirty="0"/>
              <a:t>) {</a:t>
            </a:r>
          </a:p>
          <a:p>
            <a:pPr marL="0" indent="0">
              <a:buNone/>
            </a:pPr>
            <a:r>
              <a:rPr lang="en-US" sz="1500" dirty="0" err="1"/>
              <a:t>this.userRepository</a:t>
            </a:r>
            <a:r>
              <a:rPr lang="en-US" sz="1500" dirty="0"/>
              <a:t> = </a:t>
            </a:r>
            <a:r>
              <a:rPr lang="en-US" sz="1500" dirty="0" err="1"/>
              <a:t>userRepository</a:t>
            </a:r>
            <a:r>
              <a:rPr lang="en-US" sz="1500" dirty="0"/>
              <a:t>;</a:t>
            </a:r>
          </a:p>
          <a:p>
            <a:pPr marL="0" indent="0">
              <a:buNone/>
            </a:pPr>
            <a:r>
              <a:rPr lang="en-US" sz="1500" dirty="0"/>
              <a:t>}</a:t>
            </a:r>
          </a:p>
          <a:p>
            <a:pPr marL="0" indent="0">
              <a:buNone/>
            </a:pPr>
            <a:r>
              <a:rPr lang="en-US" sz="1500" i="1" dirty="0"/>
              <a:t>@Override</a:t>
            </a:r>
            <a:endParaRPr lang="en-US" sz="1500" dirty="0"/>
          </a:p>
          <a:p>
            <a:pPr marL="0" indent="0">
              <a:buNone/>
            </a:pPr>
            <a:r>
              <a:rPr lang="en-US" sz="1500" dirty="0"/>
              <a:t>public </a:t>
            </a:r>
            <a:r>
              <a:rPr lang="en-US" sz="1500" dirty="0" err="1"/>
              <a:t>UserDetails</a:t>
            </a:r>
            <a:r>
              <a:rPr lang="en-US" sz="1500" dirty="0"/>
              <a:t> </a:t>
            </a:r>
            <a:r>
              <a:rPr lang="en-US" sz="1500" dirty="0" err="1"/>
              <a:t>loadUserByUsername</a:t>
            </a:r>
            <a:r>
              <a:rPr lang="en-US" sz="1500" dirty="0"/>
              <a:t>(String username) throws </a:t>
            </a:r>
            <a:r>
              <a:rPr lang="en-US" sz="1500" dirty="0" err="1"/>
              <a:t>UsernameNotFoundException</a:t>
            </a:r>
            <a:r>
              <a:rPr lang="en-US" sz="1500" dirty="0"/>
              <a:t>{</a:t>
            </a:r>
          </a:p>
          <a:p>
            <a:pPr marL="0" indent="0">
              <a:buNone/>
            </a:pPr>
            <a:r>
              <a:rPr lang="en-US" sz="1500" dirty="0"/>
              <a:t>User </a:t>
            </a:r>
            <a:r>
              <a:rPr lang="en-US" sz="1500" dirty="0" err="1"/>
              <a:t>user</a:t>
            </a:r>
            <a:r>
              <a:rPr lang="en-US" sz="1500" dirty="0"/>
              <a:t> = </a:t>
            </a:r>
            <a:r>
              <a:rPr lang="en-US" sz="1500" dirty="0" err="1"/>
              <a:t>userRepository.findByUsername</a:t>
            </a:r>
            <a:r>
              <a:rPr lang="en-US" sz="1500" dirty="0"/>
              <a:t>(username).</a:t>
            </a:r>
            <a:r>
              <a:rPr lang="en-US" sz="1500" dirty="0" err="1"/>
              <a:t>orElseThrow</a:t>
            </a:r>
            <a:r>
              <a:rPr lang="en-US" sz="1500" dirty="0"/>
              <a:t>(()-&gt; new </a:t>
            </a:r>
            <a:r>
              <a:rPr lang="en-US" sz="1500" dirty="0" err="1"/>
              <a:t>UsernameNotFoundException</a:t>
            </a:r>
            <a:r>
              <a:rPr lang="en-US" sz="1500" dirty="0"/>
              <a:t>("Username not found"));</a:t>
            </a:r>
          </a:p>
          <a:p>
            <a:pPr marL="0" indent="0">
              <a:buNone/>
            </a:pPr>
            <a:r>
              <a:rPr lang="en-US" sz="1500" dirty="0"/>
              <a:t>return new </a:t>
            </a:r>
            <a:r>
              <a:rPr lang="en-US" sz="1500" dirty="0" err="1"/>
              <a:t>org.springframework.security.core.userdetails.User</a:t>
            </a:r>
            <a:r>
              <a:rPr lang="en-US" sz="1500" dirty="0"/>
              <a:t>(</a:t>
            </a:r>
          </a:p>
          <a:p>
            <a:pPr marL="457200" lvl="1" indent="0">
              <a:buNone/>
            </a:pPr>
            <a:r>
              <a:rPr lang="en-US" sz="1500" dirty="0" err="1"/>
              <a:t>user.getUsername</a:t>
            </a:r>
            <a:r>
              <a:rPr lang="en-US" sz="1500" dirty="0"/>
              <a:t>(),</a:t>
            </a:r>
          </a:p>
          <a:p>
            <a:pPr marL="457200" lvl="1" indent="0">
              <a:buNone/>
            </a:pPr>
            <a:r>
              <a:rPr lang="en-US" sz="1500" dirty="0" err="1"/>
              <a:t>user.getPassword</a:t>
            </a:r>
            <a:r>
              <a:rPr lang="en-US" sz="1500" dirty="0"/>
              <a:t>(),</a:t>
            </a:r>
          </a:p>
          <a:p>
            <a:pPr marL="457200" lvl="1" indent="0">
              <a:buNone/>
            </a:pPr>
            <a:r>
              <a:rPr lang="en-US" sz="1500" dirty="0" err="1"/>
              <a:t>user.getRoles</a:t>
            </a:r>
            <a:r>
              <a:rPr lang="en-US" sz="1500" dirty="0"/>
              <a:t>().stream()</a:t>
            </a:r>
          </a:p>
          <a:p>
            <a:pPr marL="457200" lvl="1" indent="0">
              <a:buNone/>
            </a:pPr>
            <a:r>
              <a:rPr lang="en-US" sz="1500" dirty="0"/>
              <a:t>.map((role)-&gt; new </a:t>
            </a:r>
            <a:r>
              <a:rPr lang="en-US" sz="1500" dirty="0" err="1"/>
              <a:t>SimpleGrantedAuthority</a:t>
            </a:r>
            <a:r>
              <a:rPr lang="en-US" sz="1500" dirty="0"/>
              <a:t>(</a:t>
            </a:r>
            <a:r>
              <a:rPr lang="en-US" sz="1500" dirty="0" err="1"/>
              <a:t>role.getName</a:t>
            </a:r>
            <a:r>
              <a:rPr lang="en-US" sz="1500" dirty="0"/>
              <a:t>()))</a:t>
            </a:r>
          </a:p>
          <a:p>
            <a:pPr marL="457200" lvl="1" indent="0">
              <a:buNone/>
            </a:pPr>
            <a:r>
              <a:rPr lang="en-US" sz="1500" dirty="0"/>
              <a:t>.</a:t>
            </a:r>
            <a:r>
              <a:rPr lang="en-US" sz="1500" dirty="0" err="1"/>
              <a:t>toList</a:t>
            </a:r>
            <a:r>
              <a:rPr lang="en-US" sz="1500" dirty="0"/>
              <a:t>()</a:t>
            </a:r>
          </a:p>
          <a:p>
            <a:pPr marL="457200" lvl="1" indent="0">
              <a:buNone/>
            </a:pPr>
            <a:r>
              <a:rPr lang="en-US" sz="1500" dirty="0"/>
              <a:t>);</a:t>
            </a:r>
          </a:p>
          <a:p>
            <a:pPr marL="0" indent="0">
              <a:buNone/>
            </a:pPr>
            <a:r>
              <a:rPr lang="en-US" sz="1500" dirty="0"/>
              <a:t>     }</a:t>
            </a:r>
          </a:p>
          <a:p>
            <a:pPr marL="0" indent="0">
              <a:buNone/>
            </a:pPr>
            <a:r>
              <a:rPr lang="en-US" sz="1500" dirty="0"/>
              <a:t>}</a:t>
            </a:r>
          </a:p>
          <a:p>
            <a:pPr marL="0" indent="0">
              <a:buNone/>
            </a:pPr>
            <a:endParaRPr lang="en-US" sz="1500" dirty="0"/>
          </a:p>
          <a:p>
            <a:endParaRPr lang="en-US" sz="1500" dirty="0"/>
          </a:p>
        </p:txBody>
      </p:sp>
    </p:spTree>
    <p:extLst>
      <p:ext uri="{BB962C8B-B14F-4D97-AF65-F5344CB8AC3E}">
        <p14:creationId xmlns:p14="http://schemas.microsoft.com/office/powerpoint/2010/main" val="4025904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B3C0-AEAF-C9C3-A312-2CBE6BB55DE7}"/>
              </a:ext>
            </a:extLst>
          </p:cNvPr>
          <p:cNvSpPr>
            <a:spLocks noGrp="1"/>
          </p:cNvSpPr>
          <p:nvPr>
            <p:ph type="title"/>
          </p:nvPr>
        </p:nvSpPr>
        <p:spPr>
          <a:xfrm>
            <a:off x="838200" y="365125"/>
            <a:ext cx="10515600" cy="697057"/>
          </a:xfrm>
        </p:spPr>
        <p:txBody>
          <a:bodyPr>
            <a:normAutofit fontScale="90000"/>
          </a:bodyPr>
          <a:lstStyle/>
          <a:p>
            <a:r>
              <a:rPr lang="en-US" dirty="0"/>
              <a:t>Password Encoding</a:t>
            </a:r>
          </a:p>
        </p:txBody>
      </p:sp>
      <p:sp>
        <p:nvSpPr>
          <p:cNvPr id="3" name="Content Placeholder 2">
            <a:extLst>
              <a:ext uri="{FF2B5EF4-FFF2-40B4-BE49-F238E27FC236}">
                <a16:creationId xmlns:a16="http://schemas.microsoft.com/office/drawing/2014/main" id="{38AEBBB2-9118-313F-E390-7375F1AC50A1}"/>
              </a:ext>
            </a:extLst>
          </p:cNvPr>
          <p:cNvSpPr>
            <a:spLocks noGrp="1"/>
          </p:cNvSpPr>
          <p:nvPr>
            <p:ph idx="1"/>
          </p:nvPr>
        </p:nvSpPr>
        <p:spPr>
          <a:xfrm>
            <a:off x="838200" y="1163782"/>
            <a:ext cx="10515600" cy="5013181"/>
          </a:xfrm>
        </p:spPr>
        <p:txBody>
          <a:bodyPr>
            <a:normAutofit fontScale="92500" lnSpcReduction="10000"/>
          </a:bodyPr>
          <a:lstStyle/>
          <a:p>
            <a:pPr algn="just"/>
            <a:r>
              <a:rPr lang="en-US" sz="2200" b="1" dirty="0"/>
              <a:t>What: </a:t>
            </a:r>
            <a:r>
              <a:rPr lang="en-US" sz="2200" dirty="0"/>
              <a:t>Passwords must never be stored in plain text.</a:t>
            </a:r>
          </a:p>
          <a:p>
            <a:pPr algn="just"/>
            <a:r>
              <a:rPr lang="en-US" sz="2200" dirty="0"/>
              <a:t>Use encoders like </a:t>
            </a:r>
            <a:r>
              <a:rPr lang="en-US" sz="2200" dirty="0" err="1"/>
              <a:t>BCryptPasswordEncoder</a:t>
            </a:r>
            <a:r>
              <a:rPr lang="en-US" sz="2200" dirty="0"/>
              <a:t> to </a:t>
            </a:r>
            <a:r>
              <a:rPr lang="en-US" sz="2200" b="1" dirty="0"/>
              <a:t>hash passwords</a:t>
            </a:r>
            <a:r>
              <a:rPr lang="en-US" sz="2200" dirty="0"/>
              <a:t>.</a:t>
            </a:r>
          </a:p>
          <a:p>
            <a:pPr algn="just"/>
            <a:r>
              <a:rPr lang="en-US" sz="2200" b="1" dirty="0"/>
              <a:t>Why: </a:t>
            </a:r>
            <a:r>
              <a:rPr lang="en-US" sz="2200" dirty="0"/>
              <a:t>Protects user credentials even if DB is compromised(A compromised database means its security has been breached and data confidentiality, integrity, or availability is no longer guaranteed)</a:t>
            </a:r>
          </a:p>
          <a:p>
            <a:pPr algn="just"/>
            <a:r>
              <a:rPr lang="en-US" sz="2200" dirty="0"/>
              <a:t>Spring Security requires encoded passwords for authentication.</a:t>
            </a:r>
          </a:p>
          <a:p>
            <a:pPr algn="just"/>
            <a:r>
              <a:rPr lang="en-US" sz="2200" b="1" dirty="0"/>
              <a:t>When: </a:t>
            </a:r>
            <a:r>
              <a:rPr lang="en-US" sz="2200" dirty="0"/>
              <a:t>Always in real applications.</a:t>
            </a:r>
          </a:p>
          <a:p>
            <a:pPr algn="just"/>
            <a:r>
              <a:rPr lang="en-US" sz="2200" b="1" dirty="0"/>
              <a:t>Where: </a:t>
            </a:r>
            <a:r>
              <a:rPr lang="en-US" sz="2200" dirty="0"/>
              <a:t>User registration and authentication.</a:t>
            </a:r>
          </a:p>
          <a:p>
            <a:pPr algn="just"/>
            <a:r>
              <a:rPr lang="en-US" sz="2200" b="1" dirty="0"/>
              <a:t>How:</a:t>
            </a:r>
            <a:endParaRPr lang="en-US" sz="2200" dirty="0"/>
          </a:p>
          <a:p>
            <a:pPr marL="457200" lvl="1" indent="0" algn="just">
              <a:buNone/>
            </a:pPr>
            <a:r>
              <a:rPr lang="en-US" sz="2200" dirty="0"/>
              <a:t>@Bean</a:t>
            </a:r>
          </a:p>
          <a:p>
            <a:pPr marL="457200" lvl="1" indent="0" algn="just">
              <a:buNone/>
            </a:pPr>
            <a:r>
              <a:rPr lang="en-US" sz="2200" dirty="0"/>
              <a:t>public </a:t>
            </a:r>
            <a:r>
              <a:rPr lang="en-US" sz="2200" dirty="0" err="1"/>
              <a:t>PasswordEncoder</a:t>
            </a:r>
            <a:r>
              <a:rPr lang="en-US" sz="2200" dirty="0"/>
              <a:t> </a:t>
            </a:r>
            <a:r>
              <a:rPr lang="en-US" sz="2200" dirty="0" err="1"/>
              <a:t>passwordEncoder</a:t>
            </a:r>
            <a:r>
              <a:rPr lang="en-US" sz="2200" dirty="0"/>
              <a:t>() {</a:t>
            </a:r>
          </a:p>
          <a:p>
            <a:pPr marL="457200" lvl="1" indent="0" algn="just">
              <a:buNone/>
            </a:pPr>
            <a:r>
              <a:rPr lang="en-US" sz="2200" dirty="0"/>
              <a:t>    return new </a:t>
            </a:r>
            <a:r>
              <a:rPr lang="en-US" sz="2200" dirty="0" err="1"/>
              <a:t>BCryptPasswordEncoder</a:t>
            </a:r>
            <a:r>
              <a:rPr lang="en-US" sz="2200" dirty="0"/>
              <a:t>();</a:t>
            </a:r>
          </a:p>
          <a:p>
            <a:pPr marL="457200" lvl="1" indent="0" algn="just">
              <a:buNone/>
            </a:pPr>
            <a:r>
              <a:rPr lang="en-US" sz="2200" dirty="0"/>
              <a:t>}</a:t>
            </a:r>
          </a:p>
          <a:p>
            <a:pPr algn="just"/>
            <a:r>
              <a:rPr lang="en-US" sz="2200" dirty="0"/>
              <a:t>During registration: </a:t>
            </a:r>
            <a:r>
              <a:rPr lang="en-US" sz="2200" dirty="0" err="1"/>
              <a:t>passwordEncoder</a:t>
            </a:r>
            <a:r>
              <a:rPr lang="en-US" sz="2200" dirty="0"/>
              <a:t>().encode(</a:t>
            </a:r>
            <a:r>
              <a:rPr lang="en-US" sz="2200" dirty="0" err="1"/>
              <a:t>rawPassword</a:t>
            </a:r>
            <a:r>
              <a:rPr lang="en-US" sz="2200" dirty="0"/>
              <a:t>)</a:t>
            </a:r>
          </a:p>
          <a:p>
            <a:pPr algn="just"/>
            <a:endParaRPr lang="en-US" sz="2200" dirty="0"/>
          </a:p>
          <a:p>
            <a:pPr algn="just"/>
            <a:endParaRPr lang="en-US" sz="2200" dirty="0"/>
          </a:p>
          <a:p>
            <a:pPr algn="just"/>
            <a:endParaRPr lang="en-US" sz="2200" dirty="0"/>
          </a:p>
          <a:p>
            <a:pPr algn="just"/>
            <a:endParaRPr lang="en-US" sz="2200" dirty="0"/>
          </a:p>
        </p:txBody>
      </p:sp>
    </p:spTree>
    <p:extLst>
      <p:ext uri="{BB962C8B-B14F-4D97-AF65-F5344CB8AC3E}">
        <p14:creationId xmlns:p14="http://schemas.microsoft.com/office/powerpoint/2010/main" val="3100163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5A672-A4DD-5042-5086-02123D67754B}"/>
              </a:ext>
            </a:extLst>
          </p:cNvPr>
          <p:cNvSpPr>
            <a:spLocks noGrp="1"/>
          </p:cNvSpPr>
          <p:nvPr>
            <p:ph type="title"/>
          </p:nvPr>
        </p:nvSpPr>
        <p:spPr>
          <a:xfrm>
            <a:off x="838200" y="365126"/>
            <a:ext cx="10515600" cy="715530"/>
          </a:xfrm>
        </p:spPr>
        <p:txBody>
          <a:bodyPr/>
          <a:lstStyle/>
          <a:p>
            <a:r>
              <a:rPr lang="en-US" dirty="0"/>
              <a:t>Role-Based Authorization</a:t>
            </a:r>
          </a:p>
        </p:txBody>
      </p:sp>
      <p:sp>
        <p:nvSpPr>
          <p:cNvPr id="3" name="Content Placeholder 2">
            <a:extLst>
              <a:ext uri="{FF2B5EF4-FFF2-40B4-BE49-F238E27FC236}">
                <a16:creationId xmlns:a16="http://schemas.microsoft.com/office/drawing/2014/main" id="{C8D442A6-05E1-9C00-C264-1D09E0A81C7D}"/>
              </a:ext>
            </a:extLst>
          </p:cNvPr>
          <p:cNvSpPr>
            <a:spLocks noGrp="1"/>
          </p:cNvSpPr>
          <p:nvPr>
            <p:ph idx="1"/>
          </p:nvPr>
        </p:nvSpPr>
        <p:spPr>
          <a:xfrm>
            <a:off x="838200" y="1163782"/>
            <a:ext cx="10515600" cy="5412509"/>
          </a:xfrm>
        </p:spPr>
        <p:txBody>
          <a:bodyPr>
            <a:normAutofit fontScale="77500" lnSpcReduction="20000"/>
          </a:bodyPr>
          <a:lstStyle/>
          <a:p>
            <a:r>
              <a:rPr lang="en-US" sz="2600" b="1" dirty="0"/>
              <a:t>What: </a:t>
            </a:r>
            <a:r>
              <a:rPr lang="en-US" sz="2600" dirty="0"/>
              <a:t>Users are assigned roles, and access is </a:t>
            </a:r>
            <a:r>
              <a:rPr lang="en-US" sz="2600" b="1" dirty="0"/>
              <a:t>restricted based on roles</a:t>
            </a:r>
            <a:r>
              <a:rPr lang="en-US" sz="2600" dirty="0"/>
              <a:t>.</a:t>
            </a:r>
          </a:p>
          <a:p>
            <a:r>
              <a:rPr lang="en-US" sz="2600" b="1" dirty="0"/>
              <a:t>Why: </a:t>
            </a:r>
            <a:r>
              <a:rPr lang="en-US" sz="2600" dirty="0"/>
              <a:t>Different users have different privileges (e.g., Admin vs User).</a:t>
            </a:r>
          </a:p>
          <a:p>
            <a:r>
              <a:rPr lang="en-US" sz="2600" b="1" dirty="0"/>
              <a:t>When: </a:t>
            </a:r>
            <a:r>
              <a:rPr lang="en-US" sz="2600" dirty="0"/>
              <a:t>Every time you need </a:t>
            </a:r>
            <a:r>
              <a:rPr lang="en-US" sz="2600" b="1" dirty="0"/>
              <a:t>controlled access</a:t>
            </a:r>
            <a:r>
              <a:rPr lang="en-US" sz="2600" dirty="0"/>
              <a:t> to pages or API endpoints.</a:t>
            </a:r>
          </a:p>
          <a:p>
            <a:r>
              <a:rPr lang="en-US" sz="2600" b="1" dirty="0"/>
              <a:t>Where: </a:t>
            </a:r>
            <a:r>
              <a:rPr lang="en-US" sz="2600" dirty="0"/>
              <a:t>Controllers, endpoints, method-level security (@PreAuthorize).</a:t>
            </a:r>
          </a:p>
          <a:p>
            <a:r>
              <a:rPr lang="en-US" sz="2400" b="1" dirty="0"/>
              <a:t>How:</a:t>
            </a:r>
            <a:endParaRPr lang="en-US" sz="2400" dirty="0"/>
          </a:p>
          <a:p>
            <a:pPr marL="457200" lvl="1" indent="0">
              <a:buNone/>
            </a:pPr>
            <a:r>
              <a:rPr lang="en-US" i="1" dirty="0"/>
              <a:t>@Bean</a:t>
            </a:r>
            <a:endParaRPr lang="en-US" dirty="0"/>
          </a:p>
          <a:p>
            <a:pPr marL="457200" lvl="1" indent="0">
              <a:buNone/>
            </a:pPr>
            <a:r>
              <a:rPr lang="en-US" dirty="0"/>
              <a:t>public </a:t>
            </a:r>
            <a:r>
              <a:rPr lang="en-US" dirty="0" err="1"/>
              <a:t>SecurityFilterChain</a:t>
            </a:r>
            <a:r>
              <a:rPr lang="en-US" dirty="0"/>
              <a:t> </a:t>
            </a:r>
            <a:r>
              <a:rPr lang="en-US" dirty="0" err="1"/>
              <a:t>securityFilterChain</a:t>
            </a:r>
            <a:r>
              <a:rPr lang="en-US" dirty="0"/>
              <a:t>(</a:t>
            </a:r>
            <a:r>
              <a:rPr lang="en-US" dirty="0" err="1"/>
              <a:t>HttpSecurity</a:t>
            </a:r>
            <a:r>
              <a:rPr lang="en-US" dirty="0"/>
              <a:t> http) throws Exception {</a:t>
            </a:r>
          </a:p>
          <a:p>
            <a:pPr marL="457200" lvl="1" indent="0">
              <a:buNone/>
            </a:pPr>
            <a:r>
              <a:rPr lang="en-US" dirty="0"/>
              <a:t>http</a:t>
            </a:r>
          </a:p>
          <a:p>
            <a:pPr marL="914400" lvl="2" indent="0">
              <a:buNone/>
            </a:pPr>
            <a:r>
              <a:rPr lang="en-US" dirty="0"/>
              <a:t>// Disable CSRF (for REST APIs)</a:t>
            </a:r>
          </a:p>
          <a:p>
            <a:pPr marL="914400" lvl="2" indent="0">
              <a:buNone/>
            </a:pPr>
            <a:r>
              <a:rPr lang="en-US" dirty="0"/>
              <a:t>.</a:t>
            </a:r>
            <a:r>
              <a:rPr lang="en-US" dirty="0" err="1"/>
              <a:t>csrf</a:t>
            </a:r>
            <a:r>
              <a:rPr lang="en-US" dirty="0"/>
              <a:t>(</a:t>
            </a:r>
            <a:r>
              <a:rPr lang="en-US" dirty="0" err="1"/>
              <a:t>csrf</a:t>
            </a:r>
            <a:r>
              <a:rPr lang="en-US" dirty="0"/>
              <a:t> -&gt; </a:t>
            </a:r>
            <a:r>
              <a:rPr lang="en-US" dirty="0" err="1"/>
              <a:t>csrf.disable</a:t>
            </a:r>
            <a:r>
              <a:rPr lang="en-US" dirty="0"/>
              <a:t>())</a:t>
            </a:r>
          </a:p>
          <a:p>
            <a:pPr marL="1371600" lvl="3" indent="0">
              <a:buNone/>
            </a:pPr>
            <a:r>
              <a:rPr lang="en-US" dirty="0"/>
              <a:t>// Authorization Rules</a:t>
            </a:r>
          </a:p>
          <a:p>
            <a:pPr marL="1371600" lvl="3" indent="0">
              <a:buNone/>
            </a:pPr>
            <a:r>
              <a:rPr lang="en-US" dirty="0"/>
              <a:t>.</a:t>
            </a:r>
            <a:r>
              <a:rPr lang="en-US" dirty="0" err="1"/>
              <a:t>authorizeHttpRequests</a:t>
            </a:r>
            <a:r>
              <a:rPr lang="en-US" dirty="0"/>
              <a:t>(auth -&gt; auth</a:t>
            </a:r>
          </a:p>
          <a:p>
            <a:pPr marL="1371600" lvl="3" indent="0">
              <a:buNone/>
            </a:pPr>
            <a:r>
              <a:rPr lang="en-US" dirty="0"/>
              <a:t>.</a:t>
            </a:r>
            <a:r>
              <a:rPr lang="en-US" dirty="0" err="1"/>
              <a:t>requestMatchers</a:t>
            </a:r>
            <a:r>
              <a:rPr lang="en-US" dirty="0"/>
              <a:t>("/admin/**").</a:t>
            </a:r>
            <a:r>
              <a:rPr lang="en-US" dirty="0" err="1"/>
              <a:t>hasRole</a:t>
            </a:r>
            <a:r>
              <a:rPr lang="en-US" dirty="0"/>
              <a:t>("ADMIN")</a:t>
            </a:r>
          </a:p>
          <a:p>
            <a:pPr marL="1371600" lvl="3" indent="0">
              <a:buNone/>
            </a:pPr>
            <a:r>
              <a:rPr lang="en-US" dirty="0"/>
              <a:t>.</a:t>
            </a:r>
            <a:r>
              <a:rPr lang="en-US" dirty="0" err="1"/>
              <a:t>requestMatchers</a:t>
            </a:r>
            <a:r>
              <a:rPr lang="en-US" dirty="0"/>
              <a:t>("/user/**").</a:t>
            </a:r>
            <a:r>
              <a:rPr lang="en-US" dirty="0" err="1"/>
              <a:t>hasAnyRole</a:t>
            </a:r>
            <a:r>
              <a:rPr lang="en-US" dirty="0"/>
              <a:t>("ADMIN", "USER")</a:t>
            </a:r>
          </a:p>
          <a:p>
            <a:pPr marL="1371600" lvl="3" indent="0">
              <a:buNone/>
            </a:pPr>
            <a:r>
              <a:rPr lang="en-US" dirty="0"/>
              <a:t>.</a:t>
            </a:r>
            <a:r>
              <a:rPr lang="en-US" dirty="0" err="1"/>
              <a:t>anyRequest</a:t>
            </a:r>
            <a:r>
              <a:rPr lang="en-US" dirty="0"/>
              <a:t>().authenticated()</a:t>
            </a:r>
          </a:p>
          <a:p>
            <a:pPr marL="1371600" lvl="3" indent="0">
              <a:buNone/>
            </a:pPr>
            <a:r>
              <a:rPr lang="en-US" dirty="0"/>
              <a:t>)</a:t>
            </a:r>
          </a:p>
          <a:p>
            <a:pPr marL="1371600" lvl="3" indent="0">
              <a:buNone/>
            </a:pPr>
            <a:r>
              <a:rPr lang="en-US" dirty="0"/>
              <a:t>// HTTP Basic Authentication</a:t>
            </a:r>
          </a:p>
          <a:p>
            <a:pPr marL="1371600" lvl="3" indent="0">
              <a:buNone/>
            </a:pPr>
            <a:r>
              <a:rPr lang="en-US" dirty="0"/>
              <a:t>.</a:t>
            </a:r>
            <a:r>
              <a:rPr lang="en-US" dirty="0" err="1"/>
              <a:t>httpBasic</a:t>
            </a:r>
            <a:r>
              <a:rPr lang="en-US" dirty="0"/>
              <a:t>(</a:t>
            </a:r>
            <a:r>
              <a:rPr lang="en-US" dirty="0" err="1"/>
              <a:t>Customizer.</a:t>
            </a:r>
            <a:r>
              <a:rPr lang="en-US" i="1" dirty="0" err="1"/>
              <a:t>withDefaults</a:t>
            </a:r>
            <a:r>
              <a:rPr lang="en-US" dirty="0"/>
              <a:t>()); // with this Browser shows Basic </a:t>
            </a:r>
            <a:r>
              <a:rPr lang="en-US" u="sng" dirty="0"/>
              <a:t>Auth</a:t>
            </a:r>
            <a:r>
              <a:rPr lang="en-US" dirty="0"/>
              <a:t> </a:t>
            </a:r>
            <a:r>
              <a:rPr lang="en-US" u="sng" dirty="0"/>
              <a:t>popup</a:t>
            </a:r>
            <a:endParaRPr lang="en-US" dirty="0"/>
          </a:p>
          <a:p>
            <a:pPr marL="457200" lvl="1" indent="0">
              <a:buNone/>
            </a:pPr>
            <a:r>
              <a:rPr lang="en-US" dirty="0"/>
              <a:t>return </a:t>
            </a:r>
            <a:r>
              <a:rPr lang="en-US" dirty="0" err="1"/>
              <a:t>http.build</a:t>
            </a:r>
            <a:r>
              <a:rPr lang="en-US" dirty="0"/>
              <a:t>();</a:t>
            </a:r>
          </a:p>
          <a:p>
            <a:pPr marL="457200" lvl="1" indent="0">
              <a:buNone/>
            </a:pPr>
            <a:r>
              <a:rPr lang="en-US" dirty="0"/>
              <a:t>}</a:t>
            </a:r>
          </a:p>
        </p:txBody>
      </p:sp>
    </p:spTree>
    <p:extLst>
      <p:ext uri="{BB962C8B-B14F-4D97-AF65-F5344CB8AC3E}">
        <p14:creationId xmlns:p14="http://schemas.microsoft.com/office/powerpoint/2010/main" val="2679299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F5E8DC-EE1C-7ED6-4045-8248C4BD2ADB}"/>
              </a:ext>
            </a:extLst>
          </p:cNvPr>
          <p:cNvSpPr>
            <a:spLocks noGrp="1"/>
          </p:cNvSpPr>
          <p:nvPr>
            <p:ph idx="1"/>
          </p:nvPr>
        </p:nvSpPr>
        <p:spPr>
          <a:xfrm>
            <a:off x="838200" y="886691"/>
            <a:ext cx="10515600" cy="5290272"/>
          </a:xfrm>
        </p:spPr>
        <p:txBody>
          <a:bodyPr>
            <a:normAutofit/>
          </a:bodyPr>
          <a:lstStyle/>
          <a:p>
            <a:r>
              <a:rPr lang="en-US" sz="2400" b="1" dirty="0"/>
              <a:t>Advanced Method-Level Security:</a:t>
            </a:r>
            <a:endParaRPr lang="en-US" sz="2400" dirty="0"/>
          </a:p>
          <a:p>
            <a:pPr marL="457200" lvl="1" indent="0">
              <a:buNone/>
            </a:pPr>
            <a:r>
              <a:rPr lang="en-US" sz="2100" dirty="0"/>
              <a:t>@PreAuthorize("hasRole('ADMIN')")</a:t>
            </a:r>
          </a:p>
          <a:p>
            <a:pPr marL="457200" lvl="1" indent="0">
              <a:buNone/>
            </a:pPr>
            <a:r>
              <a:rPr lang="en-US" sz="2100" dirty="0"/>
              <a:t>public void </a:t>
            </a:r>
            <a:r>
              <a:rPr lang="en-US" sz="2100" dirty="0" err="1"/>
              <a:t>deleteUser</a:t>
            </a:r>
            <a:r>
              <a:rPr lang="en-US" sz="2100" dirty="0"/>
              <a:t>(Long id) {</a:t>
            </a:r>
          </a:p>
          <a:p>
            <a:pPr marL="457200" lvl="1" indent="0">
              <a:buNone/>
            </a:pPr>
            <a:r>
              <a:rPr lang="en-US" sz="2100" dirty="0"/>
              <a:t>    </a:t>
            </a:r>
            <a:r>
              <a:rPr lang="en-US" sz="2100" dirty="0" err="1"/>
              <a:t>userRepository.deleteById</a:t>
            </a:r>
            <a:r>
              <a:rPr lang="en-US" sz="2100" dirty="0"/>
              <a:t>(id);</a:t>
            </a:r>
          </a:p>
          <a:p>
            <a:pPr marL="457200" lvl="1" indent="0">
              <a:buNone/>
            </a:pPr>
            <a:r>
              <a:rPr lang="en-US" sz="2100" dirty="0"/>
              <a:t>}</a:t>
            </a:r>
          </a:p>
          <a:p>
            <a:pPr marL="0" indent="0">
              <a:buNone/>
            </a:pPr>
            <a:endParaRPr lang="en-US" sz="2400" dirty="0"/>
          </a:p>
          <a:p>
            <a:pPr marL="0" indent="0">
              <a:buNone/>
            </a:pPr>
            <a:r>
              <a:rPr lang="en-US" sz="2400" dirty="0"/>
              <a:t>Integrating Spring Security with Spring Boot is straightforward and provides a     robust security framework for your applications. By following best practices      and utilizing the features offered by Spring Security, you can effectively secure  your web applications and RESTful APIs against various security threats. </a:t>
            </a:r>
          </a:p>
        </p:txBody>
      </p:sp>
    </p:spTree>
    <p:extLst>
      <p:ext uri="{BB962C8B-B14F-4D97-AF65-F5344CB8AC3E}">
        <p14:creationId xmlns:p14="http://schemas.microsoft.com/office/powerpoint/2010/main" val="3406234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1298</Words>
  <Application>Microsoft Office PowerPoint</Application>
  <PresentationFormat>Widescreen</PresentationFormat>
  <Paragraphs>152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Spring Security</vt:lpstr>
      <vt:lpstr>PowerPoint Presentation</vt:lpstr>
      <vt:lpstr>PowerPoint Presentation</vt:lpstr>
      <vt:lpstr>Authentication &amp; Authorization Concepts</vt:lpstr>
      <vt:lpstr>PowerPoint Presentation</vt:lpstr>
      <vt:lpstr>Securing REST APIs</vt:lpstr>
      <vt:lpstr>In-Memory Authentication</vt:lpstr>
      <vt:lpstr>Database Authentication</vt:lpstr>
      <vt:lpstr>PowerPoint Presentation</vt:lpstr>
      <vt:lpstr>Password Encoding</vt:lpstr>
      <vt:lpstr>Role-Based Authorization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Kothari</dc:creator>
  <cp:lastModifiedBy>Gaurav Kothari</cp:lastModifiedBy>
  <cp:revision>24</cp:revision>
  <dcterms:created xsi:type="dcterms:W3CDTF">2026-01-13T20:46:48Z</dcterms:created>
  <dcterms:modified xsi:type="dcterms:W3CDTF">2026-01-20T11:17:19Z</dcterms:modified>
</cp:coreProperties>
</file>