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95" r:id="rId4"/>
    <p:sldId id="296" r:id="rId5"/>
    <p:sldId id="297" r:id="rId6"/>
    <p:sldId id="301" r:id="rId7"/>
    <p:sldId id="302" r:id="rId8"/>
    <p:sldId id="257" r:id="rId9"/>
    <p:sldId id="258" r:id="rId10"/>
    <p:sldId id="274" r:id="rId11"/>
    <p:sldId id="259" r:id="rId12"/>
    <p:sldId id="260" r:id="rId13"/>
    <p:sldId id="275" r:id="rId14"/>
    <p:sldId id="276" r:id="rId15"/>
    <p:sldId id="277" r:id="rId16"/>
    <p:sldId id="278" r:id="rId17"/>
    <p:sldId id="279" r:id="rId18"/>
    <p:sldId id="265" r:id="rId19"/>
    <p:sldId id="266" r:id="rId20"/>
    <p:sldId id="280" r:id="rId21"/>
    <p:sldId id="298" r:id="rId22"/>
    <p:sldId id="281" r:id="rId23"/>
    <p:sldId id="282" r:id="rId24"/>
    <p:sldId id="284" r:id="rId25"/>
    <p:sldId id="285" r:id="rId26"/>
    <p:sldId id="283" r:id="rId27"/>
    <p:sldId id="271" r:id="rId28"/>
    <p:sldId id="272" r:id="rId29"/>
    <p:sldId id="286" r:id="rId30"/>
    <p:sldId id="287" r:id="rId31"/>
    <p:sldId id="288" r:id="rId32"/>
    <p:sldId id="289" r:id="rId33"/>
    <p:sldId id="290" r:id="rId34"/>
    <p:sldId id="291" r:id="rId35"/>
    <p:sldId id="292" r:id="rId36"/>
    <p:sldId id="293" r:id="rId37"/>
    <p:sldId id="294" r:id="rId38"/>
    <p:sldId id="299" r:id="rId39"/>
    <p:sldId id="30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CE708F-CBA3-48C6-80C6-BDEEF0403FC5}" v="83" dt="2025-12-20T11:25:48.1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urav Kothari" userId="ae0e5468ea62c2a0" providerId="LiveId" clId="{95702E18-22E4-4321-A6FD-987AA5C74287}"/>
    <pc:docChg chg="undo custSel addSld delSld modSld">
      <pc:chgData name="Gaurav Kothari" userId="ae0e5468ea62c2a0" providerId="LiveId" clId="{95702E18-22E4-4321-A6FD-987AA5C74287}" dt="2025-12-20T11:25:48.121" v="886"/>
      <pc:docMkLst>
        <pc:docMk/>
      </pc:docMkLst>
      <pc:sldChg chg="modSp new mod">
        <pc:chgData name="Gaurav Kothari" userId="ae0e5468ea62c2a0" providerId="LiveId" clId="{95702E18-22E4-4321-A6FD-987AA5C74287}" dt="2025-12-18T09:32:20.996" v="294" actId="255"/>
        <pc:sldMkLst>
          <pc:docMk/>
          <pc:sldMk cId="4026166552" sldId="256"/>
        </pc:sldMkLst>
        <pc:spChg chg="mod">
          <ac:chgData name="Gaurav Kothari" userId="ae0e5468ea62c2a0" providerId="LiveId" clId="{95702E18-22E4-4321-A6FD-987AA5C74287}" dt="2025-12-18T09:18:21.301" v="91" actId="14100"/>
          <ac:spMkLst>
            <pc:docMk/>
            <pc:sldMk cId="4026166552" sldId="256"/>
            <ac:spMk id="2" creationId="{C71E4CB5-1AE6-74DE-AF24-0AE5A427C2EA}"/>
          </ac:spMkLst>
        </pc:spChg>
        <pc:spChg chg="mod">
          <ac:chgData name="Gaurav Kothari" userId="ae0e5468ea62c2a0" providerId="LiveId" clId="{95702E18-22E4-4321-A6FD-987AA5C74287}" dt="2025-12-18T09:32:20.996" v="294" actId="255"/>
          <ac:spMkLst>
            <pc:docMk/>
            <pc:sldMk cId="4026166552" sldId="256"/>
            <ac:spMk id="3" creationId="{0EC70C57-8627-4397-E5EF-EB0AF6FE4A8D}"/>
          </ac:spMkLst>
        </pc:spChg>
      </pc:sldChg>
      <pc:sldChg chg="modSp new mod">
        <pc:chgData name="Gaurav Kothari" userId="ae0e5468ea62c2a0" providerId="LiveId" clId="{95702E18-22E4-4321-A6FD-987AA5C74287}" dt="2025-12-18T09:18:36.449" v="95" actId="123"/>
        <pc:sldMkLst>
          <pc:docMk/>
          <pc:sldMk cId="3710470196" sldId="257"/>
        </pc:sldMkLst>
        <pc:spChg chg="mod">
          <ac:chgData name="Gaurav Kothari" userId="ae0e5468ea62c2a0" providerId="LiveId" clId="{95702E18-22E4-4321-A6FD-987AA5C74287}" dt="2025-12-18T09:18:10.786" v="89" actId="255"/>
          <ac:spMkLst>
            <pc:docMk/>
            <pc:sldMk cId="3710470196" sldId="257"/>
            <ac:spMk id="2" creationId="{205FB287-3FF4-0ECC-A559-5EAF1A3EC0F6}"/>
          </ac:spMkLst>
        </pc:spChg>
        <pc:spChg chg="mod">
          <ac:chgData name="Gaurav Kothari" userId="ae0e5468ea62c2a0" providerId="LiveId" clId="{95702E18-22E4-4321-A6FD-987AA5C74287}" dt="2025-12-18T09:18:36.449" v="95" actId="123"/>
          <ac:spMkLst>
            <pc:docMk/>
            <pc:sldMk cId="3710470196" sldId="257"/>
            <ac:spMk id="3" creationId="{7F34B6D9-9739-ABB4-FDEA-5CA0661C2852}"/>
          </ac:spMkLst>
        </pc:spChg>
      </pc:sldChg>
      <pc:sldChg chg="delSp modSp new mod">
        <pc:chgData name="Gaurav Kothari" userId="ae0e5468ea62c2a0" providerId="LiveId" clId="{95702E18-22E4-4321-A6FD-987AA5C74287}" dt="2025-12-18T09:18:57.475" v="101" actId="255"/>
        <pc:sldMkLst>
          <pc:docMk/>
          <pc:sldMk cId="1731493994" sldId="258"/>
        </pc:sldMkLst>
        <pc:spChg chg="mod">
          <ac:chgData name="Gaurav Kothari" userId="ae0e5468ea62c2a0" providerId="LiveId" clId="{95702E18-22E4-4321-A6FD-987AA5C74287}" dt="2025-12-18T09:18:57.475" v="101" actId="255"/>
          <ac:spMkLst>
            <pc:docMk/>
            <pc:sldMk cId="1731493994" sldId="258"/>
            <ac:spMk id="3" creationId="{DE63D4C9-A12A-2E79-505D-12F7544B28C2}"/>
          </ac:spMkLst>
        </pc:spChg>
      </pc:sldChg>
      <pc:sldChg chg="modSp mod">
        <pc:chgData name="Gaurav Kothari" userId="ae0e5468ea62c2a0" providerId="LiveId" clId="{95702E18-22E4-4321-A6FD-987AA5C74287}" dt="2025-12-18T09:20:19.723" v="116" actId="27636"/>
        <pc:sldMkLst>
          <pc:docMk/>
          <pc:sldMk cId="524489464" sldId="259"/>
        </pc:sldMkLst>
        <pc:spChg chg="mod">
          <ac:chgData name="Gaurav Kothari" userId="ae0e5468ea62c2a0" providerId="LiveId" clId="{95702E18-22E4-4321-A6FD-987AA5C74287}" dt="2025-12-18T09:20:09.010" v="111" actId="255"/>
          <ac:spMkLst>
            <pc:docMk/>
            <pc:sldMk cId="524489464" sldId="259"/>
            <ac:spMk id="2" creationId="{946A2903-FFE0-3641-C958-C21DF741F091}"/>
          </ac:spMkLst>
        </pc:spChg>
        <pc:spChg chg="mod">
          <ac:chgData name="Gaurav Kothari" userId="ae0e5468ea62c2a0" providerId="LiveId" clId="{95702E18-22E4-4321-A6FD-987AA5C74287}" dt="2025-12-18T09:20:19.723" v="116" actId="27636"/>
          <ac:spMkLst>
            <pc:docMk/>
            <pc:sldMk cId="524489464" sldId="259"/>
            <ac:spMk id="3" creationId="{DA48C9B9-3557-31BD-BDF0-90B4080A89AC}"/>
          </ac:spMkLst>
        </pc:spChg>
      </pc:sldChg>
      <pc:sldChg chg="delSp modSp mod">
        <pc:chgData name="Gaurav Kothari" userId="ae0e5468ea62c2a0" providerId="LiveId" clId="{95702E18-22E4-4321-A6FD-987AA5C74287}" dt="2025-12-18T09:21:04.386" v="130" actId="27636"/>
        <pc:sldMkLst>
          <pc:docMk/>
          <pc:sldMk cId="22221704" sldId="260"/>
        </pc:sldMkLst>
        <pc:spChg chg="mod">
          <ac:chgData name="Gaurav Kothari" userId="ae0e5468ea62c2a0" providerId="LiveId" clId="{95702E18-22E4-4321-A6FD-987AA5C74287}" dt="2025-12-18T09:21:04.386" v="130" actId="27636"/>
          <ac:spMkLst>
            <pc:docMk/>
            <pc:sldMk cId="22221704" sldId="260"/>
            <ac:spMk id="3" creationId="{7CBEC5D8-E0A4-57AC-A5F2-0C576C1E1396}"/>
          </ac:spMkLst>
        </pc:spChg>
      </pc:sldChg>
      <pc:sldChg chg="modSp mod">
        <pc:chgData name="Gaurav Kothari" userId="ae0e5468ea62c2a0" providerId="LiveId" clId="{95702E18-22E4-4321-A6FD-987AA5C74287}" dt="2025-12-18T09:30:30.188" v="280" actId="27636"/>
        <pc:sldMkLst>
          <pc:docMk/>
          <pc:sldMk cId="3177282119" sldId="265"/>
        </pc:sldMkLst>
        <pc:spChg chg="mod">
          <ac:chgData name="Gaurav Kothari" userId="ae0e5468ea62c2a0" providerId="LiveId" clId="{95702E18-22E4-4321-A6FD-987AA5C74287}" dt="2025-12-18T09:30:18.990" v="275" actId="255"/>
          <ac:spMkLst>
            <pc:docMk/>
            <pc:sldMk cId="3177282119" sldId="265"/>
            <ac:spMk id="2" creationId="{3BE49C93-E787-663A-9389-01703B3644C5}"/>
          </ac:spMkLst>
        </pc:spChg>
        <pc:spChg chg="mod">
          <ac:chgData name="Gaurav Kothari" userId="ae0e5468ea62c2a0" providerId="LiveId" clId="{95702E18-22E4-4321-A6FD-987AA5C74287}" dt="2025-12-18T09:30:30.188" v="280" actId="27636"/>
          <ac:spMkLst>
            <pc:docMk/>
            <pc:sldMk cId="3177282119" sldId="265"/>
            <ac:spMk id="3" creationId="{5A5B71C2-7E1F-1B4D-EA9D-FE4D0C078930}"/>
          </ac:spMkLst>
        </pc:spChg>
      </pc:sldChg>
      <pc:sldChg chg="modSp mod">
        <pc:chgData name="Gaurav Kothari" userId="ae0e5468ea62c2a0" providerId="LiveId" clId="{95702E18-22E4-4321-A6FD-987AA5C74287}" dt="2025-12-18T09:30:50.955" v="284" actId="1076"/>
        <pc:sldMkLst>
          <pc:docMk/>
          <pc:sldMk cId="3363603567" sldId="266"/>
        </pc:sldMkLst>
        <pc:spChg chg="mod">
          <ac:chgData name="Gaurav Kothari" userId="ae0e5468ea62c2a0" providerId="LiveId" clId="{95702E18-22E4-4321-A6FD-987AA5C74287}" dt="2025-12-18T09:30:50.955" v="284" actId="1076"/>
          <ac:spMkLst>
            <pc:docMk/>
            <pc:sldMk cId="3363603567" sldId="266"/>
            <ac:spMk id="2" creationId="{4310FE9B-646C-485E-63CE-21430B4BD79A}"/>
          </ac:spMkLst>
        </pc:spChg>
        <pc:spChg chg="mod">
          <ac:chgData name="Gaurav Kothari" userId="ae0e5468ea62c2a0" providerId="LiveId" clId="{95702E18-22E4-4321-A6FD-987AA5C74287}" dt="2025-12-18T09:30:49.191" v="283" actId="14100"/>
          <ac:spMkLst>
            <pc:docMk/>
            <pc:sldMk cId="3363603567" sldId="266"/>
            <ac:spMk id="3" creationId="{A19A7A88-3BBD-B0A5-6FDE-24EFD1A9FD53}"/>
          </ac:spMkLst>
        </pc:spChg>
      </pc:sldChg>
      <pc:sldChg chg="modSp add mod">
        <pc:chgData name="Gaurav Kothari" userId="ae0e5468ea62c2a0" providerId="LiveId" clId="{95702E18-22E4-4321-A6FD-987AA5C74287}" dt="2025-12-18T09:32:10.751" v="293" actId="20577"/>
        <pc:sldMkLst>
          <pc:docMk/>
          <pc:sldMk cId="3770899520" sldId="268"/>
        </pc:sldMkLst>
        <pc:spChg chg="mod">
          <ac:chgData name="Gaurav Kothari" userId="ae0e5468ea62c2a0" providerId="LiveId" clId="{95702E18-22E4-4321-A6FD-987AA5C74287}" dt="2025-12-18T09:31:55.747" v="289" actId="255"/>
          <ac:spMkLst>
            <pc:docMk/>
            <pc:sldMk cId="3770899520" sldId="268"/>
            <ac:spMk id="2" creationId="{EADC98CD-B95E-A676-BD84-C264CEA004D0}"/>
          </ac:spMkLst>
        </pc:spChg>
        <pc:spChg chg="mod">
          <ac:chgData name="Gaurav Kothari" userId="ae0e5468ea62c2a0" providerId="LiveId" clId="{95702E18-22E4-4321-A6FD-987AA5C74287}" dt="2025-12-18T09:32:10.751" v="293" actId="20577"/>
          <ac:spMkLst>
            <pc:docMk/>
            <pc:sldMk cId="3770899520" sldId="268"/>
            <ac:spMk id="3" creationId="{38F12F0B-2845-31C6-9F5B-01D61C0ADD98}"/>
          </ac:spMkLst>
        </pc:spChg>
      </pc:sldChg>
      <pc:sldChg chg="modSp mod">
        <pc:chgData name="Gaurav Kothari" userId="ae0e5468ea62c2a0" providerId="LiveId" clId="{95702E18-22E4-4321-A6FD-987AA5C74287}" dt="2025-12-18T09:33:19.884" v="303" actId="123"/>
        <pc:sldMkLst>
          <pc:docMk/>
          <pc:sldMk cId="313740777" sldId="271"/>
        </pc:sldMkLst>
        <pc:spChg chg="mod">
          <ac:chgData name="Gaurav Kothari" userId="ae0e5468ea62c2a0" providerId="LiveId" clId="{95702E18-22E4-4321-A6FD-987AA5C74287}" dt="2025-12-18T09:33:10.872" v="300" actId="255"/>
          <ac:spMkLst>
            <pc:docMk/>
            <pc:sldMk cId="313740777" sldId="271"/>
            <ac:spMk id="2" creationId="{FCA43929-7694-9367-08CD-0DE3CB2B1125}"/>
          </ac:spMkLst>
        </pc:spChg>
        <pc:spChg chg="mod">
          <ac:chgData name="Gaurav Kothari" userId="ae0e5468ea62c2a0" providerId="LiveId" clId="{95702E18-22E4-4321-A6FD-987AA5C74287}" dt="2025-12-18T09:33:19.884" v="303" actId="123"/>
          <ac:spMkLst>
            <pc:docMk/>
            <pc:sldMk cId="313740777" sldId="271"/>
            <ac:spMk id="3" creationId="{262D4483-D026-097B-DC0E-5523381719FF}"/>
          </ac:spMkLst>
        </pc:spChg>
      </pc:sldChg>
      <pc:sldChg chg="modSp mod">
        <pc:chgData name="Gaurav Kothari" userId="ae0e5468ea62c2a0" providerId="LiveId" clId="{95702E18-22E4-4321-A6FD-987AA5C74287}" dt="2025-12-18T09:33:59.515" v="311" actId="5793"/>
        <pc:sldMkLst>
          <pc:docMk/>
          <pc:sldMk cId="3688133026" sldId="272"/>
        </pc:sldMkLst>
        <pc:spChg chg="mod">
          <ac:chgData name="Gaurav Kothari" userId="ae0e5468ea62c2a0" providerId="LiveId" clId="{95702E18-22E4-4321-A6FD-987AA5C74287}" dt="2025-12-18T09:33:35.317" v="304" actId="255"/>
          <ac:spMkLst>
            <pc:docMk/>
            <pc:sldMk cId="3688133026" sldId="272"/>
            <ac:spMk id="2" creationId="{F6AE5F5C-ACA4-C867-0F6C-C5A396F23037}"/>
          </ac:spMkLst>
        </pc:spChg>
        <pc:spChg chg="mod">
          <ac:chgData name="Gaurav Kothari" userId="ae0e5468ea62c2a0" providerId="LiveId" clId="{95702E18-22E4-4321-A6FD-987AA5C74287}" dt="2025-12-18T09:33:59.515" v="311" actId="5793"/>
          <ac:spMkLst>
            <pc:docMk/>
            <pc:sldMk cId="3688133026" sldId="272"/>
            <ac:spMk id="3" creationId="{EE21048D-F10F-2D82-0576-B79A02A8E90A}"/>
          </ac:spMkLst>
        </pc:spChg>
      </pc:sldChg>
      <pc:sldChg chg="modSp new mod">
        <pc:chgData name="Gaurav Kothari" userId="ae0e5468ea62c2a0" providerId="LiveId" clId="{95702E18-22E4-4321-A6FD-987AA5C74287}" dt="2025-12-18T09:19:56.675" v="110" actId="5793"/>
        <pc:sldMkLst>
          <pc:docMk/>
          <pc:sldMk cId="240455262" sldId="274"/>
        </pc:sldMkLst>
        <pc:spChg chg="mod">
          <ac:chgData name="Gaurav Kothari" userId="ae0e5468ea62c2a0" providerId="LiveId" clId="{95702E18-22E4-4321-A6FD-987AA5C74287}" dt="2025-12-18T09:19:31.615" v="104" actId="14100"/>
          <ac:spMkLst>
            <pc:docMk/>
            <pc:sldMk cId="240455262" sldId="274"/>
            <ac:spMk id="2" creationId="{CAE5378E-9A6E-BDC1-4028-D4CC8EE30C45}"/>
          </ac:spMkLst>
        </pc:spChg>
        <pc:spChg chg="mod">
          <ac:chgData name="Gaurav Kothari" userId="ae0e5468ea62c2a0" providerId="LiveId" clId="{95702E18-22E4-4321-A6FD-987AA5C74287}" dt="2025-12-18T09:19:56.675" v="110" actId="5793"/>
          <ac:spMkLst>
            <pc:docMk/>
            <pc:sldMk cId="240455262" sldId="274"/>
            <ac:spMk id="3" creationId="{C1BF0F46-F4D2-CE1F-AF3B-E7B7DC2E6528}"/>
          </ac:spMkLst>
        </pc:spChg>
      </pc:sldChg>
      <pc:sldChg chg="modSp new mod">
        <pc:chgData name="Gaurav Kothari" userId="ae0e5468ea62c2a0" providerId="LiveId" clId="{95702E18-22E4-4321-A6FD-987AA5C74287}" dt="2025-12-18T09:22:23.286" v="143" actId="255"/>
        <pc:sldMkLst>
          <pc:docMk/>
          <pc:sldMk cId="74576487" sldId="275"/>
        </pc:sldMkLst>
        <pc:spChg chg="mod">
          <ac:chgData name="Gaurav Kothari" userId="ae0e5468ea62c2a0" providerId="LiveId" clId="{95702E18-22E4-4321-A6FD-987AA5C74287}" dt="2025-12-18T09:21:35.655" v="136" actId="14100"/>
          <ac:spMkLst>
            <pc:docMk/>
            <pc:sldMk cId="74576487" sldId="275"/>
            <ac:spMk id="2" creationId="{3532586F-3A77-733F-ACDE-9110D5617A58}"/>
          </ac:spMkLst>
        </pc:spChg>
        <pc:spChg chg="mod">
          <ac:chgData name="Gaurav Kothari" userId="ae0e5468ea62c2a0" providerId="LiveId" clId="{95702E18-22E4-4321-A6FD-987AA5C74287}" dt="2025-12-18T09:22:23.286" v="143" actId="255"/>
          <ac:spMkLst>
            <pc:docMk/>
            <pc:sldMk cId="74576487" sldId="275"/>
            <ac:spMk id="3" creationId="{6D0BA6BF-A33E-71BD-CE85-FA252ED38E13}"/>
          </ac:spMkLst>
        </pc:spChg>
      </pc:sldChg>
      <pc:sldChg chg="modSp new mod">
        <pc:chgData name="Gaurav Kothari" userId="ae0e5468ea62c2a0" providerId="LiveId" clId="{95702E18-22E4-4321-A6FD-987AA5C74287}" dt="2025-12-18T09:23:11.584" v="156" actId="123"/>
        <pc:sldMkLst>
          <pc:docMk/>
          <pc:sldMk cId="103322703" sldId="276"/>
        </pc:sldMkLst>
        <pc:spChg chg="mod">
          <ac:chgData name="Gaurav Kothari" userId="ae0e5468ea62c2a0" providerId="LiveId" clId="{95702E18-22E4-4321-A6FD-987AA5C74287}" dt="2025-12-18T09:22:36.157" v="145" actId="14100"/>
          <ac:spMkLst>
            <pc:docMk/>
            <pc:sldMk cId="103322703" sldId="276"/>
            <ac:spMk id="2" creationId="{C736FF32-B45D-4498-938E-60132CEDDC2C}"/>
          </ac:spMkLst>
        </pc:spChg>
        <pc:spChg chg="mod">
          <ac:chgData name="Gaurav Kothari" userId="ae0e5468ea62c2a0" providerId="LiveId" clId="{95702E18-22E4-4321-A6FD-987AA5C74287}" dt="2025-12-18T09:23:11.584" v="156" actId="123"/>
          <ac:spMkLst>
            <pc:docMk/>
            <pc:sldMk cId="103322703" sldId="276"/>
            <ac:spMk id="3" creationId="{040315F1-A968-A713-8DE2-DBB7A489F00B}"/>
          </ac:spMkLst>
        </pc:spChg>
      </pc:sldChg>
      <pc:sldChg chg="addSp modSp new mod">
        <pc:chgData name="Gaurav Kothari" userId="ae0e5468ea62c2a0" providerId="LiveId" clId="{95702E18-22E4-4321-A6FD-987AA5C74287}" dt="2025-12-18T09:25:59.209" v="200" actId="15"/>
        <pc:sldMkLst>
          <pc:docMk/>
          <pc:sldMk cId="69874850" sldId="277"/>
        </pc:sldMkLst>
        <pc:spChg chg="mod">
          <ac:chgData name="Gaurav Kothari" userId="ae0e5468ea62c2a0" providerId="LiveId" clId="{95702E18-22E4-4321-A6FD-987AA5C74287}" dt="2025-12-18T09:23:28.271" v="158" actId="14100"/>
          <ac:spMkLst>
            <pc:docMk/>
            <pc:sldMk cId="69874850" sldId="277"/>
            <ac:spMk id="2" creationId="{54B5D709-534A-17AD-4F1F-079AE0317ED0}"/>
          </ac:spMkLst>
        </pc:spChg>
        <pc:spChg chg="mod">
          <ac:chgData name="Gaurav Kothari" userId="ae0e5468ea62c2a0" providerId="LiveId" clId="{95702E18-22E4-4321-A6FD-987AA5C74287}" dt="2025-12-18T09:25:35.719" v="190" actId="12"/>
          <ac:spMkLst>
            <pc:docMk/>
            <pc:sldMk cId="69874850" sldId="277"/>
            <ac:spMk id="3" creationId="{3987643B-F514-768F-8F8A-130AF47ABE54}"/>
          </ac:spMkLst>
        </pc:spChg>
        <pc:spChg chg="add mod">
          <ac:chgData name="Gaurav Kothari" userId="ae0e5468ea62c2a0" providerId="LiveId" clId="{95702E18-22E4-4321-A6FD-987AA5C74287}" dt="2025-12-18T09:25:59.209" v="200" actId="15"/>
          <ac:spMkLst>
            <pc:docMk/>
            <pc:sldMk cId="69874850" sldId="277"/>
            <ac:spMk id="4" creationId="{95DE9359-B593-209A-4E32-9F1E50C9789F}"/>
          </ac:spMkLst>
        </pc:spChg>
      </pc:sldChg>
      <pc:sldChg chg="modSp new mod">
        <pc:chgData name="Gaurav Kothari" userId="ae0e5468ea62c2a0" providerId="LiveId" clId="{95702E18-22E4-4321-A6FD-987AA5C74287}" dt="2025-12-18T09:26:24.300" v="207" actId="12"/>
        <pc:sldMkLst>
          <pc:docMk/>
          <pc:sldMk cId="2088998632" sldId="278"/>
        </pc:sldMkLst>
        <pc:spChg chg="mod">
          <ac:chgData name="Gaurav Kothari" userId="ae0e5468ea62c2a0" providerId="LiveId" clId="{95702E18-22E4-4321-A6FD-987AA5C74287}" dt="2025-12-18T09:26:09.621" v="201" actId="255"/>
          <ac:spMkLst>
            <pc:docMk/>
            <pc:sldMk cId="2088998632" sldId="278"/>
            <ac:spMk id="2" creationId="{EEEC9763-437F-3118-DB0C-05F2F6D465C5}"/>
          </ac:spMkLst>
        </pc:spChg>
        <pc:spChg chg="mod">
          <ac:chgData name="Gaurav Kothari" userId="ae0e5468ea62c2a0" providerId="LiveId" clId="{95702E18-22E4-4321-A6FD-987AA5C74287}" dt="2025-12-18T09:26:24.300" v="207" actId="12"/>
          <ac:spMkLst>
            <pc:docMk/>
            <pc:sldMk cId="2088998632" sldId="278"/>
            <ac:spMk id="3" creationId="{770D766B-F343-DDCC-F392-8D60B4211E40}"/>
          </ac:spMkLst>
        </pc:spChg>
      </pc:sldChg>
      <pc:sldChg chg="addSp delSp modSp new mod">
        <pc:chgData name="Gaurav Kothari" userId="ae0e5468ea62c2a0" providerId="LiveId" clId="{95702E18-22E4-4321-A6FD-987AA5C74287}" dt="2025-12-18T09:26:59.310" v="226" actId="20577"/>
        <pc:sldMkLst>
          <pc:docMk/>
          <pc:sldMk cId="67413790" sldId="279"/>
        </pc:sldMkLst>
        <pc:spChg chg="mod">
          <ac:chgData name="Gaurav Kothari" userId="ae0e5468ea62c2a0" providerId="LiveId" clId="{95702E18-22E4-4321-A6FD-987AA5C74287}" dt="2025-12-18T09:26:31.679" v="208" actId="255"/>
          <ac:spMkLst>
            <pc:docMk/>
            <pc:sldMk cId="67413790" sldId="279"/>
            <ac:spMk id="2" creationId="{F6C724E6-112E-5618-D974-9DE7A8728757}"/>
          </ac:spMkLst>
        </pc:spChg>
        <pc:spChg chg="add del mod">
          <ac:chgData name="Gaurav Kothari" userId="ae0e5468ea62c2a0" providerId="LiveId" clId="{95702E18-22E4-4321-A6FD-987AA5C74287}" dt="2025-12-18T09:26:59.310" v="226" actId="20577"/>
          <ac:spMkLst>
            <pc:docMk/>
            <pc:sldMk cId="67413790" sldId="279"/>
            <ac:spMk id="3" creationId="{DBAFC662-8D3B-F8C0-A161-21ACBBDD2A6E}"/>
          </ac:spMkLst>
        </pc:spChg>
      </pc:sldChg>
      <pc:sldChg chg="addSp modSp new mod">
        <pc:chgData name="Gaurav Kothari" userId="ae0e5468ea62c2a0" providerId="LiveId" clId="{95702E18-22E4-4321-A6FD-987AA5C74287}" dt="2025-12-19T08:30:49.295" v="654" actId="255"/>
        <pc:sldMkLst>
          <pc:docMk/>
          <pc:sldMk cId="1459784185" sldId="280"/>
        </pc:sldMkLst>
        <pc:spChg chg="mod">
          <ac:chgData name="Gaurav Kothari" userId="ae0e5468ea62c2a0" providerId="LiveId" clId="{95702E18-22E4-4321-A6FD-987AA5C74287}" dt="2025-12-18T09:37:50.894" v="358" actId="14100"/>
          <ac:spMkLst>
            <pc:docMk/>
            <pc:sldMk cId="1459784185" sldId="280"/>
            <ac:spMk id="2" creationId="{E5A8CF29-57BF-69D9-9616-DBC6505384F5}"/>
          </ac:spMkLst>
        </pc:spChg>
        <pc:spChg chg="mod">
          <ac:chgData name="Gaurav Kothari" userId="ae0e5468ea62c2a0" providerId="LiveId" clId="{95702E18-22E4-4321-A6FD-987AA5C74287}" dt="2025-12-19T08:30:49.295" v="654" actId="255"/>
          <ac:spMkLst>
            <pc:docMk/>
            <pc:sldMk cId="1459784185" sldId="280"/>
            <ac:spMk id="3" creationId="{E983D792-6043-EA84-762A-3353DB36701B}"/>
          </ac:spMkLst>
        </pc:spChg>
        <pc:spChg chg="add">
          <ac:chgData name="Gaurav Kothari" userId="ae0e5468ea62c2a0" providerId="LiveId" clId="{95702E18-22E4-4321-A6FD-987AA5C74287}" dt="2025-12-19T08:26:34.631" v="636"/>
          <ac:spMkLst>
            <pc:docMk/>
            <pc:sldMk cId="1459784185" sldId="280"/>
            <ac:spMk id="4" creationId="{33AEED40-2B40-9C42-9CE5-8B4075C89BBE}"/>
          </ac:spMkLst>
        </pc:spChg>
      </pc:sldChg>
      <pc:sldChg chg="addSp delSp modSp new mod">
        <pc:chgData name="Gaurav Kothari" userId="ae0e5468ea62c2a0" providerId="LiveId" clId="{95702E18-22E4-4321-A6FD-987AA5C74287}" dt="2025-12-18T09:40:33.051" v="394" actId="255"/>
        <pc:sldMkLst>
          <pc:docMk/>
          <pc:sldMk cId="2314249655" sldId="281"/>
        </pc:sldMkLst>
        <pc:spChg chg="mod">
          <ac:chgData name="Gaurav Kothari" userId="ae0e5468ea62c2a0" providerId="LiveId" clId="{95702E18-22E4-4321-A6FD-987AA5C74287}" dt="2025-12-18T09:38:57.012" v="378" actId="255"/>
          <ac:spMkLst>
            <pc:docMk/>
            <pc:sldMk cId="2314249655" sldId="281"/>
            <ac:spMk id="2" creationId="{BF4987A2-E644-36BD-0B57-52776BB3E8F7}"/>
          </ac:spMkLst>
        </pc:spChg>
        <pc:graphicFrameChg chg="add mod ord modGraphic">
          <ac:chgData name="Gaurav Kothari" userId="ae0e5468ea62c2a0" providerId="LiveId" clId="{95702E18-22E4-4321-A6FD-987AA5C74287}" dt="2025-12-18T09:40:33.051" v="394" actId="255"/>
          <ac:graphicFrameMkLst>
            <pc:docMk/>
            <pc:sldMk cId="2314249655" sldId="281"/>
            <ac:graphicFrameMk id="4" creationId="{C1B55821-2B01-3E37-59D0-845925714BDA}"/>
          </ac:graphicFrameMkLst>
        </pc:graphicFrameChg>
      </pc:sldChg>
      <pc:sldChg chg="modSp new mod">
        <pc:chgData name="Gaurav Kothari" userId="ae0e5468ea62c2a0" providerId="LiveId" clId="{95702E18-22E4-4321-A6FD-987AA5C74287}" dt="2025-12-18T09:44:23.800" v="441" actId="27636"/>
        <pc:sldMkLst>
          <pc:docMk/>
          <pc:sldMk cId="958114499" sldId="282"/>
        </pc:sldMkLst>
        <pc:spChg chg="mod">
          <ac:chgData name="Gaurav Kothari" userId="ae0e5468ea62c2a0" providerId="LiveId" clId="{95702E18-22E4-4321-A6FD-987AA5C74287}" dt="2025-12-18T09:41:33.297" v="400" actId="113"/>
          <ac:spMkLst>
            <pc:docMk/>
            <pc:sldMk cId="958114499" sldId="282"/>
            <ac:spMk id="2" creationId="{89AAAF15-7FA9-E5A3-8D08-FA78146FA341}"/>
          </ac:spMkLst>
        </pc:spChg>
        <pc:spChg chg="mod">
          <ac:chgData name="Gaurav Kothari" userId="ae0e5468ea62c2a0" providerId="LiveId" clId="{95702E18-22E4-4321-A6FD-987AA5C74287}" dt="2025-12-18T09:44:23.800" v="441" actId="27636"/>
          <ac:spMkLst>
            <pc:docMk/>
            <pc:sldMk cId="958114499" sldId="282"/>
            <ac:spMk id="3" creationId="{7AE34DA9-7C14-F1D1-B093-2659632BA146}"/>
          </ac:spMkLst>
        </pc:spChg>
      </pc:sldChg>
      <pc:sldChg chg="modSp new mod">
        <pc:chgData name="Gaurav Kothari" userId="ae0e5468ea62c2a0" providerId="LiveId" clId="{95702E18-22E4-4321-A6FD-987AA5C74287}" dt="2025-12-18T09:45:47.319" v="470" actId="20577"/>
        <pc:sldMkLst>
          <pc:docMk/>
          <pc:sldMk cId="2947557777" sldId="283"/>
        </pc:sldMkLst>
        <pc:spChg chg="mod">
          <ac:chgData name="Gaurav Kothari" userId="ae0e5468ea62c2a0" providerId="LiveId" clId="{95702E18-22E4-4321-A6FD-987AA5C74287}" dt="2025-12-18T09:44:52.018" v="444" actId="255"/>
          <ac:spMkLst>
            <pc:docMk/>
            <pc:sldMk cId="2947557777" sldId="283"/>
            <ac:spMk id="2" creationId="{9F947BA2-F1A8-7238-D31A-BE869CA0262D}"/>
          </ac:spMkLst>
        </pc:spChg>
        <pc:spChg chg="mod">
          <ac:chgData name="Gaurav Kothari" userId="ae0e5468ea62c2a0" providerId="LiveId" clId="{95702E18-22E4-4321-A6FD-987AA5C74287}" dt="2025-12-18T09:45:47.319" v="470" actId="20577"/>
          <ac:spMkLst>
            <pc:docMk/>
            <pc:sldMk cId="2947557777" sldId="283"/>
            <ac:spMk id="3" creationId="{570A5E46-C34B-810D-5AEE-12D9657C73B7}"/>
          </ac:spMkLst>
        </pc:spChg>
      </pc:sldChg>
      <pc:sldChg chg="modSp new mod">
        <pc:chgData name="Gaurav Kothari" userId="ae0e5468ea62c2a0" providerId="LiveId" clId="{95702E18-22E4-4321-A6FD-987AA5C74287}" dt="2025-12-18T09:51:17.063" v="523" actId="255"/>
        <pc:sldMkLst>
          <pc:docMk/>
          <pc:sldMk cId="4269320710" sldId="284"/>
        </pc:sldMkLst>
        <pc:spChg chg="mod">
          <ac:chgData name="Gaurav Kothari" userId="ae0e5468ea62c2a0" providerId="LiveId" clId="{95702E18-22E4-4321-A6FD-987AA5C74287}" dt="2025-12-18T09:48:18.254" v="499" actId="20577"/>
          <ac:spMkLst>
            <pc:docMk/>
            <pc:sldMk cId="4269320710" sldId="284"/>
            <ac:spMk id="2" creationId="{799AEA0C-832F-0ACE-D5D4-5C7F93AF4173}"/>
          </ac:spMkLst>
        </pc:spChg>
        <pc:spChg chg="mod">
          <ac:chgData name="Gaurav Kothari" userId="ae0e5468ea62c2a0" providerId="LiveId" clId="{95702E18-22E4-4321-A6FD-987AA5C74287}" dt="2025-12-18T09:51:17.063" v="523" actId="255"/>
          <ac:spMkLst>
            <pc:docMk/>
            <pc:sldMk cId="4269320710" sldId="284"/>
            <ac:spMk id="3" creationId="{5911BB31-90C8-642B-A2C4-DEFEC1A925E1}"/>
          </ac:spMkLst>
        </pc:spChg>
      </pc:sldChg>
      <pc:sldChg chg="addSp delSp modSp new mod">
        <pc:chgData name="Gaurav Kothari" userId="ae0e5468ea62c2a0" providerId="LiveId" clId="{95702E18-22E4-4321-A6FD-987AA5C74287}" dt="2025-12-18T09:55:07.180" v="609" actId="20577"/>
        <pc:sldMkLst>
          <pc:docMk/>
          <pc:sldMk cId="654099255" sldId="285"/>
        </pc:sldMkLst>
        <pc:spChg chg="add del mod">
          <ac:chgData name="Gaurav Kothari" userId="ae0e5468ea62c2a0" providerId="LiveId" clId="{95702E18-22E4-4321-A6FD-987AA5C74287}" dt="2025-12-18T09:54:44.225" v="597" actId="14100"/>
          <ac:spMkLst>
            <pc:docMk/>
            <pc:sldMk cId="654099255" sldId="285"/>
            <ac:spMk id="2" creationId="{76E3EC8D-962D-321E-6A29-8E48A1A6A7A5}"/>
          </ac:spMkLst>
        </pc:spChg>
        <pc:spChg chg="mod">
          <ac:chgData name="Gaurav Kothari" userId="ae0e5468ea62c2a0" providerId="LiveId" clId="{95702E18-22E4-4321-A6FD-987AA5C74287}" dt="2025-12-18T09:55:07.180" v="609" actId="20577"/>
          <ac:spMkLst>
            <pc:docMk/>
            <pc:sldMk cId="654099255" sldId="285"/>
            <ac:spMk id="3" creationId="{85D5990F-0447-65AD-4489-A9B06A9E5444}"/>
          </ac:spMkLst>
        </pc:spChg>
      </pc:sldChg>
      <pc:sldChg chg="modSp mod">
        <pc:chgData name="Gaurav Kothari" userId="ae0e5468ea62c2a0" providerId="LiveId" clId="{95702E18-22E4-4321-A6FD-987AA5C74287}" dt="2025-12-19T09:47:57.859" v="827" actId="207"/>
        <pc:sldMkLst>
          <pc:docMk/>
          <pc:sldMk cId="2061807594" sldId="286"/>
        </pc:sldMkLst>
        <pc:spChg chg="mod">
          <ac:chgData name="Gaurav Kothari" userId="ae0e5468ea62c2a0" providerId="LiveId" clId="{95702E18-22E4-4321-A6FD-987AA5C74287}" dt="2025-12-19T09:47:57.859" v="827" actId="207"/>
          <ac:spMkLst>
            <pc:docMk/>
            <pc:sldMk cId="2061807594" sldId="286"/>
            <ac:spMk id="3" creationId="{F7C952DC-16D3-B094-86DF-26CB549E8F7F}"/>
          </ac:spMkLst>
        </pc:spChg>
      </pc:sldChg>
      <pc:sldChg chg="modSp mod">
        <pc:chgData name="Gaurav Kothari" userId="ae0e5468ea62c2a0" providerId="LiveId" clId="{95702E18-22E4-4321-A6FD-987AA5C74287}" dt="2025-12-18T22:11:31.053" v="623" actId="20577"/>
        <pc:sldMkLst>
          <pc:docMk/>
          <pc:sldMk cId="2724350575" sldId="289"/>
        </pc:sldMkLst>
        <pc:spChg chg="mod">
          <ac:chgData name="Gaurav Kothari" userId="ae0e5468ea62c2a0" providerId="LiveId" clId="{95702E18-22E4-4321-A6FD-987AA5C74287}" dt="2025-12-18T22:11:31.053" v="623" actId="20577"/>
          <ac:spMkLst>
            <pc:docMk/>
            <pc:sldMk cId="2724350575" sldId="289"/>
            <ac:spMk id="3" creationId="{17A30A92-A02C-D5C4-3A95-4AE0E36CDA8B}"/>
          </ac:spMkLst>
        </pc:spChg>
      </pc:sldChg>
      <pc:sldChg chg="modSp mod">
        <pc:chgData name="Gaurav Kothari" userId="ae0e5468ea62c2a0" providerId="LiveId" clId="{95702E18-22E4-4321-A6FD-987AA5C74287}" dt="2025-12-18T22:12:14.013" v="632" actId="20577"/>
        <pc:sldMkLst>
          <pc:docMk/>
          <pc:sldMk cId="1871716691" sldId="293"/>
        </pc:sldMkLst>
        <pc:spChg chg="mod">
          <ac:chgData name="Gaurav Kothari" userId="ae0e5468ea62c2a0" providerId="LiveId" clId="{95702E18-22E4-4321-A6FD-987AA5C74287}" dt="2025-12-18T22:12:14.013" v="632" actId="20577"/>
          <ac:spMkLst>
            <pc:docMk/>
            <pc:sldMk cId="1871716691" sldId="293"/>
            <ac:spMk id="3" creationId="{AEC08FB9-8617-F187-469B-1FD32A64057E}"/>
          </ac:spMkLst>
        </pc:spChg>
      </pc:sldChg>
      <pc:sldChg chg="delSp modSp new mod">
        <pc:chgData name="Gaurav Kothari" userId="ae0e5468ea62c2a0" providerId="LiveId" clId="{95702E18-22E4-4321-A6FD-987AA5C74287}" dt="2025-12-20T11:25:48.121" v="886"/>
        <pc:sldMkLst>
          <pc:docMk/>
          <pc:sldMk cId="3525014583" sldId="298"/>
        </pc:sldMkLst>
        <pc:spChg chg="del">
          <ac:chgData name="Gaurav Kothari" userId="ae0e5468ea62c2a0" providerId="LiveId" clId="{95702E18-22E4-4321-A6FD-987AA5C74287}" dt="2025-12-19T08:32:04.780" v="655" actId="478"/>
          <ac:spMkLst>
            <pc:docMk/>
            <pc:sldMk cId="3525014583" sldId="298"/>
            <ac:spMk id="2" creationId="{E8B2E4EC-0016-764B-5A06-3D06D74336A5}"/>
          </ac:spMkLst>
        </pc:spChg>
        <pc:spChg chg="mod">
          <ac:chgData name="Gaurav Kothari" userId="ae0e5468ea62c2a0" providerId="LiveId" clId="{95702E18-22E4-4321-A6FD-987AA5C74287}" dt="2025-12-20T11:25:48.121" v="886"/>
          <ac:spMkLst>
            <pc:docMk/>
            <pc:sldMk cId="3525014583" sldId="298"/>
            <ac:spMk id="3" creationId="{A9031862-E25D-492B-B355-79C31AC69BFF}"/>
          </ac:spMkLst>
        </pc:spChg>
      </pc:sldChg>
      <pc:sldChg chg="modSp new mod">
        <pc:chgData name="Gaurav Kothari" userId="ae0e5468ea62c2a0" providerId="LiveId" clId="{95702E18-22E4-4321-A6FD-987AA5C74287}" dt="2025-12-19T09:59:30.523" v="868" actId="255"/>
        <pc:sldMkLst>
          <pc:docMk/>
          <pc:sldMk cId="4103261369" sldId="299"/>
        </pc:sldMkLst>
        <pc:spChg chg="mod">
          <ac:chgData name="Gaurav Kothari" userId="ae0e5468ea62c2a0" providerId="LiveId" clId="{95702E18-22E4-4321-A6FD-987AA5C74287}" dt="2025-12-19T09:58:17.412" v="841" actId="14100"/>
          <ac:spMkLst>
            <pc:docMk/>
            <pc:sldMk cId="4103261369" sldId="299"/>
            <ac:spMk id="2" creationId="{A980D5AF-8213-00EC-A879-FDA97C38603B}"/>
          </ac:spMkLst>
        </pc:spChg>
        <pc:spChg chg="mod">
          <ac:chgData name="Gaurav Kothari" userId="ae0e5468ea62c2a0" providerId="LiveId" clId="{95702E18-22E4-4321-A6FD-987AA5C74287}" dt="2025-12-19T09:59:30.523" v="868" actId="255"/>
          <ac:spMkLst>
            <pc:docMk/>
            <pc:sldMk cId="4103261369" sldId="299"/>
            <ac:spMk id="3" creationId="{C8E39F6E-98C9-12A9-7E68-87067E9D248A}"/>
          </ac:spMkLst>
        </pc:spChg>
      </pc:sldChg>
      <pc:sldChg chg="modSp new mod">
        <pc:chgData name="Gaurav Kothari" userId="ae0e5468ea62c2a0" providerId="LiveId" clId="{95702E18-22E4-4321-A6FD-987AA5C74287}" dt="2025-12-19T10:01:22.033" v="884" actId="14100"/>
        <pc:sldMkLst>
          <pc:docMk/>
          <pc:sldMk cId="2890897180" sldId="300"/>
        </pc:sldMkLst>
        <pc:spChg chg="mod">
          <ac:chgData name="Gaurav Kothari" userId="ae0e5468ea62c2a0" providerId="LiveId" clId="{95702E18-22E4-4321-A6FD-987AA5C74287}" dt="2025-12-19T10:01:15.272" v="883" actId="14100"/>
          <ac:spMkLst>
            <pc:docMk/>
            <pc:sldMk cId="2890897180" sldId="300"/>
            <ac:spMk id="2" creationId="{854C76E9-3F92-4D85-BE5D-2225F8961A19}"/>
          </ac:spMkLst>
        </pc:spChg>
        <pc:spChg chg="mod">
          <ac:chgData name="Gaurav Kothari" userId="ae0e5468ea62c2a0" providerId="LiveId" clId="{95702E18-22E4-4321-A6FD-987AA5C74287}" dt="2025-12-19T10:01:22.033" v="884" actId="14100"/>
          <ac:spMkLst>
            <pc:docMk/>
            <pc:sldMk cId="2890897180" sldId="300"/>
            <ac:spMk id="3" creationId="{AF8B8AD2-FA97-B7E4-CFE7-06B19745627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5D71E-E4BE-6AA6-D11F-8201613D92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03ADA9-E2A5-7B3D-2CC2-D260157258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B20FD9-FA96-D200-0141-D16A2A6F0AF8}"/>
              </a:ext>
            </a:extLst>
          </p:cNvPr>
          <p:cNvSpPr>
            <a:spLocks noGrp="1"/>
          </p:cNvSpPr>
          <p:nvPr>
            <p:ph type="dt" sz="half" idx="10"/>
          </p:nvPr>
        </p:nvSpPr>
        <p:spPr/>
        <p:txBody>
          <a:bodyPr/>
          <a:lstStyle/>
          <a:p>
            <a:fld id="{2711830B-1E75-438D-BF32-4A4D603ED845}" type="datetimeFigureOut">
              <a:rPr lang="en-US" smtClean="0"/>
              <a:t>1/23/2026</a:t>
            </a:fld>
            <a:endParaRPr lang="en-US"/>
          </a:p>
        </p:txBody>
      </p:sp>
      <p:sp>
        <p:nvSpPr>
          <p:cNvPr id="5" name="Footer Placeholder 4">
            <a:extLst>
              <a:ext uri="{FF2B5EF4-FFF2-40B4-BE49-F238E27FC236}">
                <a16:creationId xmlns:a16="http://schemas.microsoft.com/office/drawing/2014/main" id="{54B686E2-783B-7481-8BEE-9A1ACE213D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B0C97F-1F2C-EAC7-6AED-EB5CA268AD62}"/>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3331462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B7C9E-0335-0D05-4081-C29C4FA6CF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9799F0-144B-7054-5700-FC2FFD1358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461909-7039-EC77-2DBC-A2D1BE149550}"/>
              </a:ext>
            </a:extLst>
          </p:cNvPr>
          <p:cNvSpPr>
            <a:spLocks noGrp="1"/>
          </p:cNvSpPr>
          <p:nvPr>
            <p:ph type="dt" sz="half" idx="10"/>
          </p:nvPr>
        </p:nvSpPr>
        <p:spPr/>
        <p:txBody>
          <a:bodyPr/>
          <a:lstStyle/>
          <a:p>
            <a:fld id="{2711830B-1E75-438D-BF32-4A4D603ED845}" type="datetimeFigureOut">
              <a:rPr lang="en-US" smtClean="0"/>
              <a:t>1/23/2026</a:t>
            </a:fld>
            <a:endParaRPr lang="en-US"/>
          </a:p>
        </p:txBody>
      </p:sp>
      <p:sp>
        <p:nvSpPr>
          <p:cNvPr id="5" name="Footer Placeholder 4">
            <a:extLst>
              <a:ext uri="{FF2B5EF4-FFF2-40B4-BE49-F238E27FC236}">
                <a16:creationId xmlns:a16="http://schemas.microsoft.com/office/drawing/2014/main" id="{381F95EC-3205-01DC-2BDC-66108C3289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A6D1BF-B3EF-CE8B-5AF9-AD9352AF4A8D}"/>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2846983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E03F1-3F75-AAC0-7298-D2AE179B35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B77B1C7-07E2-6FA6-75C7-6ECE6A200A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011F0A-1B24-D5B7-116D-2F563D3B5F6C}"/>
              </a:ext>
            </a:extLst>
          </p:cNvPr>
          <p:cNvSpPr>
            <a:spLocks noGrp="1"/>
          </p:cNvSpPr>
          <p:nvPr>
            <p:ph type="dt" sz="half" idx="10"/>
          </p:nvPr>
        </p:nvSpPr>
        <p:spPr/>
        <p:txBody>
          <a:bodyPr/>
          <a:lstStyle/>
          <a:p>
            <a:fld id="{2711830B-1E75-438D-BF32-4A4D603ED845}" type="datetimeFigureOut">
              <a:rPr lang="en-US" smtClean="0"/>
              <a:t>1/23/2026</a:t>
            </a:fld>
            <a:endParaRPr lang="en-US"/>
          </a:p>
        </p:txBody>
      </p:sp>
      <p:sp>
        <p:nvSpPr>
          <p:cNvPr id="5" name="Footer Placeholder 4">
            <a:extLst>
              <a:ext uri="{FF2B5EF4-FFF2-40B4-BE49-F238E27FC236}">
                <a16:creationId xmlns:a16="http://schemas.microsoft.com/office/drawing/2014/main" id="{3AEB29F4-F02A-CFC9-8970-9CD2EC17C9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E3ED3A-2A7C-55BE-CA4E-F442BE87A633}"/>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1208258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1C68D-9E93-1F0F-251A-1945B735E0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C05A01-BA7D-58E3-C8A9-1054569374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ECF03F-F3AB-7C5E-2F78-BF753FF67C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69F784-F409-4831-7076-7AB2AD4C9E58}"/>
              </a:ext>
            </a:extLst>
          </p:cNvPr>
          <p:cNvSpPr>
            <a:spLocks noGrp="1"/>
          </p:cNvSpPr>
          <p:nvPr>
            <p:ph type="dt" sz="half" idx="10"/>
          </p:nvPr>
        </p:nvSpPr>
        <p:spPr/>
        <p:txBody>
          <a:bodyPr/>
          <a:lstStyle/>
          <a:p>
            <a:fld id="{2711830B-1E75-438D-BF32-4A4D603ED845}" type="datetimeFigureOut">
              <a:rPr lang="en-US" smtClean="0"/>
              <a:t>1/23/2026</a:t>
            </a:fld>
            <a:endParaRPr lang="en-US"/>
          </a:p>
        </p:txBody>
      </p:sp>
      <p:sp>
        <p:nvSpPr>
          <p:cNvPr id="6" name="Footer Placeholder 5">
            <a:extLst>
              <a:ext uri="{FF2B5EF4-FFF2-40B4-BE49-F238E27FC236}">
                <a16:creationId xmlns:a16="http://schemas.microsoft.com/office/drawing/2014/main" id="{6E02CB7A-848C-415B-BC73-7E209D700F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517B2D-C202-3F7E-7A01-0207E052C539}"/>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516211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A8D70-D267-87B2-8033-877C5473DB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B71175-5A65-99C9-636A-4C89BD7A10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AF6672-0CEF-1843-B152-11513A41BD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63E2CBD-42E8-D94B-5B3A-8B6532E8B3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E33122-E146-0D35-A02D-5333ECE1EF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A0C0A6-8CBB-D34B-4DF2-B405A063CEFD}"/>
              </a:ext>
            </a:extLst>
          </p:cNvPr>
          <p:cNvSpPr>
            <a:spLocks noGrp="1"/>
          </p:cNvSpPr>
          <p:nvPr>
            <p:ph type="dt" sz="half" idx="10"/>
          </p:nvPr>
        </p:nvSpPr>
        <p:spPr/>
        <p:txBody>
          <a:bodyPr/>
          <a:lstStyle/>
          <a:p>
            <a:fld id="{2711830B-1E75-438D-BF32-4A4D603ED845}" type="datetimeFigureOut">
              <a:rPr lang="en-US" smtClean="0"/>
              <a:t>1/23/2026</a:t>
            </a:fld>
            <a:endParaRPr lang="en-US"/>
          </a:p>
        </p:txBody>
      </p:sp>
      <p:sp>
        <p:nvSpPr>
          <p:cNvPr id="8" name="Footer Placeholder 7">
            <a:extLst>
              <a:ext uri="{FF2B5EF4-FFF2-40B4-BE49-F238E27FC236}">
                <a16:creationId xmlns:a16="http://schemas.microsoft.com/office/drawing/2014/main" id="{6DCE95CC-2EAF-B62B-4F46-592C2BDDA8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29ECA9-BC95-0E4F-314E-88BB711A1872}"/>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1067105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05D6C-BFEE-34A3-D3BF-8C67C27987D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C4DBCF-1154-60C6-FA4D-B044F2936CB7}"/>
              </a:ext>
            </a:extLst>
          </p:cNvPr>
          <p:cNvSpPr>
            <a:spLocks noGrp="1"/>
          </p:cNvSpPr>
          <p:nvPr>
            <p:ph type="dt" sz="half" idx="10"/>
          </p:nvPr>
        </p:nvSpPr>
        <p:spPr/>
        <p:txBody>
          <a:bodyPr/>
          <a:lstStyle/>
          <a:p>
            <a:fld id="{2711830B-1E75-438D-BF32-4A4D603ED845}" type="datetimeFigureOut">
              <a:rPr lang="en-US" smtClean="0"/>
              <a:t>1/23/2026</a:t>
            </a:fld>
            <a:endParaRPr lang="en-US"/>
          </a:p>
        </p:txBody>
      </p:sp>
      <p:sp>
        <p:nvSpPr>
          <p:cNvPr id="4" name="Footer Placeholder 3">
            <a:extLst>
              <a:ext uri="{FF2B5EF4-FFF2-40B4-BE49-F238E27FC236}">
                <a16:creationId xmlns:a16="http://schemas.microsoft.com/office/drawing/2014/main" id="{7FCB8C97-0246-BCFA-07F6-7D2516DFDF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7E1B9A-6545-267A-5FFE-7D5E6D2CAF9B}"/>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2244007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78CCD9-D645-D20E-EBCB-BE5298CC1F2A}"/>
              </a:ext>
            </a:extLst>
          </p:cNvPr>
          <p:cNvSpPr>
            <a:spLocks noGrp="1"/>
          </p:cNvSpPr>
          <p:nvPr>
            <p:ph type="dt" sz="half" idx="10"/>
          </p:nvPr>
        </p:nvSpPr>
        <p:spPr/>
        <p:txBody>
          <a:bodyPr/>
          <a:lstStyle/>
          <a:p>
            <a:fld id="{2711830B-1E75-438D-BF32-4A4D603ED845}" type="datetimeFigureOut">
              <a:rPr lang="en-US" smtClean="0"/>
              <a:t>1/23/2026</a:t>
            </a:fld>
            <a:endParaRPr lang="en-US"/>
          </a:p>
        </p:txBody>
      </p:sp>
      <p:sp>
        <p:nvSpPr>
          <p:cNvPr id="3" name="Footer Placeholder 2">
            <a:extLst>
              <a:ext uri="{FF2B5EF4-FFF2-40B4-BE49-F238E27FC236}">
                <a16:creationId xmlns:a16="http://schemas.microsoft.com/office/drawing/2014/main" id="{420E7E94-E35B-5C83-AA25-033ADCC218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6B5DE2A-6B4A-C4D9-373D-4C3ED95356B2}"/>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417391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06605-94FF-CA1A-CEF3-FAD75366C3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BEFF72-26E8-5D72-E14D-CB92941C64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356BCFE-4BE7-6350-AB77-8D4CF89BFD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BAE602-9705-CFE3-16E3-D5FD7FA21D12}"/>
              </a:ext>
            </a:extLst>
          </p:cNvPr>
          <p:cNvSpPr>
            <a:spLocks noGrp="1"/>
          </p:cNvSpPr>
          <p:nvPr>
            <p:ph type="dt" sz="half" idx="10"/>
          </p:nvPr>
        </p:nvSpPr>
        <p:spPr/>
        <p:txBody>
          <a:bodyPr/>
          <a:lstStyle/>
          <a:p>
            <a:fld id="{2711830B-1E75-438D-BF32-4A4D603ED845}" type="datetimeFigureOut">
              <a:rPr lang="en-US" smtClean="0"/>
              <a:t>1/23/2026</a:t>
            </a:fld>
            <a:endParaRPr lang="en-US"/>
          </a:p>
        </p:txBody>
      </p:sp>
      <p:sp>
        <p:nvSpPr>
          <p:cNvPr id="6" name="Footer Placeholder 5">
            <a:extLst>
              <a:ext uri="{FF2B5EF4-FFF2-40B4-BE49-F238E27FC236}">
                <a16:creationId xmlns:a16="http://schemas.microsoft.com/office/drawing/2014/main" id="{E381559D-2018-E1A6-8532-1A339EC694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A2D5EB-C78E-A74F-F309-0BED1F37CA31}"/>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16681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F308B-54CA-A452-DC06-731464BD2F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8C25F19-3995-DCED-3B3A-FD7EDF37F1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74BD2A3-8164-E502-7EA5-02BBCC0546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E9AE0F-3ABD-4D69-49B5-A7A928E457ED}"/>
              </a:ext>
            </a:extLst>
          </p:cNvPr>
          <p:cNvSpPr>
            <a:spLocks noGrp="1"/>
          </p:cNvSpPr>
          <p:nvPr>
            <p:ph type="dt" sz="half" idx="10"/>
          </p:nvPr>
        </p:nvSpPr>
        <p:spPr/>
        <p:txBody>
          <a:bodyPr/>
          <a:lstStyle/>
          <a:p>
            <a:fld id="{2711830B-1E75-438D-BF32-4A4D603ED845}" type="datetimeFigureOut">
              <a:rPr lang="en-US" smtClean="0"/>
              <a:t>1/23/2026</a:t>
            </a:fld>
            <a:endParaRPr lang="en-US"/>
          </a:p>
        </p:txBody>
      </p:sp>
      <p:sp>
        <p:nvSpPr>
          <p:cNvPr id="6" name="Footer Placeholder 5">
            <a:extLst>
              <a:ext uri="{FF2B5EF4-FFF2-40B4-BE49-F238E27FC236}">
                <a16:creationId xmlns:a16="http://schemas.microsoft.com/office/drawing/2014/main" id="{24BAD136-7D3D-AFB5-E26D-89D938218F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75990F-339F-46C0-EAE8-0C3E7418B413}"/>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93155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B478F-367B-F42F-5396-359A3F6229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C5F6FD-9FC8-47B0-0FB4-57B40127C6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F09849-0DA3-64E3-BF4E-36DADFF4B794}"/>
              </a:ext>
            </a:extLst>
          </p:cNvPr>
          <p:cNvSpPr>
            <a:spLocks noGrp="1"/>
          </p:cNvSpPr>
          <p:nvPr>
            <p:ph type="dt" sz="half" idx="10"/>
          </p:nvPr>
        </p:nvSpPr>
        <p:spPr/>
        <p:txBody>
          <a:bodyPr/>
          <a:lstStyle/>
          <a:p>
            <a:fld id="{2711830B-1E75-438D-BF32-4A4D603ED845}" type="datetimeFigureOut">
              <a:rPr lang="en-US" smtClean="0"/>
              <a:t>1/23/2026</a:t>
            </a:fld>
            <a:endParaRPr lang="en-US"/>
          </a:p>
        </p:txBody>
      </p:sp>
      <p:sp>
        <p:nvSpPr>
          <p:cNvPr id="5" name="Footer Placeholder 4">
            <a:extLst>
              <a:ext uri="{FF2B5EF4-FFF2-40B4-BE49-F238E27FC236}">
                <a16:creationId xmlns:a16="http://schemas.microsoft.com/office/drawing/2014/main" id="{A81FAD99-E658-D819-3CEA-B9A83770AA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F777E7-B450-D725-B3A1-FA7E887A90A6}"/>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1005932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28918A-16FA-C3CE-06DF-AC4B9A76AC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AB253B-98E0-6D6A-A5D1-8130C50AD1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51D8E0-2CC8-6879-75A8-D969D8524A3E}"/>
              </a:ext>
            </a:extLst>
          </p:cNvPr>
          <p:cNvSpPr>
            <a:spLocks noGrp="1"/>
          </p:cNvSpPr>
          <p:nvPr>
            <p:ph type="dt" sz="half" idx="10"/>
          </p:nvPr>
        </p:nvSpPr>
        <p:spPr/>
        <p:txBody>
          <a:bodyPr/>
          <a:lstStyle/>
          <a:p>
            <a:fld id="{2711830B-1E75-438D-BF32-4A4D603ED845}" type="datetimeFigureOut">
              <a:rPr lang="en-US" smtClean="0"/>
              <a:t>1/23/2026</a:t>
            </a:fld>
            <a:endParaRPr lang="en-US"/>
          </a:p>
        </p:txBody>
      </p:sp>
      <p:sp>
        <p:nvSpPr>
          <p:cNvPr id="5" name="Footer Placeholder 4">
            <a:extLst>
              <a:ext uri="{FF2B5EF4-FFF2-40B4-BE49-F238E27FC236}">
                <a16:creationId xmlns:a16="http://schemas.microsoft.com/office/drawing/2014/main" id="{96337D95-9B73-DA24-18EF-D5904BA393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BCC1FC-A25A-217D-8837-78394F87386D}"/>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3011898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1CBD6D-7171-F3C6-571A-66E6B68876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795CDA-CCE4-7210-7325-427829501B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280199-D859-117B-57A5-C95C1CA9D1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11830B-1E75-438D-BF32-4A4D603ED845}" type="datetimeFigureOut">
              <a:rPr lang="en-US" smtClean="0"/>
              <a:t>1/23/2026</a:t>
            </a:fld>
            <a:endParaRPr lang="en-US"/>
          </a:p>
        </p:txBody>
      </p:sp>
      <p:sp>
        <p:nvSpPr>
          <p:cNvPr id="5" name="Footer Placeholder 4">
            <a:extLst>
              <a:ext uri="{FF2B5EF4-FFF2-40B4-BE49-F238E27FC236}">
                <a16:creationId xmlns:a16="http://schemas.microsoft.com/office/drawing/2014/main" id="{C0AE3EDB-B28C-DF31-2BB1-967AE229BB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63D4ED-C95C-F7E0-8769-9CE23E9AB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7DA31C-2B84-4AAA-B8F7-D6FC672AA565}" type="slidenum">
              <a:rPr lang="en-US" smtClean="0"/>
              <a:t>‹#›</a:t>
            </a:fld>
            <a:endParaRPr lang="en-US"/>
          </a:p>
        </p:txBody>
      </p:sp>
    </p:spTree>
    <p:extLst>
      <p:ext uri="{BB962C8B-B14F-4D97-AF65-F5344CB8AC3E}">
        <p14:creationId xmlns:p14="http://schemas.microsoft.com/office/powerpoint/2010/main" val="25470191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start.spring.io/"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E4CB5-1AE6-74DE-AF24-0AE5A427C2EA}"/>
              </a:ext>
            </a:extLst>
          </p:cNvPr>
          <p:cNvSpPr>
            <a:spLocks noGrp="1"/>
          </p:cNvSpPr>
          <p:nvPr>
            <p:ph type="ctrTitle"/>
          </p:nvPr>
        </p:nvSpPr>
        <p:spPr>
          <a:xfrm>
            <a:off x="786384" y="356616"/>
            <a:ext cx="9881616" cy="1440287"/>
          </a:xfrm>
        </p:spPr>
        <p:txBody>
          <a:bodyPr>
            <a:normAutofit/>
          </a:bodyPr>
          <a:lstStyle/>
          <a:p>
            <a:pPr algn="l"/>
            <a:r>
              <a:rPr lang="en-US" sz="4000" dirty="0"/>
              <a:t>What is Spring Boot?</a:t>
            </a:r>
            <a:br>
              <a:rPr lang="en-US" sz="4000" dirty="0"/>
            </a:br>
            <a:endParaRPr lang="en-US" sz="4000" dirty="0"/>
          </a:p>
        </p:txBody>
      </p:sp>
      <p:sp>
        <p:nvSpPr>
          <p:cNvPr id="3" name="Subtitle 2">
            <a:extLst>
              <a:ext uri="{FF2B5EF4-FFF2-40B4-BE49-F238E27FC236}">
                <a16:creationId xmlns:a16="http://schemas.microsoft.com/office/drawing/2014/main" id="{0EC70C57-8627-4397-E5EF-EB0AF6FE4A8D}"/>
              </a:ext>
            </a:extLst>
          </p:cNvPr>
          <p:cNvSpPr>
            <a:spLocks noGrp="1"/>
          </p:cNvSpPr>
          <p:nvPr>
            <p:ph type="subTitle" idx="1"/>
          </p:nvPr>
        </p:nvSpPr>
        <p:spPr>
          <a:xfrm>
            <a:off x="786384" y="1271016"/>
            <a:ext cx="10728676" cy="5449823"/>
          </a:xfrm>
        </p:spPr>
        <p:txBody>
          <a:bodyPr>
            <a:normAutofit/>
          </a:bodyPr>
          <a:lstStyle/>
          <a:p>
            <a:pPr algn="just"/>
            <a:r>
              <a:rPr lang="en-US" sz="1800" b="1" dirty="0"/>
              <a:t>Spring Boot is a framework built on top of the Spring Framework</a:t>
            </a:r>
            <a:r>
              <a:rPr lang="en-US" sz="1800" dirty="0"/>
              <a:t> that simplifies the development of Java applications by providing:</a:t>
            </a:r>
          </a:p>
          <a:p>
            <a:pPr marL="800100" lvl="1" indent="-342900" algn="just">
              <a:buFont typeface="Arial" panose="020B0604020202020204" pitchFamily="34" charset="0"/>
              <a:buChar char="•"/>
            </a:pPr>
            <a:r>
              <a:rPr lang="en-US" sz="1800" dirty="0"/>
              <a:t>Auto-configuration </a:t>
            </a:r>
          </a:p>
          <a:p>
            <a:pPr marL="800100" lvl="1" indent="-342900" algn="just">
              <a:buFont typeface="Arial" panose="020B0604020202020204" pitchFamily="34" charset="0"/>
              <a:buChar char="•"/>
            </a:pPr>
            <a:r>
              <a:rPr lang="en-US" sz="1800" dirty="0"/>
              <a:t>Embedded servers</a:t>
            </a:r>
          </a:p>
          <a:p>
            <a:pPr marL="800100" lvl="1" indent="-342900" algn="just">
              <a:buFont typeface="Arial" panose="020B0604020202020204" pitchFamily="34" charset="0"/>
              <a:buChar char="•"/>
            </a:pPr>
            <a:r>
              <a:rPr lang="en-US" sz="1800" dirty="0"/>
              <a:t>Production-ready features</a:t>
            </a:r>
          </a:p>
          <a:p>
            <a:pPr marL="800100" lvl="1" indent="-342900" algn="just">
              <a:buFont typeface="Arial" panose="020B0604020202020204" pitchFamily="34" charset="0"/>
              <a:buChar char="•"/>
            </a:pPr>
            <a:endParaRPr lang="en-US" sz="1800" dirty="0"/>
          </a:p>
          <a:p>
            <a:pPr algn="just"/>
            <a:r>
              <a:rPr lang="en-US" sz="1800" b="1" dirty="0"/>
              <a:t>Definition (Interview-ready):</a:t>
            </a:r>
            <a:endParaRPr lang="en-US" sz="1800" dirty="0"/>
          </a:p>
          <a:p>
            <a:pPr algn="just"/>
            <a:r>
              <a:rPr lang="en-US" sz="1800" i="1" dirty="0"/>
              <a:t>Spring Boot is a Spring-based framework used to build stand-alone, production-ready Java applications with minimal configuration.</a:t>
            </a:r>
          </a:p>
          <a:p>
            <a:pPr algn="just"/>
            <a:r>
              <a:rPr lang="en-US" sz="1800" i="1" dirty="0"/>
              <a:t>Here </a:t>
            </a:r>
            <a:r>
              <a:rPr lang="en-US" sz="1800" b="1" dirty="0"/>
              <a:t>Stand-alone Spring Boot application means, </a:t>
            </a:r>
            <a:r>
              <a:rPr lang="en-US" sz="1800" dirty="0"/>
              <a:t>A Java application that starts using a main() method and runs an </a:t>
            </a:r>
            <a:r>
              <a:rPr lang="en-US" sz="1800" b="1" dirty="0"/>
              <a:t>embedded web server</a:t>
            </a:r>
            <a:r>
              <a:rPr lang="en-US" sz="1800" dirty="0"/>
              <a:t> (Tomcat/Jetty/Undertow) internally. Just run:</a:t>
            </a:r>
          </a:p>
          <a:p>
            <a:pPr algn="just"/>
            <a:endParaRPr lang="en-US" sz="1800" dirty="0"/>
          </a:p>
          <a:p>
            <a:pPr algn="just"/>
            <a:r>
              <a:rPr lang="en-US" sz="1800" dirty="0"/>
              <a:t>public static void main(String[] </a:t>
            </a:r>
            <a:r>
              <a:rPr lang="en-US" sz="1800" dirty="0" err="1"/>
              <a:t>args</a:t>
            </a:r>
            <a:r>
              <a:rPr lang="en-US" sz="1800" dirty="0"/>
              <a:t>) {</a:t>
            </a:r>
          </a:p>
          <a:p>
            <a:pPr algn="just"/>
            <a:r>
              <a:rPr lang="en-US" sz="1800" dirty="0"/>
              <a:t>    </a:t>
            </a:r>
            <a:r>
              <a:rPr lang="en-US" sz="1800" dirty="0" err="1"/>
              <a:t>SpringApplication.run</a:t>
            </a:r>
            <a:r>
              <a:rPr lang="en-US" sz="1800" dirty="0"/>
              <a:t>(</a:t>
            </a:r>
            <a:r>
              <a:rPr lang="en-US" sz="1800" dirty="0" err="1"/>
              <a:t>MyApp.class</a:t>
            </a:r>
            <a:r>
              <a:rPr lang="en-US" sz="1800" dirty="0"/>
              <a:t>, </a:t>
            </a:r>
            <a:r>
              <a:rPr lang="en-US" sz="1800" dirty="0" err="1"/>
              <a:t>args</a:t>
            </a:r>
            <a:r>
              <a:rPr lang="en-US" sz="1800" dirty="0"/>
              <a:t>);</a:t>
            </a:r>
          </a:p>
          <a:p>
            <a:pPr algn="just"/>
            <a:r>
              <a:rPr lang="en-US" sz="1800" dirty="0"/>
              <a:t>}</a:t>
            </a:r>
          </a:p>
          <a:p>
            <a:pPr algn="just"/>
            <a:r>
              <a:rPr lang="en-US" sz="1800" dirty="0"/>
              <a:t>App starts </a:t>
            </a:r>
            <a:r>
              <a:rPr lang="en-US" sz="1800" b="1" dirty="0"/>
              <a:t>by itself, </a:t>
            </a:r>
            <a:r>
              <a:rPr lang="en-US" sz="1800" dirty="0"/>
              <a:t>That’s why it’s called </a:t>
            </a:r>
            <a:r>
              <a:rPr lang="en-US" sz="1800" b="1" dirty="0"/>
              <a:t>stand-alone</a:t>
            </a:r>
            <a:endParaRPr lang="en-US" sz="1800" dirty="0"/>
          </a:p>
          <a:p>
            <a:pPr algn="just"/>
            <a:endParaRPr lang="en-US" sz="1800" dirty="0"/>
          </a:p>
          <a:p>
            <a:pPr algn="just"/>
            <a:endParaRPr lang="en-US" sz="1800" i="1" dirty="0"/>
          </a:p>
          <a:p>
            <a:pPr algn="just"/>
            <a:endParaRPr lang="en-US" sz="1800" dirty="0"/>
          </a:p>
        </p:txBody>
      </p:sp>
    </p:spTree>
    <p:extLst>
      <p:ext uri="{BB962C8B-B14F-4D97-AF65-F5344CB8AC3E}">
        <p14:creationId xmlns:p14="http://schemas.microsoft.com/office/powerpoint/2010/main" val="4026166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C98CD-B95E-A676-BD84-C264CEA004D0}"/>
              </a:ext>
            </a:extLst>
          </p:cNvPr>
          <p:cNvSpPr>
            <a:spLocks noGrp="1"/>
          </p:cNvSpPr>
          <p:nvPr>
            <p:ph type="title"/>
          </p:nvPr>
        </p:nvSpPr>
        <p:spPr/>
        <p:txBody>
          <a:bodyPr>
            <a:normAutofit/>
          </a:bodyPr>
          <a:lstStyle/>
          <a:p>
            <a:r>
              <a:rPr lang="en-US" sz="3600" dirty="0"/>
              <a:t>Goals</a:t>
            </a:r>
            <a:br>
              <a:rPr lang="en-US" sz="3600" dirty="0"/>
            </a:br>
            <a:endParaRPr lang="en-US" sz="3600" dirty="0"/>
          </a:p>
        </p:txBody>
      </p:sp>
      <p:sp>
        <p:nvSpPr>
          <p:cNvPr id="3" name="Content Placeholder 2">
            <a:extLst>
              <a:ext uri="{FF2B5EF4-FFF2-40B4-BE49-F238E27FC236}">
                <a16:creationId xmlns:a16="http://schemas.microsoft.com/office/drawing/2014/main" id="{38F12F0B-2845-31C6-9F5B-01D61C0ADD98}"/>
              </a:ext>
            </a:extLst>
          </p:cNvPr>
          <p:cNvSpPr>
            <a:spLocks noGrp="1"/>
          </p:cNvSpPr>
          <p:nvPr>
            <p:ph idx="1"/>
          </p:nvPr>
        </p:nvSpPr>
        <p:spPr>
          <a:xfrm>
            <a:off x="838200" y="1554480"/>
            <a:ext cx="10515600" cy="4622483"/>
          </a:xfrm>
        </p:spPr>
        <p:txBody>
          <a:bodyPr>
            <a:normAutofit/>
          </a:bodyPr>
          <a:lstStyle/>
          <a:p>
            <a:r>
              <a:rPr lang="en-US" dirty="0"/>
              <a:t>Spring Boot is designed with the following goals −</a:t>
            </a:r>
          </a:p>
          <a:p>
            <a:endParaRPr lang="en-US" dirty="0"/>
          </a:p>
          <a:p>
            <a:pPr marL="457200" indent="-457200" algn="just">
              <a:buFont typeface="+mj-lt"/>
              <a:buAutoNum type="arabicPeriod"/>
            </a:pPr>
            <a:r>
              <a:rPr lang="en-US" sz="2400" b="1" dirty="0"/>
              <a:t>Simpler Configuration</a:t>
            </a:r>
            <a:r>
              <a:rPr lang="en-US" sz="2400" dirty="0"/>
              <a:t>− To avoid complex XML configuration in Spring. With very few annotations, we can achieve the same configurations.</a:t>
            </a:r>
          </a:p>
          <a:p>
            <a:pPr marL="457200" indent="-457200" algn="just">
              <a:buFont typeface="+mj-lt"/>
              <a:buAutoNum type="arabicPeriod"/>
            </a:pPr>
            <a:r>
              <a:rPr lang="en-US" sz="2400" b="1" dirty="0"/>
              <a:t>Ease of Development</a:t>
            </a:r>
            <a:r>
              <a:rPr lang="en-US" sz="2400" dirty="0"/>
              <a:t>− To develop a production ready Spring applications in an easier way.</a:t>
            </a:r>
          </a:p>
          <a:p>
            <a:pPr marL="457200" indent="-457200" algn="just">
              <a:buFont typeface="+mj-lt"/>
              <a:buAutoNum type="arabicPeriod"/>
            </a:pPr>
            <a:r>
              <a:rPr lang="en-US" sz="2400" b="1" dirty="0"/>
              <a:t>Reduce Development Efforts</a:t>
            </a:r>
            <a:r>
              <a:rPr lang="en-US" sz="2400" dirty="0"/>
              <a:t>− To reduce the development time and run the application independently.</a:t>
            </a:r>
          </a:p>
          <a:p>
            <a:pPr marL="457200" indent="-457200" algn="just">
              <a:buFont typeface="+mj-lt"/>
              <a:buAutoNum type="arabicPeriod"/>
            </a:pPr>
            <a:r>
              <a:rPr lang="en-US" sz="2400" b="1" dirty="0"/>
              <a:t>Easy Deployment</a:t>
            </a:r>
            <a:r>
              <a:rPr lang="en-US" sz="2400" dirty="0"/>
              <a:t>− Offer an easier way of getting started with the application by providing an embedded application container to test the application locally.</a:t>
            </a:r>
          </a:p>
          <a:p>
            <a:pPr algn="just"/>
            <a:endParaRPr lang="en-US" sz="2400" dirty="0"/>
          </a:p>
          <a:p>
            <a:pPr marL="457200" lvl="1" indent="0">
              <a:buNone/>
            </a:pPr>
            <a:endParaRPr lang="en-US" dirty="0"/>
          </a:p>
          <a:p>
            <a:pPr marL="971550" lvl="1" indent="-514350">
              <a:buFont typeface="+mj-lt"/>
              <a:buAutoNum type="arabicPeriod"/>
            </a:pPr>
            <a:endParaRPr lang="en-US" dirty="0"/>
          </a:p>
        </p:txBody>
      </p:sp>
    </p:spTree>
    <p:extLst>
      <p:ext uri="{BB962C8B-B14F-4D97-AF65-F5344CB8AC3E}">
        <p14:creationId xmlns:p14="http://schemas.microsoft.com/office/powerpoint/2010/main" val="3770899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CCEA9-3E57-16AD-E1B9-EA85F001F421}"/>
              </a:ext>
            </a:extLst>
          </p:cNvPr>
          <p:cNvSpPr>
            <a:spLocks noGrp="1"/>
          </p:cNvSpPr>
          <p:nvPr>
            <p:ph type="title"/>
          </p:nvPr>
        </p:nvSpPr>
        <p:spPr>
          <a:xfrm>
            <a:off x="838200" y="83127"/>
            <a:ext cx="10515600" cy="1607561"/>
          </a:xfrm>
        </p:spPr>
        <p:txBody>
          <a:bodyPr>
            <a:normAutofit/>
          </a:bodyPr>
          <a:lstStyle/>
          <a:p>
            <a:r>
              <a:rPr lang="en-US" sz="3600" dirty="0"/>
              <a:t>Spring Boot - Architecture</a:t>
            </a:r>
            <a:br>
              <a:rPr lang="en-US" sz="3600" dirty="0"/>
            </a:br>
            <a:endParaRPr lang="en-US" sz="3600" dirty="0"/>
          </a:p>
        </p:txBody>
      </p:sp>
      <p:sp>
        <p:nvSpPr>
          <p:cNvPr id="3" name="Content Placeholder 2">
            <a:extLst>
              <a:ext uri="{FF2B5EF4-FFF2-40B4-BE49-F238E27FC236}">
                <a16:creationId xmlns:a16="http://schemas.microsoft.com/office/drawing/2014/main" id="{9A87D771-3F18-C273-1F27-420601F30FB3}"/>
              </a:ext>
            </a:extLst>
          </p:cNvPr>
          <p:cNvSpPr>
            <a:spLocks noGrp="1"/>
          </p:cNvSpPr>
          <p:nvPr>
            <p:ph idx="1"/>
          </p:nvPr>
        </p:nvSpPr>
        <p:spPr>
          <a:xfrm>
            <a:off x="838200" y="997528"/>
            <a:ext cx="10515600" cy="5634182"/>
          </a:xfrm>
        </p:spPr>
        <p:txBody>
          <a:bodyPr>
            <a:normAutofit/>
          </a:bodyPr>
          <a:lstStyle/>
          <a:p>
            <a:pPr algn="just" fontAlgn="base"/>
            <a:r>
              <a:rPr lang="en-US" sz="2400" dirty="0"/>
              <a:t>Spring Boot is built on top of the Spring Framework and follows a layered architecture. Its primary goal is to simplify application development by providing auto-configuration, embedded servers and a production-ready environment out of the box.</a:t>
            </a:r>
          </a:p>
          <a:p>
            <a:pPr algn="just" fontAlgn="base"/>
            <a:r>
              <a:rPr lang="en-US" sz="2400" dirty="0"/>
              <a:t>The architecture of Spring Boot can be divided into several layers and components, each playing an important role in building and running modern applications.</a:t>
            </a:r>
          </a:p>
          <a:p>
            <a:pPr fontAlgn="base"/>
            <a:r>
              <a:rPr lang="en-US" sz="2400" b="1" dirty="0"/>
              <a:t>Spring Boot Architecture Layers</a:t>
            </a:r>
          </a:p>
          <a:p>
            <a:pPr marL="0" indent="0" fontAlgn="base">
              <a:buNone/>
            </a:pPr>
            <a:r>
              <a:rPr lang="en-US" sz="2400" dirty="0"/>
              <a:t>   Spring Boot consists of the following four layers:</a:t>
            </a:r>
          </a:p>
          <a:p>
            <a:pPr marL="0" indent="0" fontAlgn="base">
              <a:buNone/>
            </a:pPr>
            <a:r>
              <a:rPr lang="en-US" sz="2400" dirty="0"/>
              <a:t>    </a:t>
            </a:r>
          </a:p>
          <a:p>
            <a:pPr marL="0" indent="0" fontAlgn="base">
              <a:buNone/>
            </a:pPr>
            <a:r>
              <a:rPr lang="en-US" sz="2400" dirty="0"/>
              <a:t>     </a:t>
            </a:r>
          </a:p>
          <a:p>
            <a:pPr marL="0" indent="0" fontAlgn="base">
              <a:buNone/>
            </a:pPr>
            <a:endParaRPr lang="en-US" sz="2400" dirty="0"/>
          </a:p>
          <a:p>
            <a:pPr algn="just" fontAlgn="base"/>
            <a:endParaRPr lang="en-US" sz="2400" dirty="0"/>
          </a:p>
        </p:txBody>
      </p:sp>
      <p:pic>
        <p:nvPicPr>
          <p:cNvPr id="2054" name="Picture 6" descr="Lightbox">
            <a:extLst>
              <a:ext uri="{FF2B5EF4-FFF2-40B4-BE49-F238E27FC236}">
                <a16:creationId xmlns:a16="http://schemas.microsoft.com/office/drawing/2014/main" id="{3C5B899D-7C8A-831A-35B8-8BBEFD2F20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825" y="4488873"/>
            <a:ext cx="10467975" cy="2369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617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53EEB9-4CD6-9008-E7CF-81B1F403A206}"/>
              </a:ext>
            </a:extLst>
          </p:cNvPr>
          <p:cNvSpPr>
            <a:spLocks noGrp="1"/>
          </p:cNvSpPr>
          <p:nvPr>
            <p:ph idx="1"/>
          </p:nvPr>
        </p:nvSpPr>
        <p:spPr>
          <a:xfrm>
            <a:off x="674255" y="443345"/>
            <a:ext cx="10679545" cy="5733618"/>
          </a:xfrm>
        </p:spPr>
        <p:txBody>
          <a:bodyPr>
            <a:normAutofit/>
          </a:bodyPr>
          <a:lstStyle/>
          <a:p>
            <a:pPr marL="0" indent="0" algn="just" fontAlgn="base">
              <a:buNone/>
            </a:pPr>
            <a:r>
              <a:rPr lang="en-US" sz="2400" b="1" dirty="0"/>
              <a:t>1. Presentation Layer</a:t>
            </a:r>
          </a:p>
          <a:p>
            <a:pPr algn="just" fontAlgn="base"/>
            <a:r>
              <a:rPr lang="en-US" sz="2400" dirty="0"/>
              <a:t>Handles HTTP requests through REST controllers (GET, POST, PUT, DELETE).</a:t>
            </a:r>
          </a:p>
          <a:p>
            <a:pPr algn="just" fontAlgn="base"/>
            <a:r>
              <a:rPr lang="en-US" sz="2400" dirty="0"/>
              <a:t>Manages authentication, request validation and JSON serialization/deserialization.</a:t>
            </a:r>
          </a:p>
          <a:p>
            <a:pPr algn="just" fontAlgn="base"/>
            <a:r>
              <a:rPr lang="en-US" sz="2400" dirty="0"/>
              <a:t>Forwards processed requests to the Business Layer for further logic.</a:t>
            </a:r>
          </a:p>
          <a:p>
            <a:pPr marL="0" indent="0" algn="just" fontAlgn="base">
              <a:buNone/>
            </a:pPr>
            <a:endParaRPr lang="en-US" sz="2400" dirty="0"/>
          </a:p>
          <a:p>
            <a:pPr marL="0" indent="0" algn="just" fontAlgn="base">
              <a:buNone/>
            </a:pPr>
            <a:r>
              <a:rPr lang="en-US" sz="2400" b="1" dirty="0"/>
              <a:t>2. Business Layer</a:t>
            </a:r>
          </a:p>
          <a:p>
            <a:pPr algn="just" fontAlgn="base"/>
            <a:r>
              <a:rPr lang="en-US" sz="2400" dirty="0"/>
              <a:t>The Business Layer is responsible for implementing the application's core logic. It consists of service classes that:</a:t>
            </a:r>
          </a:p>
          <a:p>
            <a:pPr marL="1371600" lvl="2" indent="-457200" algn="just" fontAlgn="base">
              <a:buFont typeface="+mj-lt"/>
              <a:buAutoNum type="alphaLcParenR"/>
            </a:pPr>
            <a:r>
              <a:rPr lang="en-US" sz="2400" dirty="0"/>
              <a:t>Process and validate data.</a:t>
            </a:r>
          </a:p>
          <a:p>
            <a:pPr marL="1371600" lvl="2" indent="-457200" algn="just" fontAlgn="base">
              <a:buFont typeface="+mj-lt"/>
              <a:buAutoNum type="alphaLcParenR"/>
            </a:pPr>
            <a:r>
              <a:rPr lang="en-US" sz="2400" dirty="0"/>
              <a:t>Handle authentication and authorization (integrating Spring Security if needed).</a:t>
            </a:r>
          </a:p>
          <a:p>
            <a:pPr marL="1371600" lvl="2" indent="-457200" algn="just" fontAlgn="base">
              <a:buFont typeface="+mj-lt"/>
              <a:buAutoNum type="alphaLcParenR"/>
            </a:pPr>
            <a:r>
              <a:rPr lang="en-US" sz="2400" dirty="0"/>
              <a:t>Apply transaction management using @Transactional.</a:t>
            </a:r>
          </a:p>
          <a:p>
            <a:pPr marL="1371600" lvl="2" indent="-457200" algn="just" fontAlgn="base">
              <a:buFont typeface="+mj-lt"/>
              <a:buAutoNum type="alphaLcParenR"/>
            </a:pPr>
            <a:r>
              <a:rPr lang="en-US" sz="2400" dirty="0"/>
              <a:t>Interact with the Persistence Layer to store or retrieve data.</a:t>
            </a:r>
          </a:p>
          <a:p>
            <a:pPr algn="just"/>
            <a:endParaRPr lang="en-US" sz="2400" dirty="0"/>
          </a:p>
        </p:txBody>
      </p:sp>
    </p:spTree>
    <p:extLst>
      <p:ext uri="{BB962C8B-B14F-4D97-AF65-F5344CB8AC3E}">
        <p14:creationId xmlns:p14="http://schemas.microsoft.com/office/powerpoint/2010/main" val="2249709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6A7B46-488A-CB68-91F8-97941163350D}"/>
              </a:ext>
            </a:extLst>
          </p:cNvPr>
          <p:cNvSpPr>
            <a:spLocks noGrp="1"/>
          </p:cNvSpPr>
          <p:nvPr>
            <p:ph idx="1"/>
          </p:nvPr>
        </p:nvSpPr>
        <p:spPr>
          <a:xfrm>
            <a:off x="609600" y="360218"/>
            <a:ext cx="10744200" cy="6326909"/>
          </a:xfrm>
        </p:spPr>
        <p:txBody>
          <a:bodyPr>
            <a:normAutofit/>
          </a:bodyPr>
          <a:lstStyle/>
          <a:p>
            <a:pPr marL="0" indent="0" algn="just" fontAlgn="base">
              <a:buNone/>
            </a:pPr>
            <a:r>
              <a:rPr lang="en-US" sz="2400" b="1" dirty="0"/>
              <a:t>3. Persistence Layer</a:t>
            </a:r>
          </a:p>
          <a:p>
            <a:pPr algn="just" fontAlgn="base"/>
            <a:r>
              <a:rPr lang="en-US" sz="2400" dirty="0"/>
              <a:t>The Persistence Layer manages database transactions and storage logic. It consists of repository classes using Spring Data JPA, Hibernate for data access. It is responsible for:</a:t>
            </a:r>
          </a:p>
          <a:p>
            <a:pPr marL="914400" lvl="1" indent="-457200" algn="just" fontAlgn="base">
              <a:buFont typeface="+mj-lt"/>
              <a:buAutoNum type="alphaLcParenR"/>
            </a:pPr>
            <a:r>
              <a:rPr lang="en-US" dirty="0"/>
              <a:t>Mapping Java objects to database records using ORM frameworks.</a:t>
            </a:r>
          </a:p>
          <a:p>
            <a:pPr marL="914400" lvl="1" indent="-457200" algn="just" fontAlgn="base">
              <a:buFont typeface="+mj-lt"/>
              <a:buAutoNum type="alphaLcParenR"/>
            </a:pPr>
            <a:r>
              <a:rPr lang="en-US" dirty="0"/>
              <a:t>Managing CRUD (Create, Read, Update, Delete) operations.</a:t>
            </a:r>
          </a:p>
          <a:p>
            <a:pPr marL="914400" lvl="1" indent="-457200" algn="just" fontAlgn="base">
              <a:buFont typeface="+mj-lt"/>
              <a:buAutoNum type="alphaLcParenR"/>
            </a:pPr>
            <a:r>
              <a:rPr lang="en-US" dirty="0"/>
              <a:t>Supporting relational and NoSQL databases.</a:t>
            </a:r>
          </a:p>
          <a:p>
            <a:pPr algn="just" fontAlgn="base"/>
            <a:endParaRPr lang="en-US" sz="2400" dirty="0"/>
          </a:p>
          <a:p>
            <a:pPr marL="0" indent="0" algn="just" fontAlgn="base">
              <a:buNone/>
            </a:pPr>
            <a:r>
              <a:rPr lang="en-US" sz="2400" b="1" dirty="0"/>
              <a:t>4. Database Layer</a:t>
            </a:r>
          </a:p>
          <a:p>
            <a:pPr algn="just" fontAlgn="base"/>
            <a:r>
              <a:rPr lang="en-US" sz="2400" dirty="0"/>
              <a:t>The Database Layer contains the actual database where the application data is stored. It can support:</a:t>
            </a:r>
          </a:p>
          <a:p>
            <a:pPr marL="914400" lvl="1" indent="-457200" algn="just" fontAlgn="base">
              <a:buFont typeface="+mj-lt"/>
              <a:buAutoNum type="alphaLcParenR"/>
            </a:pPr>
            <a:r>
              <a:rPr lang="en-US" dirty="0"/>
              <a:t>Relational Databases (MySQL, PostgreSQL, Oracle, SQL Server).</a:t>
            </a:r>
          </a:p>
          <a:p>
            <a:pPr marL="914400" lvl="1" indent="-457200" algn="just" fontAlgn="base">
              <a:buFont typeface="+mj-lt"/>
              <a:buAutoNum type="alphaLcParenR"/>
            </a:pPr>
            <a:r>
              <a:rPr lang="en-US" dirty="0"/>
              <a:t>NoSQL Databases (MongoDB, Cassandra, DynamoDB, Firebase).</a:t>
            </a:r>
          </a:p>
          <a:p>
            <a:pPr marL="914400" lvl="1" indent="-457200" algn="just" fontAlgn="base">
              <a:buFont typeface="+mj-lt"/>
              <a:buAutoNum type="alphaLcParenR"/>
            </a:pPr>
            <a:r>
              <a:rPr lang="en-US" dirty="0"/>
              <a:t>Cloud-based databases for scalability.</a:t>
            </a:r>
          </a:p>
          <a:p>
            <a:pPr algn="just"/>
            <a:endParaRPr lang="en-US" sz="2400" dirty="0"/>
          </a:p>
        </p:txBody>
      </p:sp>
    </p:spTree>
    <p:extLst>
      <p:ext uri="{BB962C8B-B14F-4D97-AF65-F5344CB8AC3E}">
        <p14:creationId xmlns:p14="http://schemas.microsoft.com/office/powerpoint/2010/main" val="4245021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5B65D-25FE-8C12-CE3C-0C1132453102}"/>
              </a:ext>
            </a:extLst>
          </p:cNvPr>
          <p:cNvSpPr>
            <a:spLocks noGrp="1"/>
          </p:cNvSpPr>
          <p:nvPr>
            <p:ph type="title"/>
          </p:nvPr>
        </p:nvSpPr>
        <p:spPr/>
        <p:txBody>
          <a:bodyPr>
            <a:normAutofit/>
          </a:bodyPr>
          <a:lstStyle/>
          <a:p>
            <a:r>
              <a:rPr lang="en-US" sz="3200" dirty="0"/>
              <a:t>Spring Boot Flow Architecture</a:t>
            </a:r>
            <a:br>
              <a:rPr lang="en-US" sz="3200" dirty="0"/>
            </a:br>
            <a:endParaRPr lang="en-US" sz="3200" dirty="0"/>
          </a:p>
        </p:txBody>
      </p:sp>
      <p:pic>
        <p:nvPicPr>
          <p:cNvPr id="1026" name="Picture 2" descr="Spring-boot-flow-architecture-660">
            <a:extLst>
              <a:ext uri="{FF2B5EF4-FFF2-40B4-BE49-F238E27FC236}">
                <a16:creationId xmlns:a16="http://schemas.microsoft.com/office/drawing/2014/main" id="{1394052F-7397-19DA-9131-4F7FEB25501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1733" y="1545372"/>
            <a:ext cx="10987366" cy="4361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005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DF352-433B-A73D-261A-25E1F0568D11}"/>
              </a:ext>
            </a:extLst>
          </p:cNvPr>
          <p:cNvSpPr>
            <a:spLocks noGrp="1"/>
          </p:cNvSpPr>
          <p:nvPr>
            <p:ph type="title"/>
          </p:nvPr>
        </p:nvSpPr>
        <p:spPr/>
        <p:txBody>
          <a:bodyPr>
            <a:normAutofit/>
          </a:bodyPr>
          <a:lstStyle/>
          <a:p>
            <a:r>
              <a:rPr lang="en-US" sz="3200" dirty="0"/>
              <a:t>Explanation:</a:t>
            </a:r>
            <a:br>
              <a:rPr lang="en-US" sz="3200" dirty="0"/>
            </a:br>
            <a:endParaRPr lang="en-US" sz="3200" dirty="0"/>
          </a:p>
        </p:txBody>
      </p:sp>
      <p:sp>
        <p:nvSpPr>
          <p:cNvPr id="3" name="Content Placeholder 2">
            <a:extLst>
              <a:ext uri="{FF2B5EF4-FFF2-40B4-BE49-F238E27FC236}">
                <a16:creationId xmlns:a16="http://schemas.microsoft.com/office/drawing/2014/main" id="{BF5FD72E-7D1D-F8A6-5184-D873FA972DD4}"/>
              </a:ext>
            </a:extLst>
          </p:cNvPr>
          <p:cNvSpPr>
            <a:spLocks noGrp="1"/>
          </p:cNvSpPr>
          <p:nvPr>
            <p:ph idx="1"/>
          </p:nvPr>
        </p:nvSpPr>
        <p:spPr>
          <a:xfrm>
            <a:off x="838200" y="1216152"/>
            <a:ext cx="10515600" cy="4960811"/>
          </a:xfrm>
        </p:spPr>
        <p:txBody>
          <a:bodyPr>
            <a:normAutofit/>
          </a:bodyPr>
          <a:lstStyle/>
          <a:p>
            <a:pPr algn="just" fontAlgn="base"/>
            <a:r>
              <a:rPr lang="en-US" sz="2400" dirty="0"/>
              <a:t>The client (frontend or API consumer) sends an HTTP request (GET, POST, PUT, DELETE) to the application.</a:t>
            </a:r>
          </a:p>
          <a:p>
            <a:pPr algn="just" fontAlgn="base"/>
            <a:r>
              <a:rPr lang="en-US" sz="2400" dirty="0"/>
              <a:t>The request is handled by the Controller Layer, which maps the request to a specific handler method.</a:t>
            </a:r>
          </a:p>
          <a:p>
            <a:pPr algn="just" fontAlgn="base"/>
            <a:r>
              <a:rPr lang="en-US" sz="2400" dirty="0"/>
              <a:t>The Service Layer processes business logic and communicates with the Persistence Layer to fetch or modify data.</a:t>
            </a:r>
          </a:p>
          <a:p>
            <a:pPr algn="just" fontAlgn="base"/>
            <a:r>
              <a:rPr lang="en-US" sz="2400" dirty="0"/>
              <a:t>The Persistence Layer interacts with the Database Layer using Spring Data JPA or R2DBC, often through a </a:t>
            </a:r>
            <a:r>
              <a:rPr lang="en-US" sz="2400" b="1" dirty="0"/>
              <a:t>Repository Class</a:t>
            </a:r>
            <a:r>
              <a:rPr lang="en-US" sz="2400" dirty="0"/>
              <a:t> that extends CRUD services.</a:t>
            </a:r>
          </a:p>
          <a:p>
            <a:pPr algn="just" fontAlgn="base"/>
            <a:r>
              <a:rPr lang="en-US" sz="2400" dirty="0"/>
              <a:t>The processed response is returned as JSON.</a:t>
            </a:r>
          </a:p>
          <a:p>
            <a:pPr algn="just"/>
            <a:endParaRPr lang="en-US" sz="2400" dirty="0"/>
          </a:p>
        </p:txBody>
      </p:sp>
    </p:spTree>
    <p:extLst>
      <p:ext uri="{BB962C8B-B14F-4D97-AF65-F5344CB8AC3E}">
        <p14:creationId xmlns:p14="http://schemas.microsoft.com/office/powerpoint/2010/main" val="2647081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FB287-3FF4-0ECC-A559-5EAF1A3EC0F6}"/>
              </a:ext>
            </a:extLst>
          </p:cNvPr>
          <p:cNvSpPr>
            <a:spLocks noGrp="1"/>
          </p:cNvSpPr>
          <p:nvPr>
            <p:ph type="title"/>
          </p:nvPr>
        </p:nvSpPr>
        <p:spPr/>
        <p:txBody>
          <a:bodyPr>
            <a:normAutofit/>
          </a:bodyPr>
          <a:lstStyle/>
          <a:p>
            <a:r>
              <a:rPr lang="en-US" sz="3600" dirty="0"/>
              <a:t>Why to Learn Spring Boot?</a:t>
            </a:r>
            <a:br>
              <a:rPr lang="en-US" sz="3600" dirty="0"/>
            </a:br>
            <a:endParaRPr lang="en-US" sz="3600" dirty="0"/>
          </a:p>
        </p:txBody>
      </p:sp>
      <p:sp>
        <p:nvSpPr>
          <p:cNvPr id="3" name="Content Placeholder 2">
            <a:extLst>
              <a:ext uri="{FF2B5EF4-FFF2-40B4-BE49-F238E27FC236}">
                <a16:creationId xmlns:a16="http://schemas.microsoft.com/office/drawing/2014/main" id="{7F34B6D9-9739-ABB4-FDEA-5CA0661C2852}"/>
              </a:ext>
            </a:extLst>
          </p:cNvPr>
          <p:cNvSpPr>
            <a:spLocks noGrp="1"/>
          </p:cNvSpPr>
          <p:nvPr>
            <p:ph idx="1"/>
          </p:nvPr>
        </p:nvSpPr>
        <p:spPr>
          <a:xfrm>
            <a:off x="838200" y="1339702"/>
            <a:ext cx="10515600" cy="4837261"/>
          </a:xfrm>
        </p:spPr>
        <p:txBody>
          <a:bodyPr>
            <a:normAutofit/>
          </a:bodyPr>
          <a:lstStyle/>
          <a:p>
            <a:pPr algn="just"/>
            <a:r>
              <a:rPr lang="en-US" sz="2400" b="1" dirty="0"/>
              <a:t>Flexibility</a:t>
            </a:r>
            <a:r>
              <a:rPr lang="en-US" sz="2400" dirty="0"/>
              <a:t>− Spring Boot provides multiple flexible ways to configure Java Beans, XML configurations, and Database Transactions.</a:t>
            </a:r>
          </a:p>
          <a:p>
            <a:pPr algn="just"/>
            <a:r>
              <a:rPr lang="en-US" sz="2400" b="1" dirty="0"/>
              <a:t>Powerful Batch Processing</a:t>
            </a:r>
            <a:r>
              <a:rPr lang="en-US" sz="2400" dirty="0"/>
              <a:t>− Spring Boot provides powerful batch processing by integrating Spring Batch to efficiently process large volumes of data in scheduled or background jobs.</a:t>
            </a:r>
          </a:p>
          <a:p>
            <a:pPr algn="just"/>
            <a:r>
              <a:rPr lang="en-US" sz="2400" b="1" dirty="0"/>
              <a:t>Microservices Support</a:t>
            </a:r>
            <a:r>
              <a:rPr lang="en-US" sz="2400" dirty="0"/>
              <a:t>− Micro Service is an architecture that allows the developers to develop and deploy services independently. Each service running has its own process and this achieves the lightweight model to support business applications. Spring Boot provides mechanism to develop and test microservices easily.</a:t>
            </a:r>
          </a:p>
          <a:p>
            <a:pPr algn="just"/>
            <a:r>
              <a:rPr lang="en-US" sz="2400" b="1" dirty="0"/>
              <a:t>Auto Configuration</a:t>
            </a:r>
            <a:r>
              <a:rPr lang="en-US" sz="2400" dirty="0"/>
              <a:t>− In Spring Boot, everything is auto configured; no manual configurations are needed.</a:t>
            </a:r>
          </a:p>
          <a:p>
            <a:pPr algn="just"/>
            <a:endParaRPr lang="en-US" sz="2400" dirty="0"/>
          </a:p>
        </p:txBody>
      </p:sp>
    </p:spTree>
    <p:extLst>
      <p:ext uri="{BB962C8B-B14F-4D97-AF65-F5344CB8AC3E}">
        <p14:creationId xmlns:p14="http://schemas.microsoft.com/office/powerpoint/2010/main" val="3710470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63D4C9-A12A-2E79-505D-12F7544B28C2}"/>
              </a:ext>
            </a:extLst>
          </p:cNvPr>
          <p:cNvSpPr>
            <a:spLocks noGrp="1"/>
          </p:cNvSpPr>
          <p:nvPr>
            <p:ph idx="1"/>
          </p:nvPr>
        </p:nvSpPr>
        <p:spPr>
          <a:xfrm>
            <a:off x="723014" y="754912"/>
            <a:ext cx="10630786" cy="5422051"/>
          </a:xfrm>
        </p:spPr>
        <p:txBody>
          <a:bodyPr>
            <a:normAutofit/>
          </a:bodyPr>
          <a:lstStyle/>
          <a:p>
            <a:pPr algn="just"/>
            <a:r>
              <a:rPr lang="en-US" sz="2400" b="1" dirty="0"/>
              <a:t>Annotation Based</a:t>
            </a:r>
            <a:r>
              <a:rPr lang="en-US" sz="2400" dirty="0"/>
              <a:t>− In Spring Boot, we can create a running application with very few annotations.</a:t>
            </a:r>
          </a:p>
          <a:p>
            <a:pPr algn="just"/>
            <a:r>
              <a:rPr lang="en-US" sz="2400" b="1" dirty="0"/>
              <a:t>Eases dependency management</a:t>
            </a:r>
            <a:r>
              <a:rPr lang="en-US" sz="2400" dirty="0"/>
              <a:t>− Spring Boot provides many starters as per need like for web, for database </a:t>
            </a:r>
            <a:r>
              <a:rPr lang="en-US" sz="2400" dirty="0" err="1"/>
              <a:t>etc</a:t>
            </a:r>
            <a:r>
              <a:rPr lang="en-US" sz="2400" dirty="0"/>
              <a:t> to handle dependencies effectively. A starter project provides dependency management for corresponding functionalities.</a:t>
            </a:r>
          </a:p>
          <a:p>
            <a:pPr algn="just"/>
            <a:r>
              <a:rPr lang="en-US" sz="2400" b="1" dirty="0"/>
              <a:t>Embedded Servlet Container</a:t>
            </a:r>
            <a:r>
              <a:rPr lang="en-US" sz="2400" dirty="0"/>
              <a:t>− Spring Boot provides an embedded servlet container(jetty) which can be changed as well. This container is very useful while testing the application. We can test all functionalities without deploying the spring boot application on any external application container.</a:t>
            </a:r>
          </a:p>
          <a:p>
            <a:pPr algn="just"/>
            <a:endParaRPr lang="en-US" sz="2400" dirty="0"/>
          </a:p>
        </p:txBody>
      </p:sp>
    </p:spTree>
    <p:extLst>
      <p:ext uri="{BB962C8B-B14F-4D97-AF65-F5344CB8AC3E}">
        <p14:creationId xmlns:p14="http://schemas.microsoft.com/office/powerpoint/2010/main" val="1731493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5378E-9A6E-BDC1-4028-D4CC8EE30C45}"/>
              </a:ext>
            </a:extLst>
          </p:cNvPr>
          <p:cNvSpPr>
            <a:spLocks noGrp="1"/>
          </p:cNvSpPr>
          <p:nvPr>
            <p:ph type="title"/>
          </p:nvPr>
        </p:nvSpPr>
        <p:spPr>
          <a:xfrm>
            <a:off x="838200" y="-318977"/>
            <a:ext cx="10515600" cy="2009665"/>
          </a:xfrm>
        </p:spPr>
        <p:txBody>
          <a:bodyPr>
            <a:normAutofit/>
          </a:bodyPr>
          <a:lstStyle/>
          <a:p>
            <a:r>
              <a:rPr lang="en-US" sz="3600" dirty="0"/>
              <a:t>Why Spring Boot? (Need of Spring Boot)</a:t>
            </a:r>
          </a:p>
        </p:txBody>
      </p:sp>
      <p:sp>
        <p:nvSpPr>
          <p:cNvPr id="3" name="Content Placeholder 2">
            <a:extLst>
              <a:ext uri="{FF2B5EF4-FFF2-40B4-BE49-F238E27FC236}">
                <a16:creationId xmlns:a16="http://schemas.microsoft.com/office/drawing/2014/main" id="{C1BF0F46-F4D2-CE1F-AF3B-E7B7DC2E6528}"/>
              </a:ext>
            </a:extLst>
          </p:cNvPr>
          <p:cNvSpPr>
            <a:spLocks noGrp="1"/>
          </p:cNvSpPr>
          <p:nvPr>
            <p:ph idx="1"/>
          </p:nvPr>
        </p:nvSpPr>
        <p:spPr>
          <a:xfrm>
            <a:off x="838200" y="1041991"/>
            <a:ext cx="10515600" cy="5134972"/>
          </a:xfrm>
        </p:spPr>
        <p:txBody>
          <a:bodyPr>
            <a:noAutofit/>
          </a:bodyPr>
          <a:lstStyle/>
          <a:p>
            <a:r>
              <a:rPr lang="en-US" sz="2400" b="1" dirty="0"/>
              <a:t>Problems in Traditional Spring Applications</a:t>
            </a:r>
          </a:p>
          <a:p>
            <a:pPr lvl="1"/>
            <a:r>
              <a:rPr lang="en-US" sz="2000" dirty="0"/>
              <a:t>Large XML configuration</a:t>
            </a:r>
          </a:p>
          <a:p>
            <a:pPr lvl="1"/>
            <a:r>
              <a:rPr lang="en-US" sz="2000" dirty="0"/>
              <a:t>Manual dependency management</a:t>
            </a:r>
          </a:p>
          <a:p>
            <a:pPr lvl="1"/>
            <a:r>
              <a:rPr lang="en-US" sz="2000" dirty="0"/>
              <a:t>External server configuration</a:t>
            </a:r>
          </a:p>
          <a:p>
            <a:pPr lvl="1"/>
            <a:r>
              <a:rPr lang="en-US" sz="2000" dirty="0"/>
              <a:t>Longer development time</a:t>
            </a:r>
          </a:p>
          <a:p>
            <a:pPr lvl="1"/>
            <a:r>
              <a:rPr lang="en-US" sz="2000" dirty="0"/>
              <a:t>Difficult initial setup for beginners</a:t>
            </a:r>
          </a:p>
          <a:p>
            <a:r>
              <a:rPr lang="en-US" sz="2400" b="1" dirty="0"/>
              <a:t>Why Spring Boot Was Introduced</a:t>
            </a:r>
          </a:p>
          <a:p>
            <a:pPr lvl="1"/>
            <a:r>
              <a:rPr lang="en-US" sz="2000" dirty="0"/>
              <a:t>Spring Boot was introduced to:</a:t>
            </a:r>
          </a:p>
          <a:p>
            <a:pPr lvl="1"/>
            <a:r>
              <a:rPr lang="en-US" sz="2000" dirty="0"/>
              <a:t>Reduce </a:t>
            </a:r>
            <a:r>
              <a:rPr lang="en-US" sz="2000" b="1" dirty="0"/>
              <a:t>boilerplate code</a:t>
            </a:r>
            <a:endParaRPr lang="en-US" sz="2000" dirty="0"/>
          </a:p>
          <a:p>
            <a:pPr lvl="1"/>
            <a:r>
              <a:rPr lang="en-US" sz="2000" dirty="0"/>
              <a:t>Eliminate </a:t>
            </a:r>
            <a:r>
              <a:rPr lang="en-US" sz="2000" b="1" dirty="0"/>
              <a:t>XML-based configuration</a:t>
            </a:r>
            <a:endParaRPr lang="en-US" sz="2000" dirty="0"/>
          </a:p>
          <a:p>
            <a:pPr lvl="1"/>
            <a:r>
              <a:rPr lang="en-US" sz="2000" dirty="0"/>
              <a:t>Provide </a:t>
            </a:r>
            <a:r>
              <a:rPr lang="en-US" sz="2000" b="1" dirty="0"/>
              <a:t>faster application startup</a:t>
            </a:r>
            <a:endParaRPr lang="en-US" sz="2000" dirty="0"/>
          </a:p>
          <a:p>
            <a:pPr lvl="1"/>
            <a:r>
              <a:rPr lang="en-US" sz="2000" dirty="0"/>
              <a:t>Simplify </a:t>
            </a:r>
            <a:r>
              <a:rPr lang="en-US" sz="2000" b="1" dirty="0"/>
              <a:t>deployment and maintenance</a:t>
            </a:r>
            <a:endParaRPr lang="en-US" sz="2000" dirty="0"/>
          </a:p>
          <a:p>
            <a:pPr marL="0" indent="0">
              <a:buNone/>
            </a:pPr>
            <a:r>
              <a:rPr lang="en-US" sz="2400" b="1" dirty="0"/>
              <a:t>One-line reason:</a:t>
            </a:r>
            <a:endParaRPr lang="en-US" sz="2400" dirty="0"/>
          </a:p>
          <a:p>
            <a:r>
              <a:rPr lang="en-US" sz="2400" i="1" dirty="0"/>
              <a:t>Spring Boot increases developer productivity.</a:t>
            </a:r>
            <a:endParaRPr lang="en-US" sz="2400" dirty="0"/>
          </a:p>
          <a:p>
            <a:endParaRPr lang="en-US" sz="2400" dirty="0"/>
          </a:p>
        </p:txBody>
      </p:sp>
    </p:spTree>
    <p:extLst>
      <p:ext uri="{BB962C8B-B14F-4D97-AF65-F5344CB8AC3E}">
        <p14:creationId xmlns:p14="http://schemas.microsoft.com/office/powerpoint/2010/main" val="240455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A2903-FFE0-3641-C958-C21DF741F091}"/>
              </a:ext>
            </a:extLst>
          </p:cNvPr>
          <p:cNvSpPr>
            <a:spLocks noGrp="1"/>
          </p:cNvSpPr>
          <p:nvPr>
            <p:ph type="title"/>
          </p:nvPr>
        </p:nvSpPr>
        <p:spPr/>
        <p:txBody>
          <a:bodyPr>
            <a:normAutofit/>
          </a:bodyPr>
          <a:lstStyle/>
          <a:p>
            <a:r>
              <a:rPr lang="en-US" sz="3600" dirty="0"/>
              <a:t>Applications of Spring Boot</a:t>
            </a:r>
            <a:br>
              <a:rPr lang="en-US" sz="3600" dirty="0"/>
            </a:br>
            <a:endParaRPr lang="en-US" sz="3600" dirty="0"/>
          </a:p>
        </p:txBody>
      </p:sp>
      <p:sp>
        <p:nvSpPr>
          <p:cNvPr id="3" name="Content Placeholder 2">
            <a:extLst>
              <a:ext uri="{FF2B5EF4-FFF2-40B4-BE49-F238E27FC236}">
                <a16:creationId xmlns:a16="http://schemas.microsoft.com/office/drawing/2014/main" id="{DA48C9B9-3557-31BD-BDF0-90B4080A89AC}"/>
              </a:ext>
            </a:extLst>
          </p:cNvPr>
          <p:cNvSpPr>
            <a:spLocks noGrp="1"/>
          </p:cNvSpPr>
          <p:nvPr>
            <p:ph idx="1"/>
          </p:nvPr>
        </p:nvSpPr>
        <p:spPr>
          <a:xfrm>
            <a:off x="838200" y="1201479"/>
            <a:ext cx="10515600" cy="4975484"/>
          </a:xfrm>
        </p:spPr>
        <p:txBody>
          <a:bodyPr>
            <a:normAutofit/>
          </a:bodyPr>
          <a:lstStyle/>
          <a:p>
            <a:pPr algn="just"/>
            <a:r>
              <a:rPr lang="en-US" sz="2400" b="1" dirty="0"/>
              <a:t>POJO Based</a:t>
            </a:r>
            <a:r>
              <a:rPr lang="en-US" sz="2400" dirty="0"/>
              <a:t> − Spring Boot enables developers to develop enterprise−class applications using POJOs. The benefit of using only POJOs is that you do not need an EJB container product such as an application server but you have the option of using only a robust servlet container such as Tomcat or some commercial product.</a:t>
            </a:r>
          </a:p>
          <a:p>
            <a:pPr algn="just"/>
            <a:r>
              <a:rPr lang="en-US" sz="2400" b="1" dirty="0"/>
              <a:t>Modular</a:t>
            </a:r>
            <a:r>
              <a:rPr lang="en-US" sz="2400" dirty="0"/>
              <a:t> − Spring Boot is modular by nature. Even though the number of packages and classes are substantial(in large number), you have to worry only about the ones you need and ignore the rest.</a:t>
            </a:r>
          </a:p>
          <a:p>
            <a:pPr algn="just"/>
            <a:r>
              <a:rPr lang="en-US" sz="2400" b="1" dirty="0"/>
              <a:t>Integration with existing frameworks</a:t>
            </a:r>
            <a:r>
              <a:rPr lang="en-US" sz="2400" dirty="0"/>
              <a:t> − Spring Boot does not create new tools for everything. Instead, it smartly uses already popular and proven frameworks and makes them easy to integrate.</a:t>
            </a:r>
          </a:p>
        </p:txBody>
      </p:sp>
    </p:spTree>
    <p:extLst>
      <p:ext uri="{BB962C8B-B14F-4D97-AF65-F5344CB8AC3E}">
        <p14:creationId xmlns:p14="http://schemas.microsoft.com/office/powerpoint/2010/main" val="524489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BEC5D8-E0A4-57AC-A5F2-0C576C1E1396}"/>
              </a:ext>
            </a:extLst>
          </p:cNvPr>
          <p:cNvSpPr>
            <a:spLocks noGrp="1"/>
          </p:cNvSpPr>
          <p:nvPr>
            <p:ph idx="1"/>
          </p:nvPr>
        </p:nvSpPr>
        <p:spPr>
          <a:xfrm>
            <a:off x="574158" y="329610"/>
            <a:ext cx="11153554" cy="6443330"/>
          </a:xfrm>
        </p:spPr>
        <p:txBody>
          <a:bodyPr>
            <a:normAutofit/>
          </a:bodyPr>
          <a:lstStyle/>
          <a:p>
            <a:pPr algn="just"/>
            <a:r>
              <a:rPr lang="en-US" sz="2400" b="1" dirty="0" err="1"/>
              <a:t>Testablity</a:t>
            </a:r>
            <a:r>
              <a:rPr lang="en-US" sz="2400" dirty="0"/>
              <a:t> − Testing an application written with Spring Boot is very easy because environment−dependent code is moved into this framework. Furthermore, by using Java Bean style POJOs, it becomes easier to use dependency injection for injecting test data.</a:t>
            </a:r>
          </a:p>
          <a:p>
            <a:pPr algn="just"/>
            <a:r>
              <a:rPr lang="en-US" sz="2400" b="1" dirty="0"/>
              <a:t>Web MVC</a:t>
            </a:r>
            <a:r>
              <a:rPr lang="en-US" sz="2400" dirty="0"/>
              <a:t> − Spring Boot's web framework is a well−designed web MVC framework, which provides a great alternative to web frameworks such as Struts or other over−engineered or less popular web frameworks.</a:t>
            </a:r>
          </a:p>
          <a:p>
            <a:pPr algn="just"/>
            <a:r>
              <a:rPr lang="en-US" sz="2400" b="1" dirty="0"/>
              <a:t>Central Exception Handling</a:t>
            </a:r>
            <a:r>
              <a:rPr lang="en-US" sz="2400" dirty="0"/>
              <a:t> − Spring Boot provides a convenient API to translate technology−specific exceptions (thrown by JDBC, Hibernate, or JDO, for example) into consistent, unchecked exceptions.</a:t>
            </a:r>
          </a:p>
          <a:p>
            <a:pPr algn="just"/>
            <a:r>
              <a:rPr lang="en-US" sz="2400" b="1" dirty="0"/>
              <a:t>Lightweight</a:t>
            </a:r>
            <a:r>
              <a:rPr lang="en-US" sz="2400" dirty="0"/>
              <a:t> − Lightweight IoC containers tend to be lightweight, especially when compared to EJB containers, for example. This is beneficial for developing and deploying applications on computers with limited memory and CPU resources.</a:t>
            </a:r>
          </a:p>
          <a:p>
            <a:pPr algn="just"/>
            <a:r>
              <a:rPr lang="en-US" sz="2400" b="1" dirty="0"/>
              <a:t>Transaction management</a:t>
            </a:r>
            <a:r>
              <a:rPr lang="en-US" sz="2400" dirty="0"/>
              <a:t> − Spring Boot provides a consistent transaction management interface that can scale down to a local transaction (using a single database, for example) and scale up to global transactions (using JTA, for example).</a:t>
            </a:r>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22221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2586F-3A77-733F-ACDE-9110D5617A58}"/>
              </a:ext>
            </a:extLst>
          </p:cNvPr>
          <p:cNvSpPr>
            <a:spLocks noGrp="1"/>
          </p:cNvSpPr>
          <p:nvPr>
            <p:ph type="title"/>
          </p:nvPr>
        </p:nvSpPr>
        <p:spPr>
          <a:xfrm>
            <a:off x="838200" y="-329609"/>
            <a:ext cx="10515600" cy="2020297"/>
          </a:xfrm>
        </p:spPr>
        <p:txBody>
          <a:bodyPr>
            <a:normAutofit/>
          </a:bodyPr>
          <a:lstStyle/>
          <a:p>
            <a:r>
              <a:rPr lang="en-US" sz="3600" dirty="0"/>
              <a:t>Position of Spring Boot in Technology Stack</a:t>
            </a:r>
          </a:p>
        </p:txBody>
      </p:sp>
      <p:sp>
        <p:nvSpPr>
          <p:cNvPr id="3" name="Content Placeholder 2">
            <a:extLst>
              <a:ext uri="{FF2B5EF4-FFF2-40B4-BE49-F238E27FC236}">
                <a16:creationId xmlns:a16="http://schemas.microsoft.com/office/drawing/2014/main" id="{6D0BA6BF-A33E-71BD-CE85-FA252ED38E13}"/>
              </a:ext>
            </a:extLst>
          </p:cNvPr>
          <p:cNvSpPr>
            <a:spLocks noGrp="1"/>
          </p:cNvSpPr>
          <p:nvPr>
            <p:ph idx="1"/>
          </p:nvPr>
        </p:nvSpPr>
        <p:spPr>
          <a:xfrm>
            <a:off x="838200" y="978195"/>
            <a:ext cx="10515600" cy="5198768"/>
          </a:xfrm>
        </p:spPr>
        <p:txBody>
          <a:bodyPr>
            <a:noAutofit/>
          </a:bodyPr>
          <a:lstStyle/>
          <a:p>
            <a:pPr marL="0" indent="0">
              <a:lnSpc>
                <a:spcPct val="100000"/>
              </a:lnSpc>
              <a:spcBef>
                <a:spcPts val="0"/>
              </a:spcBef>
              <a:buNone/>
            </a:pPr>
            <a:r>
              <a:rPr lang="en-US" sz="2400" dirty="0"/>
              <a:t>Frontend (React / Angular / HTML)</a:t>
            </a:r>
          </a:p>
          <a:p>
            <a:pPr marL="0" indent="0">
              <a:lnSpc>
                <a:spcPct val="100000"/>
              </a:lnSpc>
              <a:spcBef>
                <a:spcPts val="0"/>
              </a:spcBef>
              <a:buNone/>
            </a:pPr>
            <a:r>
              <a:rPr lang="en-US" sz="2400" dirty="0"/>
              <a:t>        ↓</a:t>
            </a:r>
          </a:p>
          <a:p>
            <a:pPr marL="0" indent="0">
              <a:lnSpc>
                <a:spcPct val="100000"/>
              </a:lnSpc>
              <a:spcBef>
                <a:spcPts val="0"/>
              </a:spcBef>
              <a:buNone/>
            </a:pPr>
            <a:r>
              <a:rPr lang="en-US" sz="2400" dirty="0"/>
              <a:t>Spring Boot (Controllers, Services, APIs)</a:t>
            </a:r>
          </a:p>
          <a:p>
            <a:pPr marL="0" indent="0">
              <a:lnSpc>
                <a:spcPct val="100000"/>
              </a:lnSpc>
              <a:spcBef>
                <a:spcPts val="0"/>
              </a:spcBef>
              <a:buNone/>
            </a:pPr>
            <a:r>
              <a:rPr lang="en-US" sz="2400" dirty="0"/>
              <a:t>        ↓</a:t>
            </a:r>
          </a:p>
          <a:p>
            <a:pPr marL="0" indent="0">
              <a:lnSpc>
                <a:spcPct val="100000"/>
              </a:lnSpc>
              <a:spcBef>
                <a:spcPts val="0"/>
              </a:spcBef>
              <a:buNone/>
            </a:pPr>
            <a:r>
              <a:rPr lang="en-US" sz="2400" dirty="0"/>
              <a:t>Spring Framework (Core, MVC, Security, JPA)</a:t>
            </a:r>
          </a:p>
          <a:p>
            <a:pPr marL="0" indent="0">
              <a:lnSpc>
                <a:spcPct val="100000"/>
              </a:lnSpc>
              <a:spcBef>
                <a:spcPts val="0"/>
              </a:spcBef>
              <a:buNone/>
            </a:pPr>
            <a:r>
              <a:rPr lang="en-US" sz="2400" dirty="0"/>
              <a:t>        ↓</a:t>
            </a:r>
          </a:p>
          <a:p>
            <a:pPr marL="0" indent="0">
              <a:lnSpc>
                <a:spcPct val="100000"/>
              </a:lnSpc>
              <a:spcBef>
                <a:spcPts val="0"/>
              </a:spcBef>
              <a:buNone/>
            </a:pPr>
            <a:r>
              <a:rPr lang="en-US" sz="2400" dirty="0"/>
              <a:t>Hibernate / JPA</a:t>
            </a:r>
          </a:p>
          <a:p>
            <a:pPr marL="0" indent="0">
              <a:lnSpc>
                <a:spcPct val="100000"/>
              </a:lnSpc>
              <a:spcBef>
                <a:spcPts val="0"/>
              </a:spcBef>
              <a:buNone/>
            </a:pPr>
            <a:r>
              <a:rPr lang="en-US" sz="2400" dirty="0"/>
              <a:t>        ↓</a:t>
            </a:r>
          </a:p>
          <a:p>
            <a:pPr marL="0" indent="0">
              <a:lnSpc>
                <a:spcPct val="100000"/>
              </a:lnSpc>
              <a:spcBef>
                <a:spcPts val="0"/>
              </a:spcBef>
              <a:buNone/>
            </a:pPr>
            <a:r>
              <a:rPr lang="en-US" sz="2400" dirty="0"/>
              <a:t>Database (MySQL, PostgreSQL, MongoDB)</a:t>
            </a:r>
          </a:p>
          <a:p>
            <a:pPr marL="0" indent="0">
              <a:lnSpc>
                <a:spcPct val="100000"/>
              </a:lnSpc>
              <a:spcBef>
                <a:spcPts val="0"/>
              </a:spcBef>
              <a:buNone/>
            </a:pPr>
            <a:r>
              <a:rPr lang="en-US" sz="2400" dirty="0"/>
              <a:t>        ↓</a:t>
            </a:r>
          </a:p>
          <a:p>
            <a:pPr marL="0" indent="0">
              <a:lnSpc>
                <a:spcPct val="100000"/>
              </a:lnSpc>
              <a:spcBef>
                <a:spcPts val="0"/>
              </a:spcBef>
              <a:buNone/>
            </a:pPr>
            <a:r>
              <a:rPr lang="en-US" sz="2400" dirty="0"/>
              <a:t>Server / Cloud (Tomcat, AWS, Azure)</a:t>
            </a:r>
          </a:p>
          <a:p>
            <a:pPr marL="0" indent="0">
              <a:lnSpc>
                <a:spcPct val="100000"/>
              </a:lnSpc>
              <a:spcBef>
                <a:spcPts val="0"/>
              </a:spcBef>
              <a:buNone/>
            </a:pPr>
            <a:endParaRPr lang="en-US" sz="2400" dirty="0"/>
          </a:p>
          <a:p>
            <a:pPr marL="0" indent="0">
              <a:buNone/>
            </a:pPr>
            <a:r>
              <a:rPr lang="en-US" sz="2400" b="1" dirty="0"/>
              <a:t>Important Point:</a:t>
            </a:r>
            <a:endParaRPr lang="en-US" sz="2400" dirty="0"/>
          </a:p>
          <a:p>
            <a:pPr marL="0" indent="0">
              <a:buNone/>
            </a:pPr>
            <a:r>
              <a:rPr lang="en-US" sz="2400" dirty="0"/>
              <a:t>Spring Boot does NOT replace Spring — it uses Spring internally.</a:t>
            </a:r>
          </a:p>
          <a:p>
            <a:pPr marL="0" indent="0">
              <a:buNone/>
            </a:pPr>
            <a:endParaRPr lang="en-US" sz="2400" dirty="0"/>
          </a:p>
        </p:txBody>
      </p:sp>
    </p:spTree>
    <p:extLst>
      <p:ext uri="{BB962C8B-B14F-4D97-AF65-F5344CB8AC3E}">
        <p14:creationId xmlns:p14="http://schemas.microsoft.com/office/powerpoint/2010/main" val="74576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6FF32-B45D-4498-938E-60132CEDDC2C}"/>
              </a:ext>
            </a:extLst>
          </p:cNvPr>
          <p:cNvSpPr>
            <a:spLocks noGrp="1"/>
          </p:cNvSpPr>
          <p:nvPr>
            <p:ph type="title"/>
          </p:nvPr>
        </p:nvSpPr>
        <p:spPr>
          <a:xfrm>
            <a:off x="838200" y="-244549"/>
            <a:ext cx="10515600" cy="1935237"/>
          </a:xfrm>
        </p:spPr>
        <p:txBody>
          <a:bodyPr>
            <a:normAutofit/>
          </a:bodyPr>
          <a:lstStyle/>
          <a:p>
            <a:r>
              <a:rPr lang="en-US" sz="3600" dirty="0"/>
              <a:t>Where Can We Use Spring Boot?</a:t>
            </a:r>
          </a:p>
        </p:txBody>
      </p:sp>
      <p:sp>
        <p:nvSpPr>
          <p:cNvPr id="3" name="Content Placeholder 2">
            <a:extLst>
              <a:ext uri="{FF2B5EF4-FFF2-40B4-BE49-F238E27FC236}">
                <a16:creationId xmlns:a16="http://schemas.microsoft.com/office/drawing/2014/main" id="{040315F1-A968-A713-8DE2-DBB7A489F00B}"/>
              </a:ext>
            </a:extLst>
          </p:cNvPr>
          <p:cNvSpPr>
            <a:spLocks noGrp="1"/>
          </p:cNvSpPr>
          <p:nvPr>
            <p:ph idx="1"/>
          </p:nvPr>
        </p:nvSpPr>
        <p:spPr>
          <a:xfrm>
            <a:off x="838200" y="1297172"/>
            <a:ext cx="10515600" cy="4879791"/>
          </a:xfrm>
        </p:spPr>
        <p:txBody>
          <a:bodyPr>
            <a:noAutofit/>
          </a:bodyPr>
          <a:lstStyle/>
          <a:p>
            <a:pPr algn="just"/>
            <a:r>
              <a:rPr lang="en-US" sz="2400" dirty="0"/>
              <a:t>Spring Boot is used wherever </a:t>
            </a:r>
            <a:r>
              <a:rPr lang="en-US" sz="2400" b="1" dirty="0"/>
              <a:t>Java-based backend applications</a:t>
            </a:r>
            <a:r>
              <a:rPr lang="en-US" sz="2400" dirty="0"/>
              <a:t> are required.</a:t>
            </a:r>
          </a:p>
          <a:p>
            <a:pPr algn="just"/>
            <a:r>
              <a:rPr lang="en-US" sz="2400" b="1" dirty="0"/>
              <a:t>Common Use Cases</a:t>
            </a:r>
          </a:p>
          <a:p>
            <a:pPr lvl="1" algn="just"/>
            <a:r>
              <a:rPr lang="en-US" sz="2000" dirty="0"/>
              <a:t>Enterprise Applications</a:t>
            </a:r>
          </a:p>
          <a:p>
            <a:pPr lvl="1" algn="just"/>
            <a:r>
              <a:rPr lang="en-US" sz="2000" dirty="0"/>
              <a:t>Web Applications</a:t>
            </a:r>
          </a:p>
          <a:p>
            <a:pPr lvl="1" algn="just"/>
            <a:r>
              <a:rPr lang="en-US" sz="2000" dirty="0"/>
              <a:t>RESTful APIs</a:t>
            </a:r>
          </a:p>
          <a:p>
            <a:pPr lvl="1" algn="just"/>
            <a:r>
              <a:rPr lang="en-US" sz="2000" dirty="0"/>
              <a:t>Microservices</a:t>
            </a:r>
          </a:p>
          <a:p>
            <a:pPr lvl="1" algn="just"/>
            <a:r>
              <a:rPr lang="en-US" sz="2000" dirty="0"/>
              <a:t>Cloud-native applications</a:t>
            </a:r>
          </a:p>
          <a:p>
            <a:pPr lvl="1" algn="just"/>
            <a:r>
              <a:rPr lang="en-US" sz="2000" dirty="0"/>
              <a:t>Backend for mobile apps</a:t>
            </a:r>
          </a:p>
          <a:p>
            <a:pPr lvl="1" algn="just"/>
            <a:r>
              <a:rPr lang="en-US" sz="2000" dirty="0"/>
              <a:t>Backend for SPA (React / Angular / Vue)</a:t>
            </a:r>
          </a:p>
          <a:p>
            <a:pPr algn="just"/>
            <a:r>
              <a:rPr lang="en-US" sz="2400" b="1" dirty="0"/>
              <a:t>Industry Reality:</a:t>
            </a:r>
            <a:endParaRPr lang="en-US" sz="2400" dirty="0"/>
          </a:p>
          <a:p>
            <a:pPr marL="0" indent="0" algn="just">
              <a:buNone/>
            </a:pPr>
            <a:r>
              <a:rPr lang="en-US" sz="2400" dirty="0"/>
              <a:t>Most modern Java backend projects use Spring Boot.</a:t>
            </a:r>
          </a:p>
          <a:p>
            <a:pPr algn="just"/>
            <a:endParaRPr lang="en-US" sz="2400" dirty="0"/>
          </a:p>
        </p:txBody>
      </p:sp>
    </p:spTree>
    <p:extLst>
      <p:ext uri="{BB962C8B-B14F-4D97-AF65-F5344CB8AC3E}">
        <p14:creationId xmlns:p14="http://schemas.microsoft.com/office/powerpoint/2010/main" val="103322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5D709-534A-17AD-4F1F-079AE0317ED0}"/>
              </a:ext>
            </a:extLst>
          </p:cNvPr>
          <p:cNvSpPr>
            <a:spLocks noGrp="1"/>
          </p:cNvSpPr>
          <p:nvPr>
            <p:ph type="title"/>
          </p:nvPr>
        </p:nvSpPr>
        <p:spPr>
          <a:xfrm>
            <a:off x="838200" y="1"/>
            <a:ext cx="10515600" cy="1690688"/>
          </a:xfrm>
        </p:spPr>
        <p:txBody>
          <a:bodyPr>
            <a:normAutofit/>
          </a:bodyPr>
          <a:lstStyle/>
          <a:p>
            <a:r>
              <a:rPr lang="en-US" sz="3600" dirty="0"/>
              <a:t>What Can We Build Using Spring Boot?</a:t>
            </a:r>
          </a:p>
        </p:txBody>
      </p:sp>
      <p:sp>
        <p:nvSpPr>
          <p:cNvPr id="3" name="Content Placeholder 2">
            <a:extLst>
              <a:ext uri="{FF2B5EF4-FFF2-40B4-BE49-F238E27FC236}">
                <a16:creationId xmlns:a16="http://schemas.microsoft.com/office/drawing/2014/main" id="{3987643B-F514-768F-8F8A-130AF47ABE54}"/>
              </a:ext>
            </a:extLst>
          </p:cNvPr>
          <p:cNvSpPr>
            <a:spLocks noGrp="1"/>
          </p:cNvSpPr>
          <p:nvPr>
            <p:ph idx="1"/>
          </p:nvPr>
        </p:nvSpPr>
        <p:spPr>
          <a:xfrm>
            <a:off x="733647" y="1424763"/>
            <a:ext cx="4263655" cy="4752200"/>
          </a:xfrm>
        </p:spPr>
        <p:txBody>
          <a:bodyPr>
            <a:normAutofit fontScale="92500" lnSpcReduction="10000"/>
          </a:bodyPr>
          <a:lstStyle/>
          <a:p>
            <a:pPr marL="0" indent="0">
              <a:buNone/>
            </a:pPr>
            <a:r>
              <a:rPr lang="en-US" b="1" dirty="0"/>
              <a:t>🔹 Web Applications</a:t>
            </a:r>
          </a:p>
          <a:p>
            <a:pPr lvl="1"/>
            <a:r>
              <a:rPr lang="en-US" dirty="0"/>
              <a:t>MVC-based applications</a:t>
            </a:r>
          </a:p>
          <a:p>
            <a:pPr lvl="1"/>
            <a:r>
              <a:rPr lang="en-US" dirty="0"/>
              <a:t>Login / Registration systems</a:t>
            </a:r>
          </a:p>
          <a:p>
            <a:pPr lvl="1"/>
            <a:r>
              <a:rPr lang="en-US" dirty="0"/>
              <a:t>Admin dashboards</a:t>
            </a:r>
          </a:p>
          <a:p>
            <a:pPr marL="0" indent="0">
              <a:buNone/>
            </a:pPr>
            <a:r>
              <a:rPr lang="en-US" b="1" dirty="0"/>
              <a:t>🔹 REST APIs</a:t>
            </a:r>
          </a:p>
          <a:p>
            <a:pPr lvl="1"/>
            <a:r>
              <a:rPr lang="en-US" dirty="0"/>
              <a:t>JSON-based APIs</a:t>
            </a:r>
          </a:p>
          <a:p>
            <a:pPr lvl="1"/>
            <a:r>
              <a:rPr lang="en-US" dirty="0"/>
              <a:t>Used by frontend &amp; mobile apps</a:t>
            </a:r>
          </a:p>
          <a:p>
            <a:pPr marL="0" indent="0">
              <a:buNone/>
            </a:pPr>
            <a:r>
              <a:rPr lang="en-US" b="1" dirty="0"/>
              <a:t>🔹 Microservices</a:t>
            </a:r>
          </a:p>
          <a:p>
            <a:pPr lvl="1"/>
            <a:r>
              <a:rPr lang="en-US" dirty="0"/>
              <a:t>Independent, scalable services</a:t>
            </a:r>
          </a:p>
          <a:p>
            <a:pPr lvl="1"/>
            <a:r>
              <a:rPr lang="en-US" dirty="0"/>
              <a:t>Communicate using REST or messaging</a:t>
            </a:r>
          </a:p>
        </p:txBody>
      </p:sp>
      <p:sp>
        <p:nvSpPr>
          <p:cNvPr id="4" name="Content Placeholder 2">
            <a:extLst>
              <a:ext uri="{FF2B5EF4-FFF2-40B4-BE49-F238E27FC236}">
                <a16:creationId xmlns:a16="http://schemas.microsoft.com/office/drawing/2014/main" id="{95DE9359-B593-209A-4E32-9F1E50C9789F}"/>
              </a:ext>
            </a:extLst>
          </p:cNvPr>
          <p:cNvSpPr txBox="1">
            <a:spLocks/>
          </p:cNvSpPr>
          <p:nvPr/>
        </p:nvSpPr>
        <p:spPr>
          <a:xfrm>
            <a:off x="5358809" y="1307805"/>
            <a:ext cx="6147391" cy="5021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t>🔹 Enterprise Applications</a:t>
            </a:r>
          </a:p>
          <a:p>
            <a:pPr lvl="1"/>
            <a:r>
              <a:rPr lang="en-US" sz="2000" dirty="0"/>
              <a:t>Banking systems</a:t>
            </a:r>
          </a:p>
          <a:p>
            <a:pPr lvl="1"/>
            <a:r>
              <a:rPr lang="en-US" sz="2000" dirty="0"/>
              <a:t>ERP systems</a:t>
            </a:r>
          </a:p>
          <a:p>
            <a:pPr lvl="1"/>
            <a:r>
              <a:rPr lang="en-US" sz="2000" dirty="0"/>
              <a:t>CRM applications</a:t>
            </a:r>
          </a:p>
          <a:p>
            <a:pPr marL="0" indent="0">
              <a:buFont typeface="Arial" panose="020B0604020202020204" pitchFamily="34" charset="0"/>
              <a:buNone/>
            </a:pPr>
            <a:r>
              <a:rPr lang="en-US" sz="2400" b="1" dirty="0"/>
              <a:t>🔹 Cloud Applications</a:t>
            </a:r>
          </a:p>
          <a:p>
            <a:pPr lvl="1"/>
            <a:r>
              <a:rPr lang="en-US" sz="2000" dirty="0"/>
              <a:t>Deployed on AWS / Azure / GCP</a:t>
            </a:r>
          </a:p>
          <a:p>
            <a:pPr lvl="1"/>
            <a:r>
              <a:rPr lang="en-US" sz="2000" dirty="0"/>
              <a:t>Docker &amp; Kubernetes support</a:t>
            </a:r>
          </a:p>
          <a:p>
            <a:pPr marL="0" indent="0">
              <a:buFont typeface="Arial" panose="020B0604020202020204" pitchFamily="34" charset="0"/>
              <a:buNone/>
            </a:pPr>
            <a:r>
              <a:rPr lang="en-US" sz="2400" b="1" dirty="0"/>
              <a:t>🔹 Batch &amp; Standalone Applications</a:t>
            </a:r>
          </a:p>
          <a:p>
            <a:pPr lvl="1"/>
            <a:r>
              <a:rPr lang="en-US" dirty="0"/>
              <a:t>File processing</a:t>
            </a:r>
          </a:p>
          <a:p>
            <a:pPr lvl="1"/>
            <a:r>
              <a:rPr lang="en-US" dirty="0"/>
              <a:t>Scheduled jobs</a:t>
            </a:r>
          </a:p>
          <a:p>
            <a:pPr lvl="1"/>
            <a:r>
              <a:rPr lang="en-US" dirty="0"/>
              <a:t>Background services</a:t>
            </a:r>
          </a:p>
          <a:p>
            <a:pPr marL="0" indent="0">
              <a:buFont typeface="Arial" panose="020B0604020202020204" pitchFamily="34" charset="0"/>
              <a:buNone/>
            </a:pPr>
            <a:endParaRPr lang="en-US" sz="2400" dirty="0"/>
          </a:p>
        </p:txBody>
      </p:sp>
    </p:spTree>
    <p:extLst>
      <p:ext uri="{BB962C8B-B14F-4D97-AF65-F5344CB8AC3E}">
        <p14:creationId xmlns:p14="http://schemas.microsoft.com/office/powerpoint/2010/main" val="69874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C9763-437F-3118-DB0C-05F2F6D465C5}"/>
              </a:ext>
            </a:extLst>
          </p:cNvPr>
          <p:cNvSpPr>
            <a:spLocks noGrp="1"/>
          </p:cNvSpPr>
          <p:nvPr>
            <p:ph type="title"/>
          </p:nvPr>
        </p:nvSpPr>
        <p:spPr/>
        <p:txBody>
          <a:bodyPr>
            <a:normAutofit/>
          </a:bodyPr>
          <a:lstStyle/>
          <a:p>
            <a:r>
              <a:rPr lang="en-US" sz="3600" dirty="0"/>
              <a:t>Spring Boot in Modern Application Development</a:t>
            </a:r>
          </a:p>
        </p:txBody>
      </p:sp>
      <p:sp>
        <p:nvSpPr>
          <p:cNvPr id="3" name="Content Placeholder 2">
            <a:extLst>
              <a:ext uri="{FF2B5EF4-FFF2-40B4-BE49-F238E27FC236}">
                <a16:creationId xmlns:a16="http://schemas.microsoft.com/office/drawing/2014/main" id="{770D766B-F343-DDCC-F392-8D60B4211E40}"/>
              </a:ext>
            </a:extLst>
          </p:cNvPr>
          <p:cNvSpPr>
            <a:spLocks noGrp="1"/>
          </p:cNvSpPr>
          <p:nvPr>
            <p:ph idx="1"/>
          </p:nvPr>
        </p:nvSpPr>
        <p:spPr/>
        <p:txBody>
          <a:bodyPr>
            <a:normAutofit/>
          </a:bodyPr>
          <a:lstStyle/>
          <a:p>
            <a:r>
              <a:rPr lang="en-US" sz="2400" b="1" dirty="0"/>
              <a:t>Why Companies Prefer Spring Boot</a:t>
            </a:r>
          </a:p>
          <a:p>
            <a:pPr marL="457200" indent="-457200">
              <a:buFont typeface="+mj-lt"/>
              <a:buAutoNum type="arabicPeriod"/>
            </a:pPr>
            <a:r>
              <a:rPr lang="en-US" sz="2400" dirty="0"/>
              <a:t>Faster time to market</a:t>
            </a:r>
          </a:p>
          <a:p>
            <a:pPr marL="457200" indent="-457200">
              <a:buFont typeface="+mj-lt"/>
              <a:buAutoNum type="arabicPeriod"/>
            </a:pPr>
            <a:r>
              <a:rPr lang="en-US" sz="2400" dirty="0"/>
              <a:t>Easy cloud deployment</a:t>
            </a:r>
          </a:p>
          <a:p>
            <a:pPr marL="457200" indent="-457200">
              <a:buFont typeface="+mj-lt"/>
              <a:buAutoNum type="arabicPeriod"/>
            </a:pPr>
            <a:r>
              <a:rPr lang="en-US" sz="2400" dirty="0"/>
              <a:t>Microservice-ready</a:t>
            </a:r>
          </a:p>
          <a:p>
            <a:pPr marL="457200" indent="-457200">
              <a:buFont typeface="+mj-lt"/>
              <a:buAutoNum type="arabicPeriod"/>
            </a:pPr>
            <a:r>
              <a:rPr lang="en-US" sz="2400" dirty="0"/>
              <a:t>Strong ecosystem</a:t>
            </a:r>
          </a:p>
          <a:p>
            <a:pPr marL="457200" indent="-457200">
              <a:buFont typeface="+mj-lt"/>
              <a:buAutoNum type="arabicPeriod"/>
            </a:pPr>
            <a:r>
              <a:rPr lang="en-US" sz="2400" dirty="0"/>
              <a:t>Long-term support</a:t>
            </a:r>
          </a:p>
          <a:p>
            <a:pPr marL="0" indent="0">
              <a:buNone/>
            </a:pPr>
            <a:endParaRPr lang="en-US" sz="2400" dirty="0"/>
          </a:p>
          <a:p>
            <a:pPr marL="0" indent="0">
              <a:buNone/>
            </a:pPr>
            <a:r>
              <a:rPr lang="en-US" sz="2400" dirty="0"/>
              <a:t> </a:t>
            </a:r>
            <a:r>
              <a:rPr lang="en-US" sz="2400" b="1" dirty="0"/>
              <a:t>Interview Statement:</a:t>
            </a:r>
            <a:endParaRPr lang="en-US" sz="2400" dirty="0"/>
          </a:p>
          <a:p>
            <a:r>
              <a:rPr lang="en-US" sz="2400" i="1" dirty="0"/>
              <a:t>Spring Boot is the backbone of modern Java backend development.</a:t>
            </a:r>
            <a:endParaRPr lang="en-US" sz="2400" dirty="0"/>
          </a:p>
          <a:p>
            <a:endParaRPr lang="en-US" sz="2400" dirty="0"/>
          </a:p>
        </p:txBody>
      </p:sp>
    </p:spTree>
    <p:extLst>
      <p:ext uri="{BB962C8B-B14F-4D97-AF65-F5344CB8AC3E}">
        <p14:creationId xmlns:p14="http://schemas.microsoft.com/office/powerpoint/2010/main" val="2088998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724E6-112E-5618-D974-9DE7A8728757}"/>
              </a:ext>
            </a:extLst>
          </p:cNvPr>
          <p:cNvSpPr>
            <a:spLocks noGrp="1"/>
          </p:cNvSpPr>
          <p:nvPr>
            <p:ph type="title"/>
          </p:nvPr>
        </p:nvSpPr>
        <p:spPr/>
        <p:txBody>
          <a:bodyPr>
            <a:normAutofit/>
          </a:bodyPr>
          <a:lstStyle/>
          <a:p>
            <a:r>
              <a:rPr lang="en-US" sz="3600" dirty="0"/>
              <a:t>Real-World Example</a:t>
            </a:r>
          </a:p>
        </p:txBody>
      </p:sp>
      <p:sp>
        <p:nvSpPr>
          <p:cNvPr id="3" name="Content Placeholder 2">
            <a:extLst>
              <a:ext uri="{FF2B5EF4-FFF2-40B4-BE49-F238E27FC236}">
                <a16:creationId xmlns:a16="http://schemas.microsoft.com/office/drawing/2014/main" id="{DBAFC662-8D3B-F8C0-A161-21ACBBDD2A6E}"/>
              </a:ext>
            </a:extLst>
          </p:cNvPr>
          <p:cNvSpPr>
            <a:spLocks noGrp="1"/>
          </p:cNvSpPr>
          <p:nvPr>
            <p:ph idx="1"/>
          </p:nvPr>
        </p:nvSpPr>
        <p:spPr>
          <a:xfrm>
            <a:off x="838200" y="1435395"/>
            <a:ext cx="10515600" cy="4741568"/>
          </a:xfrm>
        </p:spPr>
        <p:txBody>
          <a:bodyPr>
            <a:noAutofit/>
          </a:bodyPr>
          <a:lstStyle/>
          <a:p>
            <a:pPr marL="0" indent="0">
              <a:buNone/>
            </a:pPr>
            <a:endParaRPr lang="en-US" sz="2400" b="1" dirty="0"/>
          </a:p>
          <a:p>
            <a:pPr marL="0" indent="0">
              <a:buNone/>
            </a:pPr>
            <a:r>
              <a:rPr lang="en-US" sz="2400" b="1" dirty="0"/>
              <a:t>Example: Online Shopping Application</a:t>
            </a:r>
          </a:p>
          <a:p>
            <a:pPr marL="0" indent="0">
              <a:buNone/>
            </a:pPr>
            <a:endParaRPr lang="en-US" sz="2400" dirty="0"/>
          </a:p>
          <a:p>
            <a:pPr marL="0" indent="0">
              <a:buNone/>
            </a:pPr>
            <a:r>
              <a:rPr lang="en-US" sz="2400" dirty="0"/>
              <a:t>Frontend: React / Angular</a:t>
            </a:r>
          </a:p>
          <a:p>
            <a:pPr marL="0" indent="0">
              <a:buNone/>
            </a:pPr>
            <a:r>
              <a:rPr lang="en-US" sz="2400" dirty="0"/>
              <a:t>Backend: Spring Boot REST APIs</a:t>
            </a:r>
          </a:p>
          <a:p>
            <a:pPr marL="0" indent="0">
              <a:buNone/>
            </a:pPr>
            <a:r>
              <a:rPr lang="en-US" sz="2400" dirty="0"/>
              <a:t>Database: MySQL / MongoDB</a:t>
            </a:r>
          </a:p>
          <a:p>
            <a:pPr marL="0" indent="0">
              <a:buNone/>
            </a:pPr>
            <a:r>
              <a:rPr lang="en-US" sz="2400" dirty="0"/>
              <a:t>Cloud: AWS / Azure</a:t>
            </a:r>
          </a:p>
          <a:p>
            <a:pPr marL="0" indent="0">
              <a:buNone/>
            </a:pPr>
            <a:r>
              <a:rPr lang="en-US" sz="2400" dirty="0"/>
              <a:t>Security: Spring Security + JWT</a:t>
            </a:r>
          </a:p>
          <a:p>
            <a:pPr marL="0" indent="0">
              <a:buNone/>
            </a:pPr>
            <a:endParaRPr lang="en-US" sz="2400" dirty="0"/>
          </a:p>
        </p:txBody>
      </p:sp>
    </p:spTree>
    <p:extLst>
      <p:ext uri="{BB962C8B-B14F-4D97-AF65-F5344CB8AC3E}">
        <p14:creationId xmlns:p14="http://schemas.microsoft.com/office/powerpoint/2010/main" val="67413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49C93-E787-663A-9389-01703B3644C5}"/>
              </a:ext>
            </a:extLst>
          </p:cNvPr>
          <p:cNvSpPr>
            <a:spLocks noGrp="1"/>
          </p:cNvSpPr>
          <p:nvPr>
            <p:ph type="title"/>
          </p:nvPr>
        </p:nvSpPr>
        <p:spPr/>
        <p:txBody>
          <a:bodyPr>
            <a:normAutofit/>
          </a:bodyPr>
          <a:lstStyle/>
          <a:p>
            <a:r>
              <a:rPr lang="en-US" sz="3600" dirty="0"/>
              <a:t>What is Micro Service?</a:t>
            </a:r>
            <a:br>
              <a:rPr lang="en-US" sz="3600" dirty="0"/>
            </a:br>
            <a:endParaRPr lang="en-US" sz="3600" dirty="0"/>
          </a:p>
        </p:txBody>
      </p:sp>
      <p:sp>
        <p:nvSpPr>
          <p:cNvPr id="3" name="Content Placeholder 2">
            <a:extLst>
              <a:ext uri="{FF2B5EF4-FFF2-40B4-BE49-F238E27FC236}">
                <a16:creationId xmlns:a16="http://schemas.microsoft.com/office/drawing/2014/main" id="{5A5B71C2-7E1F-1B4D-EA9D-FE4D0C078930}"/>
              </a:ext>
            </a:extLst>
          </p:cNvPr>
          <p:cNvSpPr>
            <a:spLocks noGrp="1"/>
          </p:cNvSpPr>
          <p:nvPr>
            <p:ph idx="1"/>
          </p:nvPr>
        </p:nvSpPr>
        <p:spPr>
          <a:xfrm>
            <a:off x="838200" y="1297172"/>
            <a:ext cx="10515600" cy="4879791"/>
          </a:xfrm>
        </p:spPr>
        <p:txBody>
          <a:bodyPr>
            <a:normAutofit/>
          </a:bodyPr>
          <a:lstStyle/>
          <a:p>
            <a:pPr algn="just"/>
            <a:r>
              <a:rPr lang="en-US" sz="2400" dirty="0"/>
              <a:t>Micro Service is an architecture that allows the developers to develop and deploy services independently. Each service running has its own process and this achieves the lightweight model to support business applications.</a:t>
            </a:r>
          </a:p>
          <a:p>
            <a:pPr algn="just"/>
            <a:r>
              <a:rPr lang="en-US" sz="2400" dirty="0"/>
              <a:t>Microservices are an architectural approach where a single application is composed of many small, loosely coupled, and independently deployable components or services. Microservices are autonomous: Each microservice can be developed, deployed, and operated independently without affecting other services.</a:t>
            </a:r>
          </a:p>
          <a:p>
            <a:pPr algn="just"/>
            <a:r>
              <a:rPr lang="en-US" sz="2400" dirty="0"/>
              <a:t>In a monolithic architecture, all processes run as a single service, tightly coupled. Microservices break down an application into independent components, each running as a separate service.</a:t>
            </a:r>
          </a:p>
          <a:p>
            <a:pPr algn="just"/>
            <a:endParaRPr lang="en-US" sz="2400" dirty="0"/>
          </a:p>
        </p:txBody>
      </p:sp>
    </p:spTree>
    <p:extLst>
      <p:ext uri="{BB962C8B-B14F-4D97-AF65-F5344CB8AC3E}">
        <p14:creationId xmlns:p14="http://schemas.microsoft.com/office/powerpoint/2010/main" val="3177282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0FE9B-646C-485E-63CE-21430B4BD79A}"/>
              </a:ext>
            </a:extLst>
          </p:cNvPr>
          <p:cNvSpPr>
            <a:spLocks noGrp="1"/>
          </p:cNvSpPr>
          <p:nvPr>
            <p:ph type="title"/>
          </p:nvPr>
        </p:nvSpPr>
        <p:spPr>
          <a:xfrm>
            <a:off x="838200" y="513981"/>
            <a:ext cx="10515600" cy="1325563"/>
          </a:xfrm>
        </p:spPr>
        <p:txBody>
          <a:bodyPr>
            <a:normAutofit/>
          </a:bodyPr>
          <a:lstStyle/>
          <a:p>
            <a:r>
              <a:rPr lang="en-US" sz="3600" dirty="0"/>
              <a:t>Advantages of Microservices</a:t>
            </a:r>
            <a:br>
              <a:rPr lang="en-US" sz="3600" dirty="0"/>
            </a:br>
            <a:endParaRPr lang="en-US" sz="3600" dirty="0"/>
          </a:p>
        </p:txBody>
      </p:sp>
      <p:sp>
        <p:nvSpPr>
          <p:cNvPr id="3" name="Content Placeholder 2">
            <a:extLst>
              <a:ext uri="{FF2B5EF4-FFF2-40B4-BE49-F238E27FC236}">
                <a16:creationId xmlns:a16="http://schemas.microsoft.com/office/drawing/2014/main" id="{A19A7A88-3BBD-B0A5-6FDE-24EFD1A9FD53}"/>
              </a:ext>
            </a:extLst>
          </p:cNvPr>
          <p:cNvSpPr>
            <a:spLocks noGrp="1"/>
          </p:cNvSpPr>
          <p:nvPr>
            <p:ph idx="1"/>
          </p:nvPr>
        </p:nvSpPr>
        <p:spPr>
          <a:xfrm>
            <a:off x="838200" y="1690688"/>
            <a:ext cx="10515600" cy="4486275"/>
          </a:xfrm>
        </p:spPr>
        <p:txBody>
          <a:bodyPr>
            <a:normAutofit/>
          </a:bodyPr>
          <a:lstStyle/>
          <a:p>
            <a:r>
              <a:rPr lang="en-US" sz="2400" dirty="0"/>
              <a:t>Micro services offers the following advantages to its developers −</a:t>
            </a:r>
          </a:p>
          <a:p>
            <a:pPr marL="457200" indent="-457200">
              <a:buFont typeface="+mj-lt"/>
              <a:buAutoNum type="arabicPeriod"/>
            </a:pPr>
            <a:r>
              <a:rPr lang="en-US" sz="2400" dirty="0"/>
              <a:t>Easy deployment</a:t>
            </a:r>
          </a:p>
          <a:p>
            <a:pPr marL="457200" indent="-457200">
              <a:buFont typeface="+mj-lt"/>
              <a:buAutoNum type="arabicPeriod"/>
            </a:pPr>
            <a:r>
              <a:rPr lang="en-US" sz="2400" dirty="0"/>
              <a:t>Simple scalability</a:t>
            </a:r>
          </a:p>
          <a:p>
            <a:pPr marL="457200" indent="-457200">
              <a:buFont typeface="+mj-lt"/>
              <a:buAutoNum type="arabicPeriod"/>
            </a:pPr>
            <a:r>
              <a:rPr lang="en-US" sz="2400" dirty="0"/>
              <a:t>Compatible with Containers</a:t>
            </a:r>
          </a:p>
          <a:p>
            <a:pPr marL="457200" indent="-457200">
              <a:buFont typeface="+mj-lt"/>
              <a:buAutoNum type="arabicPeriod"/>
            </a:pPr>
            <a:r>
              <a:rPr lang="en-US" sz="2400" dirty="0"/>
              <a:t>Minimum configuration</a:t>
            </a:r>
          </a:p>
          <a:p>
            <a:pPr marL="457200" indent="-457200">
              <a:buFont typeface="+mj-lt"/>
              <a:buAutoNum type="arabicPeriod"/>
            </a:pPr>
            <a:r>
              <a:rPr lang="en-US" sz="2400" dirty="0"/>
              <a:t>Lesser production time</a:t>
            </a:r>
          </a:p>
          <a:p>
            <a:endParaRPr lang="en-US" sz="2400" dirty="0"/>
          </a:p>
        </p:txBody>
      </p:sp>
    </p:spTree>
    <p:extLst>
      <p:ext uri="{BB962C8B-B14F-4D97-AF65-F5344CB8AC3E}">
        <p14:creationId xmlns:p14="http://schemas.microsoft.com/office/powerpoint/2010/main" val="3363603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8CF29-57BF-69D9-9616-DBC6505384F5}"/>
              </a:ext>
            </a:extLst>
          </p:cNvPr>
          <p:cNvSpPr>
            <a:spLocks noGrp="1"/>
          </p:cNvSpPr>
          <p:nvPr>
            <p:ph type="title"/>
          </p:nvPr>
        </p:nvSpPr>
        <p:spPr>
          <a:xfrm>
            <a:off x="723014" y="-138223"/>
            <a:ext cx="10630786" cy="1828911"/>
          </a:xfrm>
        </p:spPr>
        <p:txBody>
          <a:bodyPr>
            <a:normAutofit/>
          </a:bodyPr>
          <a:lstStyle/>
          <a:p>
            <a:r>
              <a:rPr lang="en-US" sz="3600" dirty="0"/>
              <a:t>Some Key Points : </a:t>
            </a:r>
          </a:p>
        </p:txBody>
      </p:sp>
      <p:sp>
        <p:nvSpPr>
          <p:cNvPr id="3" name="Content Placeholder 2">
            <a:extLst>
              <a:ext uri="{FF2B5EF4-FFF2-40B4-BE49-F238E27FC236}">
                <a16:creationId xmlns:a16="http://schemas.microsoft.com/office/drawing/2014/main" id="{E983D792-6043-EA84-762A-3353DB36701B}"/>
              </a:ext>
            </a:extLst>
          </p:cNvPr>
          <p:cNvSpPr>
            <a:spLocks noGrp="1"/>
          </p:cNvSpPr>
          <p:nvPr>
            <p:ph idx="1"/>
          </p:nvPr>
        </p:nvSpPr>
        <p:spPr>
          <a:xfrm>
            <a:off x="723014" y="1158949"/>
            <a:ext cx="10630786" cy="5411972"/>
          </a:xfrm>
        </p:spPr>
        <p:txBody>
          <a:bodyPr>
            <a:noAutofit/>
          </a:bodyPr>
          <a:lstStyle/>
          <a:p>
            <a:r>
              <a:rPr lang="en-US" sz="2400" dirty="0"/>
              <a:t>If you add spring-boot-starter-web dependency → embedded Tomcat comes automatically.</a:t>
            </a:r>
          </a:p>
          <a:p>
            <a:r>
              <a:rPr lang="en-US" sz="2400" dirty="0"/>
              <a:t>Without spring-boot-starter-web → your app won’t have an embedded web server.</a:t>
            </a:r>
          </a:p>
          <a:p>
            <a:pPr marL="0" indent="0">
              <a:buNone/>
            </a:pPr>
            <a:r>
              <a:rPr lang="en-US" sz="2400" dirty="0"/>
              <a:t>&lt;dependency&gt;</a:t>
            </a:r>
          </a:p>
          <a:p>
            <a:pPr marL="0" indent="0">
              <a:buNone/>
            </a:pPr>
            <a:r>
              <a:rPr lang="en-US" sz="2400" dirty="0"/>
              <a:t>    &lt;</a:t>
            </a:r>
            <a:r>
              <a:rPr lang="en-US" sz="2400" dirty="0" err="1"/>
              <a:t>groupId</a:t>
            </a:r>
            <a:r>
              <a:rPr lang="en-US" sz="2400" dirty="0"/>
              <a:t>&gt;</a:t>
            </a:r>
            <a:r>
              <a:rPr lang="en-US" sz="2400" dirty="0" err="1"/>
              <a:t>org.springframework.boot</a:t>
            </a:r>
            <a:r>
              <a:rPr lang="en-US" sz="2400" dirty="0"/>
              <a:t>&lt;/</a:t>
            </a:r>
            <a:r>
              <a:rPr lang="en-US" sz="2400" dirty="0" err="1"/>
              <a:t>groupId</a:t>
            </a:r>
            <a:r>
              <a:rPr lang="en-US" sz="2400" dirty="0"/>
              <a:t>&gt;</a:t>
            </a:r>
          </a:p>
          <a:p>
            <a:pPr marL="0" indent="0">
              <a:buNone/>
            </a:pPr>
            <a:r>
              <a:rPr lang="en-US" sz="2400" dirty="0"/>
              <a:t>    &lt;</a:t>
            </a:r>
            <a:r>
              <a:rPr lang="en-US" sz="2400" dirty="0" err="1"/>
              <a:t>artifactId</a:t>
            </a:r>
            <a:r>
              <a:rPr lang="en-US" sz="2400" dirty="0"/>
              <a:t>&gt;spring-boot-starter-web&lt;/</a:t>
            </a:r>
            <a:r>
              <a:rPr lang="en-US" sz="2400" dirty="0" err="1"/>
              <a:t>artifactId</a:t>
            </a:r>
            <a:r>
              <a:rPr lang="en-US" sz="2400" dirty="0"/>
              <a:t>&gt;</a:t>
            </a:r>
          </a:p>
          <a:p>
            <a:pPr marL="0" indent="0">
              <a:buNone/>
            </a:pPr>
            <a:r>
              <a:rPr lang="en-US" sz="2400" dirty="0"/>
              <a:t>&lt;/dependency&gt;</a:t>
            </a:r>
          </a:p>
          <a:p>
            <a:r>
              <a:rPr lang="en-US" sz="2400" dirty="0"/>
              <a:t>spring-boot-starter-web includes:</a:t>
            </a:r>
          </a:p>
          <a:p>
            <a:pPr marL="971550" lvl="1" indent="-514350">
              <a:buFont typeface="+mj-lt"/>
              <a:buAutoNum type="romanUcPeriod"/>
            </a:pPr>
            <a:r>
              <a:rPr lang="en-US" dirty="0"/>
              <a:t>Spring MVC</a:t>
            </a:r>
          </a:p>
          <a:p>
            <a:pPr marL="971550" lvl="1" indent="-514350">
              <a:buFont typeface="+mj-lt"/>
              <a:buAutoNum type="romanUcPeriod"/>
            </a:pPr>
            <a:r>
              <a:rPr lang="en-US" dirty="0"/>
              <a:t>Embedded </a:t>
            </a:r>
            <a:r>
              <a:rPr lang="en-US" b="1" dirty="0"/>
              <a:t>Tomcat</a:t>
            </a:r>
            <a:r>
              <a:rPr lang="en-US" dirty="0"/>
              <a:t> server</a:t>
            </a:r>
          </a:p>
          <a:p>
            <a:pPr marL="971550" lvl="1" indent="-514350">
              <a:buFont typeface="+mj-lt"/>
              <a:buAutoNum type="romanUcPeriod"/>
            </a:pPr>
            <a:r>
              <a:rPr lang="en-US" dirty="0"/>
              <a:t>Jackson (for JSON)</a:t>
            </a:r>
          </a:p>
          <a:p>
            <a:r>
              <a:rPr lang="en-US" sz="2400" dirty="0"/>
              <a:t>You </a:t>
            </a:r>
            <a:r>
              <a:rPr lang="en-US" sz="2400" b="1" dirty="0"/>
              <a:t>don’t need to install Tomcat separately</a:t>
            </a:r>
            <a:r>
              <a:rPr lang="en-US" sz="2400" dirty="0"/>
              <a:t>.</a:t>
            </a:r>
          </a:p>
          <a:p>
            <a:endParaRPr lang="en-US" sz="2400" dirty="0"/>
          </a:p>
        </p:txBody>
      </p:sp>
    </p:spTree>
    <p:extLst>
      <p:ext uri="{BB962C8B-B14F-4D97-AF65-F5344CB8AC3E}">
        <p14:creationId xmlns:p14="http://schemas.microsoft.com/office/powerpoint/2010/main" val="1459784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031862-E25D-492B-B355-79C31AC69BFF}"/>
              </a:ext>
            </a:extLst>
          </p:cNvPr>
          <p:cNvSpPr>
            <a:spLocks noGrp="1"/>
          </p:cNvSpPr>
          <p:nvPr>
            <p:ph idx="1"/>
          </p:nvPr>
        </p:nvSpPr>
        <p:spPr>
          <a:xfrm>
            <a:off x="637953" y="329609"/>
            <a:ext cx="10715847" cy="5847354"/>
          </a:xfrm>
        </p:spPr>
        <p:txBody>
          <a:bodyPr>
            <a:noAutofit/>
          </a:bodyPr>
          <a:lstStyle/>
          <a:p>
            <a:pPr marL="457200" lvl="1" indent="0" algn="just">
              <a:buNone/>
            </a:pPr>
            <a:r>
              <a:rPr lang="en-US" sz="2200" b="1" dirty="0"/>
              <a:t>Spring Boot Execution Flow</a:t>
            </a:r>
          </a:p>
          <a:p>
            <a:pPr marL="971550" lvl="1" indent="-514350" algn="just">
              <a:buFont typeface="+mj-lt"/>
              <a:buAutoNum type="arabicPeriod"/>
            </a:pPr>
            <a:r>
              <a:rPr lang="en-US" sz="2200" dirty="0"/>
              <a:t>You add spring-boot-starter-web dependency</a:t>
            </a:r>
          </a:p>
          <a:p>
            <a:pPr marL="971550" lvl="1" indent="-514350" algn="just">
              <a:buFont typeface="+mj-lt"/>
              <a:buAutoNum type="arabicPeriod"/>
            </a:pPr>
            <a:r>
              <a:rPr lang="en-US" sz="2200" dirty="0"/>
              <a:t>Maven downloads all required dependencies (embedded Tomcat included)</a:t>
            </a:r>
          </a:p>
          <a:p>
            <a:pPr marL="971550" lvl="1" indent="-514350" algn="just">
              <a:buFont typeface="+mj-lt"/>
              <a:buAutoNum type="arabicPeriod"/>
            </a:pPr>
            <a:r>
              <a:rPr lang="en-US" sz="2200" dirty="0"/>
              <a:t>You run the Spring Boot application</a:t>
            </a:r>
          </a:p>
          <a:p>
            <a:pPr marL="971550" lvl="1" indent="-514350" algn="just">
              <a:buFont typeface="+mj-lt"/>
              <a:buAutoNum type="arabicPeriod"/>
            </a:pPr>
            <a:r>
              <a:rPr lang="en-US" sz="2200" dirty="0" err="1"/>
              <a:t>SpringApplication.run</a:t>
            </a:r>
            <a:r>
              <a:rPr lang="en-US" sz="2200" dirty="0"/>
              <a:t>(</a:t>
            </a:r>
            <a:r>
              <a:rPr lang="en-US" sz="2200" dirty="0" err="1"/>
              <a:t>DemoApplication.class</a:t>
            </a:r>
            <a:r>
              <a:rPr lang="en-US" sz="2200" dirty="0"/>
              <a:t>, </a:t>
            </a:r>
            <a:r>
              <a:rPr lang="en-US" sz="2200" dirty="0" err="1"/>
              <a:t>args</a:t>
            </a:r>
            <a:r>
              <a:rPr lang="en-US" sz="2200" dirty="0"/>
              <a:t>) executes</a:t>
            </a:r>
          </a:p>
          <a:p>
            <a:pPr marL="971550" lvl="1" indent="-514350" algn="just">
              <a:buFont typeface="+mj-lt"/>
              <a:buAutoNum type="arabicPeriod"/>
            </a:pPr>
            <a:r>
              <a:rPr lang="en-US" sz="2200" dirty="0"/>
              <a:t>Spring creates </a:t>
            </a:r>
            <a:r>
              <a:rPr lang="en-US" sz="2200" dirty="0" err="1"/>
              <a:t>ApplicationContext</a:t>
            </a:r>
            <a:r>
              <a:rPr lang="en-US" sz="2200" dirty="0"/>
              <a:t> and initializes beans</a:t>
            </a:r>
          </a:p>
          <a:p>
            <a:pPr marL="971550" lvl="1" indent="-514350" algn="just">
              <a:buFont typeface="+mj-lt"/>
              <a:buAutoNum type="arabicPeriod"/>
            </a:pPr>
            <a:r>
              <a:rPr lang="en-US" sz="2200" dirty="0"/>
              <a:t>Embedded Tomcat starts automatically (default port 8080)</a:t>
            </a:r>
          </a:p>
          <a:p>
            <a:pPr marL="971550" lvl="1" indent="-514350" algn="just">
              <a:buFont typeface="+mj-lt"/>
              <a:buAutoNum type="arabicPeriod"/>
            </a:pPr>
            <a:r>
              <a:rPr lang="en-US" sz="2200" dirty="0"/>
              <a:t>Application is deployed internally into embedded Tomcat</a:t>
            </a:r>
          </a:p>
          <a:p>
            <a:pPr marL="971550" lvl="1" indent="-514350" algn="just">
              <a:buFont typeface="+mj-lt"/>
              <a:buAutoNum type="arabicPeriod"/>
            </a:pPr>
            <a:r>
              <a:rPr lang="en-US" sz="2200" dirty="0" err="1"/>
              <a:t>DispatcherServlet</a:t>
            </a:r>
            <a:r>
              <a:rPr lang="en-US" sz="2200" dirty="0"/>
              <a:t> is configured and mapped</a:t>
            </a:r>
          </a:p>
          <a:p>
            <a:pPr marL="971550" lvl="1" indent="-514350" algn="just">
              <a:buFont typeface="+mj-lt"/>
              <a:buAutoNum type="arabicPeriod"/>
            </a:pPr>
            <a:r>
              <a:rPr lang="en-US" sz="2200" dirty="0"/>
              <a:t>Your application becomes a running web server</a:t>
            </a:r>
          </a:p>
          <a:p>
            <a:pPr marL="971550" lvl="1" indent="-514350" algn="just">
              <a:buFont typeface="+mj-lt"/>
              <a:buAutoNum type="arabicPeriod"/>
            </a:pPr>
            <a:r>
              <a:rPr lang="en-US" sz="2200" dirty="0"/>
              <a:t>Application is accessible at:  http://localhost:8080</a:t>
            </a:r>
          </a:p>
          <a:p>
            <a:pPr marL="971550" lvl="1" indent="-514350" algn="just">
              <a:buFont typeface="+mj-lt"/>
              <a:buAutoNum type="arabicPeriod"/>
            </a:pPr>
            <a:r>
              <a:rPr lang="en-US" sz="2200" dirty="0"/>
              <a:t>No WAR file required</a:t>
            </a:r>
          </a:p>
          <a:p>
            <a:pPr marL="971550" lvl="1" indent="-514350" algn="just">
              <a:buFont typeface="+mj-lt"/>
              <a:buAutoNum type="arabicPeriod"/>
            </a:pPr>
            <a:r>
              <a:rPr lang="en-US" sz="2200" dirty="0"/>
              <a:t>No external Tomcat installation needed</a:t>
            </a:r>
          </a:p>
          <a:p>
            <a:pPr marL="457200" lvl="1" indent="0" algn="just">
              <a:buNone/>
            </a:pPr>
            <a:endParaRPr lang="en-US" sz="2200" dirty="0"/>
          </a:p>
          <a:p>
            <a:pPr marL="457200" lvl="1" indent="0" algn="just">
              <a:buNone/>
            </a:pPr>
            <a:r>
              <a:rPr lang="en-US" sz="2200" dirty="0"/>
              <a:t>Note: Embedded server means your </a:t>
            </a:r>
            <a:r>
              <a:rPr lang="en-US" sz="2200" b="1" dirty="0"/>
              <a:t>Spring Boot app itself runs a server internally</a:t>
            </a:r>
            <a:r>
              <a:rPr lang="en-US" sz="2200" dirty="0"/>
              <a:t>. You don’t need external Tomcat. But it works </a:t>
            </a:r>
            <a:r>
              <a:rPr lang="en-US" sz="2200" b="1" dirty="0"/>
              <a:t>only if you include the correct starter dependency</a:t>
            </a:r>
            <a:r>
              <a:rPr lang="en-US" sz="2200" dirty="0"/>
              <a:t>, usually spring-boot-starter-web.</a:t>
            </a:r>
          </a:p>
          <a:p>
            <a:pPr algn="just"/>
            <a:endParaRPr lang="en-US" sz="2200" dirty="0"/>
          </a:p>
        </p:txBody>
      </p:sp>
    </p:spTree>
    <p:extLst>
      <p:ext uri="{BB962C8B-B14F-4D97-AF65-F5344CB8AC3E}">
        <p14:creationId xmlns:p14="http://schemas.microsoft.com/office/powerpoint/2010/main" val="35250145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987A2-E644-36BD-0B57-52776BB3E8F7}"/>
              </a:ext>
            </a:extLst>
          </p:cNvPr>
          <p:cNvSpPr>
            <a:spLocks noGrp="1"/>
          </p:cNvSpPr>
          <p:nvPr>
            <p:ph type="title"/>
          </p:nvPr>
        </p:nvSpPr>
        <p:spPr/>
        <p:txBody>
          <a:bodyPr>
            <a:normAutofit/>
          </a:bodyPr>
          <a:lstStyle/>
          <a:p>
            <a:r>
              <a:rPr lang="en-US" sz="3600" dirty="0"/>
              <a:t>Traditional Spring vs Spring Boot (Server Aspect)</a:t>
            </a:r>
          </a:p>
        </p:txBody>
      </p:sp>
      <p:graphicFrame>
        <p:nvGraphicFramePr>
          <p:cNvPr id="4" name="Content Placeholder 3">
            <a:extLst>
              <a:ext uri="{FF2B5EF4-FFF2-40B4-BE49-F238E27FC236}">
                <a16:creationId xmlns:a16="http://schemas.microsoft.com/office/drawing/2014/main" id="{C1B55821-2B01-3E37-59D0-845925714BDA}"/>
              </a:ext>
            </a:extLst>
          </p:cNvPr>
          <p:cNvGraphicFramePr>
            <a:graphicFrameLocks noGrp="1"/>
          </p:cNvGraphicFramePr>
          <p:nvPr>
            <p:ph idx="1"/>
            <p:extLst>
              <p:ext uri="{D42A27DB-BD31-4B8C-83A1-F6EECF244321}">
                <p14:modId xmlns:p14="http://schemas.microsoft.com/office/powerpoint/2010/main" val="3112757580"/>
              </p:ext>
            </p:extLst>
          </p:nvPr>
        </p:nvGraphicFramePr>
        <p:xfrm>
          <a:off x="838201" y="1825624"/>
          <a:ext cx="9762459" cy="3012188"/>
        </p:xfrm>
        <a:graphic>
          <a:graphicData uri="http://schemas.openxmlformats.org/drawingml/2006/table">
            <a:tbl>
              <a:tblPr firstRow="1" bandRow="1">
                <a:tableStyleId>{5C22544A-7EE6-4342-B048-85BDC9FD1C3A}</a:tableStyleId>
              </a:tblPr>
              <a:tblGrid>
                <a:gridCol w="3254153">
                  <a:extLst>
                    <a:ext uri="{9D8B030D-6E8A-4147-A177-3AD203B41FA5}">
                      <a16:colId xmlns:a16="http://schemas.microsoft.com/office/drawing/2014/main" val="4209117822"/>
                    </a:ext>
                  </a:extLst>
                </a:gridCol>
                <a:gridCol w="3254153">
                  <a:extLst>
                    <a:ext uri="{9D8B030D-6E8A-4147-A177-3AD203B41FA5}">
                      <a16:colId xmlns:a16="http://schemas.microsoft.com/office/drawing/2014/main" val="2644141979"/>
                    </a:ext>
                  </a:extLst>
                </a:gridCol>
                <a:gridCol w="3254153">
                  <a:extLst>
                    <a:ext uri="{9D8B030D-6E8A-4147-A177-3AD203B41FA5}">
                      <a16:colId xmlns:a16="http://schemas.microsoft.com/office/drawing/2014/main" val="1882667712"/>
                    </a:ext>
                  </a:extLst>
                </a:gridCol>
              </a:tblGrid>
              <a:tr h="753047">
                <a:tc>
                  <a:txBody>
                    <a:bodyPr/>
                    <a:lstStyle/>
                    <a:p>
                      <a:r>
                        <a:rPr lang="en-US" sz="2400" dirty="0"/>
                        <a:t>Feature</a:t>
                      </a:r>
                    </a:p>
                  </a:txBody>
                  <a:tcPr/>
                </a:tc>
                <a:tc>
                  <a:txBody>
                    <a:bodyPr/>
                    <a:lstStyle/>
                    <a:p>
                      <a:r>
                        <a:rPr lang="en-US" sz="2400" dirty="0"/>
                        <a:t>Traditional Spring</a:t>
                      </a:r>
                    </a:p>
                  </a:txBody>
                  <a:tcPr/>
                </a:tc>
                <a:tc>
                  <a:txBody>
                    <a:bodyPr/>
                    <a:lstStyle/>
                    <a:p>
                      <a:r>
                        <a:rPr lang="en-US" sz="2400" dirty="0"/>
                        <a:t>Spring Boot</a:t>
                      </a:r>
                    </a:p>
                  </a:txBody>
                  <a:tcPr/>
                </a:tc>
                <a:extLst>
                  <a:ext uri="{0D108BD9-81ED-4DB2-BD59-A6C34878D82A}">
                    <a16:rowId xmlns:a16="http://schemas.microsoft.com/office/drawing/2014/main" val="2749093634"/>
                  </a:ext>
                </a:extLst>
              </a:tr>
              <a:tr h="753047">
                <a:tc>
                  <a:txBody>
                    <a:bodyPr/>
                    <a:lstStyle/>
                    <a:p>
                      <a:r>
                        <a:rPr lang="en-US" sz="2400" dirty="0"/>
                        <a:t>Server</a:t>
                      </a:r>
                    </a:p>
                  </a:txBody>
                  <a:tcPr/>
                </a:tc>
                <a:tc>
                  <a:txBody>
                    <a:bodyPr/>
                    <a:lstStyle/>
                    <a:p>
                      <a:r>
                        <a:rPr lang="en-US" sz="2400" dirty="0"/>
                        <a:t>External Tomcat</a:t>
                      </a:r>
                    </a:p>
                  </a:txBody>
                  <a:tcPr/>
                </a:tc>
                <a:tc>
                  <a:txBody>
                    <a:bodyPr/>
                    <a:lstStyle/>
                    <a:p>
                      <a:r>
                        <a:rPr lang="en-US" sz="2400" dirty="0"/>
                        <a:t>Embedded Tomcat</a:t>
                      </a:r>
                    </a:p>
                  </a:txBody>
                  <a:tcPr/>
                </a:tc>
                <a:extLst>
                  <a:ext uri="{0D108BD9-81ED-4DB2-BD59-A6C34878D82A}">
                    <a16:rowId xmlns:a16="http://schemas.microsoft.com/office/drawing/2014/main" val="809375049"/>
                  </a:ext>
                </a:extLst>
              </a:tr>
              <a:tr h="753047">
                <a:tc>
                  <a:txBody>
                    <a:bodyPr/>
                    <a:lstStyle/>
                    <a:p>
                      <a:r>
                        <a:rPr lang="en-US" sz="2400" dirty="0"/>
                        <a:t>Deployment</a:t>
                      </a:r>
                    </a:p>
                  </a:txBody>
                  <a:tcPr/>
                </a:tc>
                <a:tc>
                  <a:txBody>
                    <a:bodyPr/>
                    <a:lstStyle/>
                    <a:p>
                      <a:r>
                        <a:rPr lang="en-US" sz="2400" dirty="0"/>
                        <a:t>WAR</a:t>
                      </a:r>
                    </a:p>
                  </a:txBody>
                  <a:tcPr/>
                </a:tc>
                <a:tc>
                  <a:txBody>
                    <a:bodyPr/>
                    <a:lstStyle/>
                    <a:p>
                      <a:r>
                        <a:rPr lang="en-US" sz="2400" dirty="0"/>
                        <a:t>JAR</a:t>
                      </a:r>
                    </a:p>
                  </a:txBody>
                  <a:tcPr/>
                </a:tc>
                <a:extLst>
                  <a:ext uri="{0D108BD9-81ED-4DB2-BD59-A6C34878D82A}">
                    <a16:rowId xmlns:a16="http://schemas.microsoft.com/office/drawing/2014/main" val="1918877112"/>
                  </a:ext>
                </a:extLst>
              </a:tr>
              <a:tr h="753047">
                <a:tc>
                  <a:txBody>
                    <a:bodyPr/>
                    <a:lstStyle/>
                    <a:p>
                      <a:r>
                        <a:rPr lang="en-US" sz="2400" dirty="0"/>
                        <a:t>Setup</a:t>
                      </a:r>
                    </a:p>
                  </a:txBody>
                  <a:tcPr/>
                </a:tc>
                <a:tc>
                  <a:txBody>
                    <a:bodyPr/>
                    <a:lstStyle/>
                    <a:p>
                      <a:r>
                        <a:rPr lang="en-US" sz="2400" dirty="0"/>
                        <a:t>Manual</a:t>
                      </a:r>
                    </a:p>
                  </a:txBody>
                  <a:tcPr/>
                </a:tc>
                <a:tc>
                  <a:txBody>
                    <a:bodyPr/>
                    <a:lstStyle/>
                    <a:p>
                      <a:r>
                        <a:rPr lang="en-US" sz="2400" dirty="0"/>
                        <a:t>Automatic</a:t>
                      </a:r>
                    </a:p>
                  </a:txBody>
                  <a:tcPr/>
                </a:tc>
                <a:extLst>
                  <a:ext uri="{0D108BD9-81ED-4DB2-BD59-A6C34878D82A}">
                    <a16:rowId xmlns:a16="http://schemas.microsoft.com/office/drawing/2014/main" val="4147185429"/>
                  </a:ext>
                </a:extLst>
              </a:tr>
            </a:tbl>
          </a:graphicData>
        </a:graphic>
      </p:graphicFrame>
    </p:spTree>
    <p:extLst>
      <p:ext uri="{BB962C8B-B14F-4D97-AF65-F5344CB8AC3E}">
        <p14:creationId xmlns:p14="http://schemas.microsoft.com/office/powerpoint/2010/main" val="23142496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AAF15-7FA9-E5A3-8D08-FA78146FA341}"/>
              </a:ext>
            </a:extLst>
          </p:cNvPr>
          <p:cNvSpPr>
            <a:spLocks noGrp="1"/>
          </p:cNvSpPr>
          <p:nvPr>
            <p:ph type="title"/>
          </p:nvPr>
        </p:nvSpPr>
        <p:spPr/>
        <p:txBody>
          <a:bodyPr>
            <a:normAutofit/>
          </a:bodyPr>
          <a:lstStyle/>
          <a:p>
            <a:r>
              <a:rPr lang="en-US" sz="3600" dirty="0"/>
              <a:t>Why “Run as → Java Application” in Spring Boot?</a:t>
            </a:r>
            <a:br>
              <a:rPr lang="en-US" sz="3600" dirty="0"/>
            </a:br>
            <a:endParaRPr lang="en-US" sz="3600" dirty="0"/>
          </a:p>
        </p:txBody>
      </p:sp>
      <p:sp>
        <p:nvSpPr>
          <p:cNvPr id="3" name="Content Placeholder 2">
            <a:extLst>
              <a:ext uri="{FF2B5EF4-FFF2-40B4-BE49-F238E27FC236}">
                <a16:creationId xmlns:a16="http://schemas.microsoft.com/office/drawing/2014/main" id="{7AE34DA9-7C14-F1D1-B093-2659632BA146}"/>
              </a:ext>
            </a:extLst>
          </p:cNvPr>
          <p:cNvSpPr>
            <a:spLocks noGrp="1"/>
          </p:cNvSpPr>
          <p:nvPr>
            <p:ph idx="1"/>
          </p:nvPr>
        </p:nvSpPr>
        <p:spPr>
          <a:xfrm>
            <a:off x="838200" y="1233377"/>
            <a:ext cx="10515600" cy="5259498"/>
          </a:xfrm>
        </p:spPr>
        <p:txBody>
          <a:bodyPr>
            <a:normAutofit/>
          </a:bodyPr>
          <a:lstStyle/>
          <a:p>
            <a:pPr marL="0" indent="0">
              <a:buNone/>
            </a:pPr>
            <a:r>
              <a:rPr lang="en-US" sz="2400" dirty="0"/>
              <a:t>Because Spring Boot has an embedded server, the application:</a:t>
            </a:r>
          </a:p>
          <a:p>
            <a:r>
              <a:rPr lang="en-US" sz="2400" dirty="0"/>
              <a:t>Starts like a normal Java program</a:t>
            </a:r>
          </a:p>
          <a:p>
            <a:r>
              <a:rPr lang="en-US" sz="2400" dirty="0"/>
              <a:t>The embedded Tomcat starts inside the JVM</a:t>
            </a:r>
          </a:p>
          <a:p>
            <a:r>
              <a:rPr lang="en-US" sz="2400" dirty="0"/>
              <a:t>No external server is required</a:t>
            </a:r>
          </a:p>
          <a:p>
            <a:r>
              <a:rPr lang="en-US" sz="2400" dirty="0"/>
              <a:t>So, Eclipse shows:	Run As → Java Application</a:t>
            </a:r>
          </a:p>
          <a:p>
            <a:r>
              <a:rPr lang="en-US" sz="2400" dirty="0"/>
              <a:t>When you run: </a:t>
            </a:r>
            <a:r>
              <a:rPr lang="en-US" sz="2400" dirty="0" err="1"/>
              <a:t>SpringApplication.run</a:t>
            </a:r>
            <a:r>
              <a:rPr lang="en-US" sz="2400" dirty="0"/>
              <a:t>(</a:t>
            </a:r>
            <a:r>
              <a:rPr lang="en-US" sz="2400" dirty="0" err="1"/>
              <a:t>MyApplication.class</a:t>
            </a:r>
            <a:r>
              <a:rPr lang="en-US" sz="2400" dirty="0"/>
              <a:t>, </a:t>
            </a:r>
            <a:r>
              <a:rPr lang="en-US" sz="2400" dirty="0" err="1"/>
              <a:t>args</a:t>
            </a:r>
            <a:r>
              <a:rPr lang="en-US" sz="2400" dirty="0"/>
              <a:t>), Spring Boot:</a:t>
            </a:r>
          </a:p>
          <a:p>
            <a:pPr marL="914400" lvl="1" indent="-457200">
              <a:buFont typeface="+mj-lt"/>
              <a:buAutoNum type="arabicPeriod"/>
            </a:pPr>
            <a:r>
              <a:rPr lang="en-US" dirty="0"/>
              <a:t>Creates </a:t>
            </a:r>
            <a:r>
              <a:rPr lang="en-US" dirty="0" err="1"/>
              <a:t>ApplicationContext</a:t>
            </a:r>
            <a:endParaRPr lang="en-US" dirty="0"/>
          </a:p>
          <a:p>
            <a:pPr marL="914400" lvl="1" indent="-457200">
              <a:buFont typeface="+mj-lt"/>
              <a:buAutoNum type="arabicPeriod"/>
            </a:pPr>
            <a:r>
              <a:rPr lang="en-US" dirty="0"/>
              <a:t>Loads all beans</a:t>
            </a:r>
          </a:p>
          <a:p>
            <a:pPr marL="914400" lvl="1" indent="-457200">
              <a:buFont typeface="+mj-lt"/>
              <a:buAutoNum type="arabicPeriod"/>
            </a:pPr>
            <a:r>
              <a:rPr lang="en-US" dirty="0"/>
              <a:t>Starts </a:t>
            </a:r>
            <a:r>
              <a:rPr lang="en-US" b="1" dirty="0"/>
              <a:t>embedded Tomcat</a:t>
            </a:r>
            <a:endParaRPr lang="en-US" dirty="0"/>
          </a:p>
          <a:p>
            <a:pPr marL="914400" lvl="1" indent="-457200">
              <a:buFont typeface="+mj-lt"/>
              <a:buAutoNum type="arabicPeriod"/>
            </a:pPr>
            <a:r>
              <a:rPr lang="en-US" dirty="0"/>
              <a:t>Deploys your app internally</a:t>
            </a:r>
          </a:p>
          <a:p>
            <a:pPr marL="914400" lvl="1" indent="-457200">
              <a:buFont typeface="+mj-lt"/>
              <a:buAutoNum type="arabicPeriod"/>
            </a:pPr>
            <a:r>
              <a:rPr lang="en-US" dirty="0"/>
              <a:t>Opens port 8080</a:t>
            </a:r>
          </a:p>
          <a:p>
            <a:pPr marL="914400" lvl="1" indent="-457200">
              <a:buFont typeface="+mj-lt"/>
              <a:buAutoNum type="arabicPeriod"/>
            </a:pPr>
            <a:r>
              <a:rPr lang="en-US" dirty="0"/>
              <a:t>That’s why </a:t>
            </a:r>
            <a:r>
              <a:rPr lang="en-US" b="1" dirty="0"/>
              <a:t>no “Run on Server” is needed</a:t>
            </a:r>
            <a:endParaRPr lang="en-US" dirty="0"/>
          </a:p>
          <a:p>
            <a:endParaRPr lang="en-US" sz="2400" dirty="0"/>
          </a:p>
          <a:p>
            <a:endParaRPr lang="en-US" sz="2400" dirty="0"/>
          </a:p>
          <a:p>
            <a:pPr marL="0" indent="0">
              <a:buNone/>
            </a:pPr>
            <a:endParaRPr lang="en-US" sz="2400" dirty="0"/>
          </a:p>
        </p:txBody>
      </p:sp>
    </p:spTree>
    <p:extLst>
      <p:ext uri="{BB962C8B-B14F-4D97-AF65-F5344CB8AC3E}">
        <p14:creationId xmlns:p14="http://schemas.microsoft.com/office/powerpoint/2010/main" val="9581144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AEA0C-832F-0ACE-D5D4-5C7F93AF4173}"/>
              </a:ext>
            </a:extLst>
          </p:cNvPr>
          <p:cNvSpPr>
            <a:spLocks noGrp="1"/>
          </p:cNvSpPr>
          <p:nvPr>
            <p:ph type="title"/>
          </p:nvPr>
        </p:nvSpPr>
        <p:spPr/>
        <p:txBody>
          <a:bodyPr>
            <a:normAutofit/>
          </a:bodyPr>
          <a:lstStyle/>
          <a:p>
            <a:r>
              <a:rPr lang="en-US" sz="3600" dirty="0"/>
              <a:t>Recall </a:t>
            </a:r>
            <a:r>
              <a:rPr lang="en-US" sz="3600" dirty="0" err="1"/>
              <a:t>ApplicationContext</a:t>
            </a:r>
            <a:endParaRPr lang="en-US" sz="3600" dirty="0"/>
          </a:p>
        </p:txBody>
      </p:sp>
      <p:sp>
        <p:nvSpPr>
          <p:cNvPr id="3" name="Content Placeholder 2">
            <a:extLst>
              <a:ext uri="{FF2B5EF4-FFF2-40B4-BE49-F238E27FC236}">
                <a16:creationId xmlns:a16="http://schemas.microsoft.com/office/drawing/2014/main" id="{5911BB31-90C8-642B-A2C4-DEFEC1A925E1}"/>
              </a:ext>
            </a:extLst>
          </p:cNvPr>
          <p:cNvSpPr>
            <a:spLocks noGrp="1"/>
          </p:cNvSpPr>
          <p:nvPr>
            <p:ph idx="1"/>
          </p:nvPr>
        </p:nvSpPr>
        <p:spPr/>
        <p:txBody>
          <a:bodyPr>
            <a:noAutofit/>
          </a:bodyPr>
          <a:lstStyle/>
          <a:p>
            <a:r>
              <a:rPr lang="en-US" sz="2400" dirty="0" err="1"/>
              <a:t>ApplicationContext</a:t>
            </a:r>
            <a:r>
              <a:rPr lang="en-US" sz="2400" dirty="0"/>
              <a:t> is the Spring container that creates, manages, and controls all Spring beans during the application lifecycle.</a:t>
            </a:r>
          </a:p>
          <a:p>
            <a:r>
              <a:rPr lang="en-US" sz="2400" dirty="0"/>
              <a:t>In Simple Words</a:t>
            </a:r>
          </a:p>
          <a:p>
            <a:pPr marL="914400" lvl="1" indent="-457200">
              <a:buFont typeface="+mj-lt"/>
              <a:buAutoNum type="arabicPeriod"/>
            </a:pPr>
            <a:r>
              <a:rPr lang="en-US" sz="2200" dirty="0"/>
              <a:t>A factory for objects (beans)</a:t>
            </a:r>
          </a:p>
          <a:p>
            <a:pPr marL="914400" lvl="1" indent="-457200">
              <a:buFont typeface="+mj-lt"/>
              <a:buAutoNum type="arabicPeriod"/>
            </a:pPr>
            <a:r>
              <a:rPr lang="en-US" sz="2200" dirty="0"/>
              <a:t>A manager that:</a:t>
            </a:r>
          </a:p>
          <a:p>
            <a:pPr lvl="2"/>
            <a:r>
              <a:rPr lang="en-US" sz="2200" dirty="0"/>
              <a:t>Creates objects</a:t>
            </a:r>
          </a:p>
          <a:p>
            <a:pPr lvl="2"/>
            <a:r>
              <a:rPr lang="en-US" sz="2200" dirty="0"/>
              <a:t>Injects dependencies</a:t>
            </a:r>
          </a:p>
          <a:p>
            <a:pPr lvl="2"/>
            <a:r>
              <a:rPr lang="en-US" sz="2200" dirty="0"/>
              <a:t>Manages lifecycle</a:t>
            </a:r>
          </a:p>
          <a:p>
            <a:pPr lvl="2"/>
            <a:r>
              <a:rPr lang="en-US" sz="2200" dirty="0"/>
              <a:t>Applies configuration</a:t>
            </a:r>
          </a:p>
          <a:p>
            <a:pPr marL="914400" lvl="2" indent="0">
              <a:buNone/>
            </a:pPr>
            <a:endParaRPr lang="en-US" sz="2200" dirty="0"/>
          </a:p>
          <a:p>
            <a:pPr marL="914400" lvl="2" indent="0">
              <a:buNone/>
            </a:pPr>
            <a:r>
              <a:rPr lang="en-US" sz="2200" dirty="0"/>
              <a:t>Without </a:t>
            </a:r>
            <a:r>
              <a:rPr lang="en-US" sz="2200" dirty="0" err="1"/>
              <a:t>ApplicationContext</a:t>
            </a:r>
            <a:r>
              <a:rPr lang="en-US" sz="2200" dirty="0"/>
              <a:t> → No Spring</a:t>
            </a:r>
          </a:p>
          <a:p>
            <a:endParaRPr lang="en-US" sz="2400" dirty="0"/>
          </a:p>
        </p:txBody>
      </p:sp>
    </p:spTree>
    <p:extLst>
      <p:ext uri="{BB962C8B-B14F-4D97-AF65-F5344CB8AC3E}">
        <p14:creationId xmlns:p14="http://schemas.microsoft.com/office/powerpoint/2010/main" val="42693207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3EC8D-962D-321E-6A29-8E48A1A6A7A5}"/>
              </a:ext>
            </a:extLst>
          </p:cNvPr>
          <p:cNvSpPr>
            <a:spLocks noGrp="1"/>
          </p:cNvSpPr>
          <p:nvPr>
            <p:ph type="title"/>
          </p:nvPr>
        </p:nvSpPr>
        <p:spPr>
          <a:xfrm>
            <a:off x="712381" y="350874"/>
            <a:ext cx="10641419" cy="1275907"/>
          </a:xfrm>
        </p:spPr>
        <p:txBody>
          <a:bodyPr>
            <a:noAutofit/>
          </a:bodyPr>
          <a:lstStyle/>
          <a:p>
            <a:r>
              <a:rPr lang="en-US" sz="3600" dirty="0"/>
              <a:t>Types of </a:t>
            </a:r>
            <a:r>
              <a:rPr lang="en-US" sz="3600" dirty="0" err="1"/>
              <a:t>ApplicationContext</a:t>
            </a:r>
            <a:br>
              <a:rPr lang="en-US" sz="3600" dirty="0"/>
            </a:br>
            <a:br>
              <a:rPr lang="en-US" sz="3600" dirty="0"/>
            </a:br>
            <a:endParaRPr lang="en-US" sz="3600" dirty="0"/>
          </a:p>
        </p:txBody>
      </p:sp>
      <p:sp>
        <p:nvSpPr>
          <p:cNvPr id="3" name="Content Placeholder 2">
            <a:extLst>
              <a:ext uri="{FF2B5EF4-FFF2-40B4-BE49-F238E27FC236}">
                <a16:creationId xmlns:a16="http://schemas.microsoft.com/office/drawing/2014/main" id="{85D5990F-0447-65AD-4489-A9B06A9E5444}"/>
              </a:ext>
            </a:extLst>
          </p:cNvPr>
          <p:cNvSpPr>
            <a:spLocks noGrp="1"/>
          </p:cNvSpPr>
          <p:nvPr>
            <p:ph idx="1"/>
          </p:nvPr>
        </p:nvSpPr>
        <p:spPr>
          <a:xfrm>
            <a:off x="712381" y="1020727"/>
            <a:ext cx="11479619" cy="5156236"/>
          </a:xfrm>
        </p:spPr>
        <p:txBody>
          <a:bodyPr>
            <a:noAutofit/>
          </a:bodyPr>
          <a:lstStyle/>
          <a:p>
            <a:r>
              <a:rPr lang="en-US" sz="2400" b="1" dirty="0"/>
              <a:t>Common Types:</a:t>
            </a:r>
          </a:p>
          <a:p>
            <a:pPr marL="914400" lvl="1" indent="-457200">
              <a:buFont typeface="+mj-lt"/>
              <a:buAutoNum type="arabicPeriod"/>
            </a:pPr>
            <a:r>
              <a:rPr lang="en-US" dirty="0" err="1"/>
              <a:t>ClassPathXmlApplicationContext</a:t>
            </a:r>
            <a:endParaRPr lang="en-US" dirty="0"/>
          </a:p>
          <a:p>
            <a:pPr marL="914400" lvl="1" indent="-457200">
              <a:buFont typeface="+mj-lt"/>
              <a:buAutoNum type="arabicPeriod"/>
            </a:pPr>
            <a:r>
              <a:rPr lang="en-US" dirty="0" err="1"/>
              <a:t>AnnotationConfigApplicationContext</a:t>
            </a:r>
            <a:endParaRPr lang="en-US" dirty="0"/>
          </a:p>
          <a:p>
            <a:pPr marL="914400" lvl="1" indent="-457200">
              <a:buFont typeface="+mj-lt"/>
              <a:buAutoNum type="arabicPeriod"/>
            </a:pPr>
            <a:r>
              <a:rPr lang="en-US" dirty="0" err="1"/>
              <a:t>WebApplicationContext</a:t>
            </a:r>
            <a:endParaRPr lang="en-US" dirty="0"/>
          </a:p>
          <a:p>
            <a:pPr marL="0" indent="0">
              <a:buNone/>
            </a:pPr>
            <a:r>
              <a:rPr lang="en-US" sz="2400" b="1" dirty="0"/>
              <a:t>In Spring Boot:</a:t>
            </a:r>
          </a:p>
          <a:p>
            <a:pPr marL="914400" lvl="1" indent="-457200">
              <a:buFont typeface="+mj-lt"/>
              <a:buAutoNum type="arabicPeriod"/>
            </a:pPr>
            <a:r>
              <a:rPr lang="en-US" dirty="0" err="1"/>
              <a:t>AnnotationConfigApplicationContext</a:t>
            </a:r>
            <a:endParaRPr lang="en-US" dirty="0"/>
          </a:p>
          <a:p>
            <a:pPr marL="914400" lvl="1" indent="-457200">
              <a:buFont typeface="+mj-lt"/>
              <a:buAutoNum type="arabicPeriod"/>
            </a:pPr>
            <a:r>
              <a:rPr lang="en-US" dirty="0" err="1"/>
              <a:t>ServletWebServerApplicationContext</a:t>
            </a:r>
            <a:r>
              <a:rPr lang="en-US" dirty="0"/>
              <a:t> (for web apps)</a:t>
            </a:r>
          </a:p>
          <a:p>
            <a:pPr marL="914400" lvl="1" indent="-457200">
              <a:buFont typeface="+mj-lt"/>
              <a:buAutoNum type="arabicPeriod"/>
            </a:pPr>
            <a:endParaRPr lang="en-US" dirty="0"/>
          </a:p>
          <a:p>
            <a:r>
              <a:rPr lang="en-US" sz="2400" dirty="0"/>
              <a:t>In Spring Boot, You </a:t>
            </a:r>
            <a:r>
              <a:rPr lang="en-US" sz="2400" b="1" dirty="0"/>
              <a:t>do NOT create </a:t>
            </a:r>
            <a:r>
              <a:rPr lang="en-US" sz="2400" b="1" dirty="0" err="1"/>
              <a:t>ApplicationContext</a:t>
            </a:r>
            <a:r>
              <a:rPr lang="en-US" sz="2400" b="1" dirty="0"/>
              <a:t> manually, </a:t>
            </a:r>
            <a:r>
              <a:rPr lang="en-US" sz="2400" dirty="0"/>
              <a:t>It is created automatically by: </a:t>
            </a:r>
            <a:r>
              <a:rPr lang="en-US" sz="2400" dirty="0" err="1"/>
              <a:t>SpringApplication.run</a:t>
            </a:r>
            <a:r>
              <a:rPr lang="en-US" sz="2400" dirty="0"/>
              <a:t>(</a:t>
            </a:r>
            <a:r>
              <a:rPr lang="en-US" sz="2400" dirty="0" err="1"/>
              <a:t>MyApplication.class</a:t>
            </a:r>
            <a:r>
              <a:rPr lang="en-US" sz="2400" dirty="0"/>
              <a:t>, </a:t>
            </a:r>
            <a:r>
              <a:rPr lang="en-US" sz="2400" dirty="0" err="1"/>
              <a:t>args</a:t>
            </a:r>
            <a:r>
              <a:rPr lang="en-US" sz="2400" dirty="0"/>
              <a:t>);</a:t>
            </a:r>
          </a:p>
          <a:p>
            <a:r>
              <a:rPr lang="en-US" sz="2400" dirty="0"/>
              <a:t>Internally:</a:t>
            </a:r>
          </a:p>
          <a:p>
            <a:pPr marL="0" indent="0">
              <a:buNone/>
            </a:pPr>
            <a:r>
              <a:rPr lang="en-US" sz="2400" dirty="0" err="1"/>
              <a:t>ApplicationContext</a:t>
            </a:r>
            <a:r>
              <a:rPr lang="en-US" sz="2400" dirty="0"/>
              <a:t> context = </a:t>
            </a:r>
            <a:r>
              <a:rPr lang="en-US" sz="2400" dirty="0" err="1"/>
              <a:t>SpringApplication.run</a:t>
            </a:r>
            <a:r>
              <a:rPr lang="en-US" sz="2400" dirty="0"/>
              <a:t>(</a:t>
            </a:r>
            <a:r>
              <a:rPr lang="en-US" sz="2400" dirty="0" err="1"/>
              <a:t>MyApplication.class</a:t>
            </a:r>
            <a:r>
              <a:rPr lang="en-US" sz="2400" dirty="0"/>
              <a:t>, </a:t>
            </a:r>
            <a:r>
              <a:rPr lang="en-US" sz="2400" dirty="0" err="1"/>
              <a:t>args</a:t>
            </a:r>
            <a:r>
              <a:rPr lang="en-US" sz="2400" dirty="0"/>
              <a:t>);</a:t>
            </a:r>
          </a:p>
          <a:p>
            <a:endParaRPr lang="en-US" sz="2400" dirty="0"/>
          </a:p>
        </p:txBody>
      </p:sp>
    </p:spTree>
    <p:extLst>
      <p:ext uri="{BB962C8B-B14F-4D97-AF65-F5344CB8AC3E}">
        <p14:creationId xmlns:p14="http://schemas.microsoft.com/office/powerpoint/2010/main" val="6540992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47BA2-F1A8-7238-D31A-BE869CA0262D}"/>
              </a:ext>
            </a:extLst>
          </p:cNvPr>
          <p:cNvSpPr>
            <a:spLocks noGrp="1"/>
          </p:cNvSpPr>
          <p:nvPr>
            <p:ph type="title"/>
          </p:nvPr>
        </p:nvSpPr>
        <p:spPr/>
        <p:txBody>
          <a:bodyPr>
            <a:normAutofit/>
          </a:bodyPr>
          <a:lstStyle/>
          <a:p>
            <a:r>
              <a:rPr lang="en-US" sz="3600" dirty="0"/>
              <a:t>Traditional Spring / Servlet Project (Comparison)</a:t>
            </a:r>
          </a:p>
        </p:txBody>
      </p:sp>
      <p:sp>
        <p:nvSpPr>
          <p:cNvPr id="3" name="Content Placeholder 2">
            <a:extLst>
              <a:ext uri="{FF2B5EF4-FFF2-40B4-BE49-F238E27FC236}">
                <a16:creationId xmlns:a16="http://schemas.microsoft.com/office/drawing/2014/main" id="{570A5E46-C34B-810D-5AEE-12D9657C73B7}"/>
              </a:ext>
            </a:extLst>
          </p:cNvPr>
          <p:cNvSpPr>
            <a:spLocks noGrp="1"/>
          </p:cNvSpPr>
          <p:nvPr>
            <p:ph idx="1"/>
          </p:nvPr>
        </p:nvSpPr>
        <p:spPr/>
        <p:txBody>
          <a:bodyPr>
            <a:normAutofit/>
          </a:bodyPr>
          <a:lstStyle/>
          <a:p>
            <a:r>
              <a:rPr lang="en-US" sz="2400" b="1" dirty="0"/>
              <a:t>In Traditional Servlet / Spring MVC:</a:t>
            </a:r>
          </a:p>
          <a:p>
            <a:pPr marL="971550" lvl="1" indent="-514350">
              <a:buFont typeface="+mj-lt"/>
              <a:buAutoNum type="arabicPeriod"/>
            </a:pPr>
            <a:r>
              <a:rPr lang="en-US" dirty="0"/>
              <a:t>No embedded server</a:t>
            </a:r>
          </a:p>
          <a:p>
            <a:pPr marL="971550" lvl="1" indent="-514350">
              <a:buFont typeface="+mj-lt"/>
              <a:buAutoNum type="arabicPeriod"/>
            </a:pPr>
            <a:r>
              <a:rPr lang="en-US" dirty="0"/>
              <a:t>Needs external Tomcat</a:t>
            </a:r>
          </a:p>
          <a:p>
            <a:pPr marL="971550" lvl="1" indent="-514350">
              <a:buFont typeface="+mj-lt"/>
              <a:buAutoNum type="arabicPeriod"/>
            </a:pPr>
            <a:r>
              <a:rPr lang="en-US" dirty="0"/>
              <a:t>So, IDE shows: Run As → Run on Server</a:t>
            </a:r>
          </a:p>
          <a:p>
            <a:pPr marL="971550" lvl="1" indent="-514350">
              <a:buFont typeface="+mj-lt"/>
              <a:buAutoNum type="arabicPeriod"/>
            </a:pPr>
            <a:endParaRPr lang="en-US" dirty="0"/>
          </a:p>
          <a:p>
            <a:r>
              <a:rPr lang="en-US" sz="2400" b="1" dirty="0"/>
              <a:t>In Spring Boot:</a:t>
            </a:r>
          </a:p>
          <a:p>
            <a:pPr marL="914400" lvl="1" indent="-457200">
              <a:buFont typeface="+mj-lt"/>
              <a:buAutoNum type="arabicPeriod"/>
            </a:pPr>
            <a:r>
              <a:rPr lang="en-US" dirty="0"/>
              <a:t>Embedded Tomcat inside JAR</a:t>
            </a:r>
          </a:p>
          <a:p>
            <a:pPr marL="914400" lvl="1" indent="-457200">
              <a:buFont typeface="+mj-lt"/>
              <a:buAutoNum type="arabicPeriod"/>
            </a:pPr>
            <a:r>
              <a:rPr lang="en-US" dirty="0"/>
              <a:t>So, IDE shows: Run As → Java Application</a:t>
            </a:r>
          </a:p>
          <a:p>
            <a:endParaRPr lang="en-US" sz="2400" dirty="0"/>
          </a:p>
        </p:txBody>
      </p:sp>
    </p:spTree>
    <p:extLst>
      <p:ext uri="{BB962C8B-B14F-4D97-AF65-F5344CB8AC3E}">
        <p14:creationId xmlns:p14="http://schemas.microsoft.com/office/powerpoint/2010/main" val="29475577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43929-7694-9367-08CD-0DE3CB2B1125}"/>
              </a:ext>
            </a:extLst>
          </p:cNvPr>
          <p:cNvSpPr>
            <a:spLocks noGrp="1"/>
          </p:cNvSpPr>
          <p:nvPr>
            <p:ph type="title"/>
          </p:nvPr>
        </p:nvSpPr>
        <p:spPr/>
        <p:txBody>
          <a:bodyPr>
            <a:normAutofit/>
          </a:bodyPr>
          <a:lstStyle/>
          <a:p>
            <a:r>
              <a:rPr lang="en-US" sz="3600" dirty="0"/>
              <a:t>Spring Boot Starters</a:t>
            </a:r>
            <a:br>
              <a:rPr lang="en-US" sz="3600" dirty="0"/>
            </a:br>
            <a:endParaRPr lang="en-US" sz="3600" dirty="0"/>
          </a:p>
        </p:txBody>
      </p:sp>
      <p:sp>
        <p:nvSpPr>
          <p:cNvPr id="3" name="Content Placeholder 2">
            <a:extLst>
              <a:ext uri="{FF2B5EF4-FFF2-40B4-BE49-F238E27FC236}">
                <a16:creationId xmlns:a16="http://schemas.microsoft.com/office/drawing/2014/main" id="{262D4483-D026-097B-DC0E-5523381719FF}"/>
              </a:ext>
            </a:extLst>
          </p:cNvPr>
          <p:cNvSpPr>
            <a:spLocks noGrp="1"/>
          </p:cNvSpPr>
          <p:nvPr>
            <p:ph idx="1"/>
          </p:nvPr>
        </p:nvSpPr>
        <p:spPr>
          <a:xfrm>
            <a:off x="838200" y="1371600"/>
            <a:ext cx="10515600" cy="4805363"/>
          </a:xfrm>
        </p:spPr>
        <p:txBody>
          <a:bodyPr>
            <a:normAutofit/>
          </a:bodyPr>
          <a:lstStyle/>
          <a:p>
            <a:pPr algn="just"/>
            <a:r>
              <a:rPr lang="en-US" sz="2400" dirty="0"/>
              <a:t>Handling dependency management is a difficult task for big projects. Spring Boot resolves this problem by providing a set of dependencies for developers convenience.</a:t>
            </a:r>
          </a:p>
          <a:p>
            <a:pPr algn="just"/>
            <a:r>
              <a:rPr lang="en-US" sz="2400" dirty="0"/>
              <a:t>For example, if you want to use Spring and JPA for database access, it is sufficient if you include </a:t>
            </a:r>
            <a:r>
              <a:rPr lang="en-US" sz="2400" b="1" dirty="0"/>
              <a:t>spring-boot-starter-data-</a:t>
            </a:r>
            <a:r>
              <a:rPr lang="en-US" sz="2400" b="1" dirty="0" err="1"/>
              <a:t>jpa</a:t>
            </a:r>
            <a:r>
              <a:rPr lang="en-US" sz="2400" dirty="0"/>
              <a:t> dependency in your project.</a:t>
            </a:r>
          </a:p>
          <a:p>
            <a:pPr algn="just"/>
            <a:r>
              <a:rPr lang="en-US" sz="2400" dirty="0"/>
              <a:t>Note that all Spring Boot starters follow the same naming pattern </a:t>
            </a:r>
            <a:r>
              <a:rPr lang="en-US" sz="2400" b="1" dirty="0"/>
              <a:t>spring-boot-starter-</a:t>
            </a:r>
            <a:r>
              <a:rPr lang="en-US" sz="2400" dirty="0"/>
              <a:t> *, where * indicates that it is a type of the application.</a:t>
            </a:r>
          </a:p>
          <a:p>
            <a:pPr algn="just"/>
            <a:endParaRPr lang="en-US" sz="2400" dirty="0"/>
          </a:p>
        </p:txBody>
      </p:sp>
    </p:spTree>
    <p:extLst>
      <p:ext uri="{BB962C8B-B14F-4D97-AF65-F5344CB8AC3E}">
        <p14:creationId xmlns:p14="http://schemas.microsoft.com/office/powerpoint/2010/main" val="3137407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5F5C-ACA4-C867-0F6C-C5A396F23037}"/>
              </a:ext>
            </a:extLst>
          </p:cNvPr>
          <p:cNvSpPr>
            <a:spLocks noGrp="1"/>
          </p:cNvSpPr>
          <p:nvPr>
            <p:ph type="title"/>
          </p:nvPr>
        </p:nvSpPr>
        <p:spPr>
          <a:xfrm>
            <a:off x="704088" y="-310895"/>
            <a:ext cx="10649712" cy="2001584"/>
          </a:xfrm>
        </p:spPr>
        <p:txBody>
          <a:bodyPr>
            <a:normAutofit/>
          </a:bodyPr>
          <a:lstStyle/>
          <a:p>
            <a:r>
              <a:rPr lang="en-US" sz="3600" dirty="0"/>
              <a:t>Examples</a:t>
            </a:r>
            <a:br>
              <a:rPr lang="en-US" sz="3600" dirty="0"/>
            </a:br>
            <a:endParaRPr lang="en-US" sz="3600" dirty="0"/>
          </a:p>
        </p:txBody>
      </p:sp>
      <p:sp>
        <p:nvSpPr>
          <p:cNvPr id="3" name="Content Placeholder 2">
            <a:extLst>
              <a:ext uri="{FF2B5EF4-FFF2-40B4-BE49-F238E27FC236}">
                <a16:creationId xmlns:a16="http://schemas.microsoft.com/office/drawing/2014/main" id="{EE21048D-F10F-2D82-0576-B79A02A8E90A}"/>
              </a:ext>
            </a:extLst>
          </p:cNvPr>
          <p:cNvSpPr>
            <a:spLocks noGrp="1"/>
          </p:cNvSpPr>
          <p:nvPr>
            <p:ph idx="1"/>
          </p:nvPr>
        </p:nvSpPr>
        <p:spPr>
          <a:xfrm>
            <a:off x="704088" y="841248"/>
            <a:ext cx="10649712" cy="5335715"/>
          </a:xfrm>
        </p:spPr>
        <p:txBody>
          <a:bodyPr>
            <a:normAutofit/>
          </a:bodyPr>
          <a:lstStyle/>
          <a:p>
            <a:pPr algn="just"/>
            <a:r>
              <a:rPr lang="en-US" sz="1800" dirty="0"/>
              <a:t>Look at the following Spring Boot starters explained below for a better understanding −</a:t>
            </a:r>
          </a:p>
          <a:p>
            <a:pPr algn="just"/>
            <a:r>
              <a:rPr lang="en-US" sz="1800" b="1" dirty="0"/>
              <a:t>Spring Boot Starter Actuator dependency</a:t>
            </a:r>
            <a:r>
              <a:rPr lang="en-US" sz="1800" dirty="0"/>
              <a:t> is used to monitor and manage your application. Its code is shown below −</a:t>
            </a:r>
          </a:p>
          <a:p>
            <a:pPr marL="457200" lvl="1" indent="0" algn="just">
              <a:buNone/>
            </a:pPr>
            <a:r>
              <a:rPr lang="en-US" sz="1800" dirty="0"/>
              <a:t>&lt;dependency&gt;</a:t>
            </a:r>
          </a:p>
          <a:p>
            <a:pPr marL="457200" lvl="1" indent="0" algn="just">
              <a:buNone/>
            </a:pPr>
            <a:r>
              <a:rPr lang="en-US" sz="1800" dirty="0"/>
              <a:t>   &lt;</a:t>
            </a:r>
            <a:r>
              <a:rPr lang="en-US" sz="1800" dirty="0" err="1"/>
              <a:t>groupId</a:t>
            </a:r>
            <a:r>
              <a:rPr lang="en-US" sz="1800" dirty="0"/>
              <a:t>&gt;</a:t>
            </a:r>
            <a:r>
              <a:rPr lang="en-US" sz="1800" dirty="0" err="1"/>
              <a:t>org.springframework.boot</a:t>
            </a:r>
            <a:r>
              <a:rPr lang="en-US" sz="1800" dirty="0"/>
              <a:t>&lt;/</a:t>
            </a:r>
            <a:r>
              <a:rPr lang="en-US" sz="1800" dirty="0" err="1"/>
              <a:t>groupId</a:t>
            </a:r>
            <a:r>
              <a:rPr lang="en-US" sz="1800" dirty="0"/>
              <a:t>&gt;</a:t>
            </a:r>
          </a:p>
          <a:p>
            <a:pPr marL="457200" lvl="1" indent="0" algn="just">
              <a:buNone/>
            </a:pPr>
            <a:r>
              <a:rPr lang="en-US" sz="1800" dirty="0"/>
              <a:t>   &lt;</a:t>
            </a:r>
            <a:r>
              <a:rPr lang="en-US" sz="1800" dirty="0" err="1"/>
              <a:t>artifactId</a:t>
            </a:r>
            <a:r>
              <a:rPr lang="en-US" sz="1800" dirty="0"/>
              <a:t>&gt;spring-boot-starter-actuator&lt;/</a:t>
            </a:r>
            <a:r>
              <a:rPr lang="en-US" sz="1800" dirty="0" err="1"/>
              <a:t>artifactId</a:t>
            </a:r>
            <a:r>
              <a:rPr lang="en-US" sz="1800" dirty="0"/>
              <a:t>&gt;</a:t>
            </a:r>
          </a:p>
          <a:p>
            <a:pPr marL="457200" lvl="1" indent="0" algn="just">
              <a:buNone/>
            </a:pPr>
            <a:r>
              <a:rPr lang="en-US" sz="1800" dirty="0"/>
              <a:t>&lt;/dependency&gt;</a:t>
            </a:r>
          </a:p>
          <a:p>
            <a:pPr marL="457200" lvl="1" indent="0" algn="just">
              <a:buNone/>
            </a:pPr>
            <a:endParaRPr lang="en-US" sz="1500" dirty="0"/>
          </a:p>
          <a:p>
            <a:pPr marL="0" indent="0" algn="just">
              <a:buNone/>
            </a:pPr>
            <a:br>
              <a:rPr lang="en-US" sz="1000" dirty="0"/>
            </a:br>
            <a:endParaRPr lang="en-US" sz="1000" dirty="0"/>
          </a:p>
        </p:txBody>
      </p:sp>
      <p:graphicFrame>
        <p:nvGraphicFramePr>
          <p:cNvPr id="4" name="Table 3">
            <a:extLst>
              <a:ext uri="{FF2B5EF4-FFF2-40B4-BE49-F238E27FC236}">
                <a16:creationId xmlns:a16="http://schemas.microsoft.com/office/drawing/2014/main" id="{49D7E95C-835C-7D2E-3EA3-4F42ECC5C91B}"/>
              </a:ext>
            </a:extLst>
          </p:cNvPr>
          <p:cNvGraphicFramePr>
            <a:graphicFrameLocks noGrp="1"/>
          </p:cNvGraphicFramePr>
          <p:nvPr>
            <p:extLst>
              <p:ext uri="{D42A27DB-BD31-4B8C-83A1-F6EECF244321}">
                <p14:modId xmlns:p14="http://schemas.microsoft.com/office/powerpoint/2010/main" val="417779610"/>
              </p:ext>
            </p:extLst>
          </p:nvPr>
        </p:nvGraphicFramePr>
        <p:xfrm>
          <a:off x="838200" y="3250882"/>
          <a:ext cx="10515600" cy="3200400"/>
        </p:xfrm>
        <a:graphic>
          <a:graphicData uri="http://schemas.openxmlformats.org/drawingml/2006/table">
            <a:tbl>
              <a:tblPr/>
              <a:tblGrid>
                <a:gridCol w="5257800">
                  <a:extLst>
                    <a:ext uri="{9D8B030D-6E8A-4147-A177-3AD203B41FA5}">
                      <a16:colId xmlns:a16="http://schemas.microsoft.com/office/drawing/2014/main" val="2702833178"/>
                    </a:ext>
                  </a:extLst>
                </a:gridCol>
                <a:gridCol w="5257800">
                  <a:extLst>
                    <a:ext uri="{9D8B030D-6E8A-4147-A177-3AD203B41FA5}">
                      <a16:colId xmlns:a16="http://schemas.microsoft.com/office/drawing/2014/main" val="1206925248"/>
                    </a:ext>
                  </a:extLst>
                </a:gridCol>
              </a:tblGrid>
              <a:tr h="24634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Common Actuator Endpoints (Must Know)</a:t>
                      </a:r>
                      <a:endParaRPr lang="en-US" dirty="0"/>
                    </a:p>
                    <a:p>
                      <a:pPr>
                        <a:buNone/>
                      </a:pPr>
                      <a:r>
                        <a:rPr lang="en-US" dirty="0"/>
                        <a:t>Endpoint                                                                             </a:t>
                      </a:r>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1990540607"/>
                  </a:ext>
                </a:extLst>
              </a:tr>
              <a:tr h="246340">
                <a:tc>
                  <a:txBody>
                    <a:bodyPr/>
                    <a:lstStyle/>
                    <a:p>
                      <a:pPr>
                        <a:buNone/>
                      </a:pPr>
                      <a:r>
                        <a:rPr lang="en-US" dirty="0">
                          <a:latin typeface="Courier New" panose="02070309020205020404" pitchFamily="49" charset="0"/>
                        </a:rPr>
                        <a:t>/actuator/health</a:t>
                      </a:r>
                      <a:endParaRPr lang="en-US" dirty="0"/>
                    </a:p>
                  </a:txBody>
                  <a:tcPr anchor="ctr">
                    <a:lnL>
                      <a:noFill/>
                    </a:lnL>
                    <a:lnR>
                      <a:noFill/>
                    </a:lnR>
                    <a:lnT>
                      <a:noFill/>
                    </a:lnT>
                    <a:lnB>
                      <a:noFill/>
                    </a:lnB>
                    <a:noFill/>
                  </a:tcPr>
                </a:tc>
                <a:tc>
                  <a:txBody>
                    <a:bodyPr/>
                    <a:lstStyle/>
                    <a:p>
                      <a:pPr>
                        <a:buNone/>
                      </a:pPr>
                      <a:r>
                        <a:rPr lang="en-US" dirty="0"/>
                        <a:t>Shows app health (UP / DOWN)</a:t>
                      </a:r>
                    </a:p>
                  </a:txBody>
                  <a:tcPr anchor="ctr">
                    <a:lnL>
                      <a:noFill/>
                    </a:lnL>
                    <a:lnR>
                      <a:noFill/>
                    </a:lnR>
                    <a:lnT>
                      <a:noFill/>
                    </a:lnT>
                    <a:lnB>
                      <a:noFill/>
                    </a:lnB>
                    <a:noFill/>
                  </a:tcPr>
                </a:tc>
                <a:extLst>
                  <a:ext uri="{0D108BD9-81ED-4DB2-BD59-A6C34878D82A}">
                    <a16:rowId xmlns:a16="http://schemas.microsoft.com/office/drawing/2014/main" val="31201463"/>
                  </a:ext>
                </a:extLst>
              </a:tr>
              <a:tr h="246340">
                <a:tc>
                  <a:txBody>
                    <a:bodyPr/>
                    <a:lstStyle/>
                    <a:p>
                      <a:pPr>
                        <a:buNone/>
                      </a:pPr>
                      <a:r>
                        <a:rPr lang="en-US" dirty="0">
                          <a:latin typeface="Courier New" panose="02070309020205020404" pitchFamily="49" charset="0"/>
                        </a:rPr>
                        <a:t>/actuator/info</a:t>
                      </a:r>
                      <a:endParaRPr lang="en-US" dirty="0"/>
                    </a:p>
                  </a:txBody>
                  <a:tcPr anchor="ctr">
                    <a:lnL>
                      <a:noFill/>
                    </a:lnL>
                    <a:lnR>
                      <a:noFill/>
                    </a:lnR>
                    <a:lnT>
                      <a:noFill/>
                    </a:lnT>
                    <a:lnB>
                      <a:noFill/>
                    </a:lnB>
                    <a:noFill/>
                  </a:tcPr>
                </a:tc>
                <a:tc>
                  <a:txBody>
                    <a:bodyPr/>
                    <a:lstStyle/>
                    <a:p>
                      <a:pPr>
                        <a:buNone/>
                      </a:pPr>
                      <a:r>
                        <a:rPr lang="en-US"/>
                        <a:t>App information</a:t>
                      </a:r>
                    </a:p>
                  </a:txBody>
                  <a:tcPr anchor="ctr">
                    <a:lnL>
                      <a:noFill/>
                    </a:lnL>
                    <a:lnR>
                      <a:noFill/>
                    </a:lnR>
                    <a:lnT>
                      <a:noFill/>
                    </a:lnT>
                    <a:lnB>
                      <a:noFill/>
                    </a:lnB>
                    <a:noFill/>
                  </a:tcPr>
                </a:tc>
                <a:extLst>
                  <a:ext uri="{0D108BD9-81ED-4DB2-BD59-A6C34878D82A}">
                    <a16:rowId xmlns:a16="http://schemas.microsoft.com/office/drawing/2014/main" val="2365835054"/>
                  </a:ext>
                </a:extLst>
              </a:tr>
              <a:tr h="246340">
                <a:tc>
                  <a:txBody>
                    <a:bodyPr/>
                    <a:lstStyle/>
                    <a:p>
                      <a:pPr>
                        <a:buNone/>
                      </a:pPr>
                      <a:r>
                        <a:rPr lang="en-US" dirty="0">
                          <a:latin typeface="Courier New" panose="02070309020205020404" pitchFamily="49" charset="0"/>
                        </a:rPr>
                        <a:t>/actuator/metrics</a:t>
                      </a:r>
                      <a:endParaRPr lang="en-US" dirty="0"/>
                    </a:p>
                  </a:txBody>
                  <a:tcPr anchor="ctr">
                    <a:lnL>
                      <a:noFill/>
                    </a:lnL>
                    <a:lnR>
                      <a:noFill/>
                    </a:lnR>
                    <a:lnT>
                      <a:noFill/>
                    </a:lnT>
                    <a:lnB>
                      <a:noFill/>
                    </a:lnB>
                    <a:noFill/>
                  </a:tcPr>
                </a:tc>
                <a:tc>
                  <a:txBody>
                    <a:bodyPr/>
                    <a:lstStyle/>
                    <a:p>
                      <a:pPr>
                        <a:buNone/>
                      </a:pPr>
                      <a:r>
                        <a:rPr lang="en-US"/>
                        <a:t>Performance metrics</a:t>
                      </a:r>
                    </a:p>
                  </a:txBody>
                  <a:tcPr anchor="ctr">
                    <a:lnL>
                      <a:noFill/>
                    </a:lnL>
                    <a:lnR>
                      <a:noFill/>
                    </a:lnR>
                    <a:lnT>
                      <a:noFill/>
                    </a:lnT>
                    <a:lnB>
                      <a:noFill/>
                    </a:lnB>
                    <a:noFill/>
                  </a:tcPr>
                </a:tc>
                <a:extLst>
                  <a:ext uri="{0D108BD9-81ED-4DB2-BD59-A6C34878D82A}">
                    <a16:rowId xmlns:a16="http://schemas.microsoft.com/office/drawing/2014/main" val="961727380"/>
                  </a:ext>
                </a:extLst>
              </a:tr>
              <a:tr h="246340">
                <a:tc>
                  <a:txBody>
                    <a:bodyPr/>
                    <a:lstStyle/>
                    <a:p>
                      <a:pPr>
                        <a:buNone/>
                      </a:pPr>
                      <a:r>
                        <a:rPr lang="en-US" dirty="0">
                          <a:latin typeface="Courier New" panose="02070309020205020404" pitchFamily="49" charset="0"/>
                        </a:rPr>
                        <a:t>/actuator/env</a:t>
                      </a:r>
                      <a:endParaRPr lang="en-US" dirty="0"/>
                    </a:p>
                  </a:txBody>
                  <a:tcPr anchor="ctr">
                    <a:lnL>
                      <a:noFill/>
                    </a:lnL>
                    <a:lnR>
                      <a:noFill/>
                    </a:lnR>
                    <a:lnT>
                      <a:noFill/>
                    </a:lnT>
                    <a:lnB>
                      <a:noFill/>
                    </a:lnB>
                    <a:noFill/>
                  </a:tcPr>
                </a:tc>
                <a:tc>
                  <a:txBody>
                    <a:bodyPr/>
                    <a:lstStyle/>
                    <a:p>
                      <a:pPr>
                        <a:buNone/>
                      </a:pPr>
                      <a:r>
                        <a:rPr lang="en-US"/>
                        <a:t>Environment properties</a:t>
                      </a:r>
                    </a:p>
                  </a:txBody>
                  <a:tcPr anchor="ctr">
                    <a:lnL>
                      <a:noFill/>
                    </a:lnL>
                    <a:lnR>
                      <a:noFill/>
                    </a:lnR>
                    <a:lnT>
                      <a:noFill/>
                    </a:lnT>
                    <a:lnB>
                      <a:noFill/>
                    </a:lnB>
                    <a:noFill/>
                  </a:tcPr>
                </a:tc>
                <a:extLst>
                  <a:ext uri="{0D108BD9-81ED-4DB2-BD59-A6C34878D82A}">
                    <a16:rowId xmlns:a16="http://schemas.microsoft.com/office/drawing/2014/main" val="1217502062"/>
                  </a:ext>
                </a:extLst>
              </a:tr>
              <a:tr h="246340">
                <a:tc>
                  <a:txBody>
                    <a:bodyPr/>
                    <a:lstStyle/>
                    <a:p>
                      <a:pPr>
                        <a:buNone/>
                      </a:pPr>
                      <a:r>
                        <a:rPr lang="en-US">
                          <a:latin typeface="Courier New" panose="02070309020205020404" pitchFamily="49" charset="0"/>
                        </a:rPr>
                        <a:t>/actuator/beans</a:t>
                      </a:r>
                      <a:endParaRPr lang="en-US"/>
                    </a:p>
                  </a:txBody>
                  <a:tcPr anchor="ctr">
                    <a:lnL>
                      <a:noFill/>
                    </a:lnL>
                    <a:lnR>
                      <a:noFill/>
                    </a:lnR>
                    <a:lnT>
                      <a:noFill/>
                    </a:lnT>
                    <a:lnB>
                      <a:noFill/>
                    </a:lnB>
                    <a:noFill/>
                  </a:tcPr>
                </a:tc>
                <a:tc>
                  <a:txBody>
                    <a:bodyPr/>
                    <a:lstStyle/>
                    <a:p>
                      <a:pPr>
                        <a:buNone/>
                      </a:pPr>
                      <a:r>
                        <a:rPr lang="en-US"/>
                        <a:t>All Spring beans</a:t>
                      </a:r>
                    </a:p>
                  </a:txBody>
                  <a:tcPr anchor="ctr">
                    <a:lnL>
                      <a:noFill/>
                    </a:lnL>
                    <a:lnR>
                      <a:noFill/>
                    </a:lnR>
                    <a:lnT>
                      <a:noFill/>
                    </a:lnT>
                    <a:lnB>
                      <a:noFill/>
                    </a:lnB>
                    <a:noFill/>
                  </a:tcPr>
                </a:tc>
                <a:extLst>
                  <a:ext uri="{0D108BD9-81ED-4DB2-BD59-A6C34878D82A}">
                    <a16:rowId xmlns:a16="http://schemas.microsoft.com/office/drawing/2014/main" val="1240023462"/>
                  </a:ext>
                </a:extLst>
              </a:tr>
              <a:tr h="246340">
                <a:tc>
                  <a:txBody>
                    <a:bodyPr/>
                    <a:lstStyle/>
                    <a:p>
                      <a:pPr>
                        <a:buNone/>
                      </a:pPr>
                      <a:r>
                        <a:rPr lang="en-US">
                          <a:latin typeface="Courier New" panose="02070309020205020404" pitchFamily="49" charset="0"/>
                        </a:rPr>
                        <a:t>/actuator/mappings</a:t>
                      </a:r>
                      <a:endParaRPr lang="en-US"/>
                    </a:p>
                  </a:txBody>
                  <a:tcPr anchor="ctr">
                    <a:lnL>
                      <a:noFill/>
                    </a:lnL>
                    <a:lnR>
                      <a:noFill/>
                    </a:lnR>
                    <a:lnT>
                      <a:noFill/>
                    </a:lnT>
                    <a:lnB>
                      <a:noFill/>
                    </a:lnB>
                    <a:noFill/>
                  </a:tcPr>
                </a:tc>
                <a:tc>
                  <a:txBody>
                    <a:bodyPr/>
                    <a:lstStyle/>
                    <a:p>
                      <a:pPr>
                        <a:buNone/>
                      </a:pPr>
                      <a:r>
                        <a:rPr lang="en-US"/>
                        <a:t>URL mappings</a:t>
                      </a:r>
                    </a:p>
                  </a:txBody>
                  <a:tcPr anchor="ctr">
                    <a:lnL>
                      <a:noFill/>
                    </a:lnL>
                    <a:lnR>
                      <a:noFill/>
                    </a:lnR>
                    <a:lnT>
                      <a:noFill/>
                    </a:lnT>
                    <a:lnB>
                      <a:noFill/>
                    </a:lnB>
                    <a:noFill/>
                  </a:tcPr>
                </a:tc>
                <a:extLst>
                  <a:ext uri="{0D108BD9-81ED-4DB2-BD59-A6C34878D82A}">
                    <a16:rowId xmlns:a16="http://schemas.microsoft.com/office/drawing/2014/main" val="3796715878"/>
                  </a:ext>
                </a:extLst>
              </a:tr>
              <a:tr h="246340">
                <a:tc>
                  <a:txBody>
                    <a:bodyPr/>
                    <a:lstStyle/>
                    <a:p>
                      <a:pPr>
                        <a:buNone/>
                      </a:pPr>
                      <a:r>
                        <a:rPr lang="en-US">
                          <a:latin typeface="Courier New" panose="02070309020205020404" pitchFamily="49" charset="0"/>
                        </a:rPr>
                        <a:t>/actuator/loggers</a:t>
                      </a:r>
                      <a:endParaRPr lang="en-US"/>
                    </a:p>
                  </a:txBody>
                  <a:tcPr anchor="ctr">
                    <a:lnL>
                      <a:noFill/>
                    </a:lnL>
                    <a:lnR>
                      <a:noFill/>
                    </a:lnR>
                    <a:lnT>
                      <a:noFill/>
                    </a:lnT>
                    <a:lnB>
                      <a:noFill/>
                    </a:lnB>
                    <a:noFill/>
                  </a:tcPr>
                </a:tc>
                <a:tc>
                  <a:txBody>
                    <a:bodyPr/>
                    <a:lstStyle/>
                    <a:p>
                      <a:pPr>
                        <a:buNone/>
                      </a:pPr>
                      <a:r>
                        <a:rPr lang="en-US" dirty="0"/>
                        <a:t>Change log levels</a:t>
                      </a:r>
                    </a:p>
                  </a:txBody>
                  <a:tcPr anchor="ctr">
                    <a:lnL>
                      <a:noFill/>
                    </a:lnL>
                    <a:lnR>
                      <a:noFill/>
                    </a:lnR>
                    <a:lnT>
                      <a:noFill/>
                    </a:lnT>
                    <a:lnB>
                      <a:noFill/>
                    </a:lnB>
                    <a:noFill/>
                  </a:tcPr>
                </a:tc>
                <a:extLst>
                  <a:ext uri="{0D108BD9-81ED-4DB2-BD59-A6C34878D82A}">
                    <a16:rowId xmlns:a16="http://schemas.microsoft.com/office/drawing/2014/main" val="53731328"/>
                  </a:ext>
                </a:extLst>
              </a:tr>
            </a:tbl>
          </a:graphicData>
        </a:graphic>
      </p:graphicFrame>
    </p:spTree>
    <p:extLst>
      <p:ext uri="{BB962C8B-B14F-4D97-AF65-F5344CB8AC3E}">
        <p14:creationId xmlns:p14="http://schemas.microsoft.com/office/powerpoint/2010/main" val="36881330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C952DC-16D3-B094-86DF-26CB549E8F7F}"/>
              </a:ext>
            </a:extLst>
          </p:cNvPr>
          <p:cNvSpPr>
            <a:spLocks noGrp="1"/>
          </p:cNvSpPr>
          <p:nvPr>
            <p:ph idx="1"/>
          </p:nvPr>
        </p:nvSpPr>
        <p:spPr>
          <a:xfrm>
            <a:off x="630936" y="402336"/>
            <a:ext cx="10722864" cy="5774627"/>
          </a:xfrm>
        </p:spPr>
        <p:txBody>
          <a:bodyPr>
            <a:noAutofit/>
          </a:bodyPr>
          <a:lstStyle/>
          <a:p>
            <a:r>
              <a:rPr lang="en-US" sz="2400" b="1" dirty="0"/>
              <a:t>Spring Boot Starter Security dependency</a:t>
            </a:r>
            <a:r>
              <a:rPr lang="en-US" sz="2400" dirty="0"/>
              <a:t> is used for Spring Security. Its code is shown below −</a:t>
            </a:r>
          </a:p>
          <a:p>
            <a:pPr marL="0" indent="0">
              <a:buNone/>
            </a:pPr>
            <a:r>
              <a:rPr lang="en-US" sz="2400" dirty="0"/>
              <a:t>&lt;dependency&gt;</a:t>
            </a:r>
          </a:p>
          <a:p>
            <a:pPr marL="0" indent="0">
              <a:buNone/>
            </a:pPr>
            <a:r>
              <a:rPr lang="en-US" sz="2400" dirty="0"/>
              <a:t>   &lt;</a:t>
            </a:r>
            <a:r>
              <a:rPr lang="en-US" sz="2400" dirty="0" err="1"/>
              <a:t>groupId</a:t>
            </a:r>
            <a:r>
              <a:rPr lang="en-US" sz="2400" dirty="0"/>
              <a:t>&gt;</a:t>
            </a:r>
            <a:r>
              <a:rPr lang="en-US" sz="2400" dirty="0" err="1"/>
              <a:t>org.springframework.boot</a:t>
            </a:r>
            <a:r>
              <a:rPr lang="en-US" sz="2400" dirty="0"/>
              <a:t>&lt;/</a:t>
            </a:r>
            <a:r>
              <a:rPr lang="en-US" sz="2400" dirty="0" err="1"/>
              <a:t>groupId</a:t>
            </a:r>
            <a:r>
              <a:rPr lang="en-US" sz="2400" dirty="0"/>
              <a:t>&gt;</a:t>
            </a:r>
          </a:p>
          <a:p>
            <a:pPr marL="0" indent="0">
              <a:buNone/>
            </a:pPr>
            <a:r>
              <a:rPr lang="en-US" sz="2400" dirty="0"/>
              <a:t>   &lt;</a:t>
            </a:r>
            <a:r>
              <a:rPr lang="en-US" sz="2400" dirty="0" err="1"/>
              <a:t>artifactId</a:t>
            </a:r>
            <a:r>
              <a:rPr lang="en-US" sz="2400" dirty="0"/>
              <a:t>&gt;spring-boot-starter-security&lt;/</a:t>
            </a:r>
            <a:r>
              <a:rPr lang="en-US" sz="2400" dirty="0" err="1"/>
              <a:t>artifactId</a:t>
            </a:r>
            <a:r>
              <a:rPr lang="en-US" sz="2400" dirty="0"/>
              <a:t>&gt;</a:t>
            </a:r>
          </a:p>
          <a:p>
            <a:pPr marL="0" indent="0">
              <a:buNone/>
            </a:pPr>
            <a:r>
              <a:rPr lang="en-US" sz="2400" dirty="0"/>
              <a:t>&lt;/dependency&gt;</a:t>
            </a:r>
          </a:p>
          <a:p>
            <a:pPr marL="0" indent="0">
              <a:buNone/>
            </a:pPr>
            <a:endParaRPr lang="en-US" sz="2400" dirty="0"/>
          </a:p>
          <a:p>
            <a:pPr algn="just"/>
            <a:r>
              <a:rPr lang="en-US" sz="2400" b="1" dirty="0"/>
              <a:t>Spring Boot Starter web dependency</a:t>
            </a:r>
            <a:r>
              <a:rPr lang="en-US" sz="2400" dirty="0"/>
              <a:t> is </a:t>
            </a:r>
            <a:r>
              <a:rPr lang="en-US" sz="2400" b="1" dirty="0"/>
              <a:t>used for </a:t>
            </a:r>
            <a:r>
              <a:rPr lang="en-US" sz="2400" dirty="0"/>
              <a:t>Creating </a:t>
            </a:r>
            <a:r>
              <a:rPr lang="en-US" sz="2400" b="1" dirty="0"/>
              <a:t>REST APIs, </a:t>
            </a:r>
            <a:r>
              <a:rPr lang="en-US" sz="2400" dirty="0"/>
              <a:t>Creating </a:t>
            </a:r>
            <a:r>
              <a:rPr lang="en-US" sz="2400" b="1" dirty="0"/>
              <a:t>web controllers, </a:t>
            </a:r>
            <a:r>
              <a:rPr lang="en-US" sz="2400" dirty="0"/>
              <a:t>Handling </a:t>
            </a:r>
            <a:r>
              <a:rPr lang="en-US" sz="2400" b="1" dirty="0"/>
              <a:t>HTTP requests &amp; responses and many more -</a:t>
            </a:r>
            <a:endParaRPr lang="en-US" sz="2400" dirty="0">
              <a:solidFill>
                <a:srgbClr val="FF0000"/>
              </a:solidFill>
            </a:endParaRPr>
          </a:p>
          <a:p>
            <a:pPr marL="0" indent="0">
              <a:buNone/>
            </a:pPr>
            <a:r>
              <a:rPr lang="en-US" sz="2400" dirty="0"/>
              <a:t>&lt;dependency&gt;</a:t>
            </a:r>
          </a:p>
          <a:p>
            <a:pPr marL="0" indent="0">
              <a:buNone/>
            </a:pPr>
            <a:r>
              <a:rPr lang="en-US" sz="2400" dirty="0"/>
              <a:t>   &lt;</a:t>
            </a:r>
            <a:r>
              <a:rPr lang="en-US" sz="2400" dirty="0" err="1"/>
              <a:t>groupId</a:t>
            </a:r>
            <a:r>
              <a:rPr lang="en-US" sz="2400" dirty="0"/>
              <a:t>&gt;</a:t>
            </a:r>
            <a:r>
              <a:rPr lang="en-US" sz="2400" dirty="0" err="1"/>
              <a:t>org.springframework.boot</a:t>
            </a:r>
            <a:r>
              <a:rPr lang="en-US" sz="2400" dirty="0"/>
              <a:t>&lt;/</a:t>
            </a:r>
            <a:r>
              <a:rPr lang="en-US" sz="2400" dirty="0" err="1"/>
              <a:t>groupId</a:t>
            </a:r>
            <a:r>
              <a:rPr lang="en-US" sz="2400" dirty="0"/>
              <a:t>&gt;</a:t>
            </a:r>
          </a:p>
          <a:p>
            <a:pPr marL="0" indent="0">
              <a:buNone/>
            </a:pPr>
            <a:r>
              <a:rPr lang="en-US" sz="2400" dirty="0"/>
              <a:t>   &lt;</a:t>
            </a:r>
            <a:r>
              <a:rPr lang="en-US" sz="2400" dirty="0" err="1"/>
              <a:t>artifactId</a:t>
            </a:r>
            <a:r>
              <a:rPr lang="en-US" sz="2400" dirty="0"/>
              <a:t>&gt;spring-boot-starter-web&lt;/</a:t>
            </a:r>
            <a:r>
              <a:rPr lang="en-US" sz="2400" dirty="0" err="1"/>
              <a:t>artifactId</a:t>
            </a:r>
            <a:r>
              <a:rPr lang="en-US" sz="2400" dirty="0"/>
              <a:t>&gt;</a:t>
            </a:r>
          </a:p>
          <a:p>
            <a:pPr marL="0" indent="0">
              <a:buNone/>
            </a:pPr>
            <a:r>
              <a:rPr lang="en-US" sz="2400" dirty="0"/>
              <a:t>&lt;/dependency&gt;</a:t>
            </a:r>
          </a:p>
          <a:p>
            <a:pPr marL="0" indent="0">
              <a:buNone/>
            </a:pPr>
            <a:br>
              <a:rPr lang="en-US" sz="2400" dirty="0"/>
            </a:br>
            <a:endParaRPr lang="en-US" sz="2400" dirty="0"/>
          </a:p>
        </p:txBody>
      </p:sp>
    </p:spTree>
    <p:extLst>
      <p:ext uri="{BB962C8B-B14F-4D97-AF65-F5344CB8AC3E}">
        <p14:creationId xmlns:p14="http://schemas.microsoft.com/office/powerpoint/2010/main" val="20618075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AD4959-D821-CC05-805E-636A60779EE6}"/>
              </a:ext>
            </a:extLst>
          </p:cNvPr>
          <p:cNvSpPr>
            <a:spLocks noGrp="1"/>
          </p:cNvSpPr>
          <p:nvPr>
            <p:ph idx="1"/>
          </p:nvPr>
        </p:nvSpPr>
        <p:spPr>
          <a:xfrm>
            <a:off x="713232" y="512064"/>
            <a:ext cx="10640568" cy="5664899"/>
          </a:xfrm>
        </p:spPr>
        <p:txBody>
          <a:bodyPr>
            <a:noAutofit/>
          </a:bodyPr>
          <a:lstStyle/>
          <a:p>
            <a:r>
              <a:rPr lang="en-US" sz="2400" b="1" dirty="0"/>
              <a:t>Spring Boot Starter Thyme Leaf dependency</a:t>
            </a:r>
            <a:r>
              <a:rPr lang="en-US" sz="2400" dirty="0"/>
              <a:t> is used to create a web application. Its code is shown below −</a:t>
            </a:r>
          </a:p>
          <a:p>
            <a:pPr marL="0" indent="0">
              <a:buNone/>
            </a:pPr>
            <a:r>
              <a:rPr lang="en-US" sz="2400" dirty="0"/>
              <a:t>&lt;dependency&gt;</a:t>
            </a:r>
          </a:p>
          <a:p>
            <a:pPr marL="0" indent="0">
              <a:buNone/>
            </a:pPr>
            <a:r>
              <a:rPr lang="en-US" sz="2400" dirty="0"/>
              <a:t>   &lt;</a:t>
            </a:r>
            <a:r>
              <a:rPr lang="en-US" sz="2400" dirty="0" err="1"/>
              <a:t>groupId</a:t>
            </a:r>
            <a:r>
              <a:rPr lang="en-US" sz="2400" dirty="0"/>
              <a:t>&gt;</a:t>
            </a:r>
            <a:r>
              <a:rPr lang="en-US" sz="2400" dirty="0" err="1"/>
              <a:t>org.springframework.boot</a:t>
            </a:r>
            <a:r>
              <a:rPr lang="en-US" sz="2400" dirty="0"/>
              <a:t>&lt;/</a:t>
            </a:r>
            <a:r>
              <a:rPr lang="en-US" sz="2400" dirty="0" err="1"/>
              <a:t>groupId</a:t>
            </a:r>
            <a:r>
              <a:rPr lang="en-US" sz="2400" dirty="0"/>
              <a:t>&gt;</a:t>
            </a:r>
          </a:p>
          <a:p>
            <a:pPr marL="0" indent="0">
              <a:buNone/>
            </a:pPr>
            <a:r>
              <a:rPr lang="en-US" sz="2400" dirty="0"/>
              <a:t>   &lt;</a:t>
            </a:r>
            <a:r>
              <a:rPr lang="en-US" sz="2400" dirty="0" err="1"/>
              <a:t>artifactId</a:t>
            </a:r>
            <a:r>
              <a:rPr lang="en-US" sz="2400" dirty="0"/>
              <a:t>&gt;spring-boot-starter-</a:t>
            </a:r>
            <a:r>
              <a:rPr lang="en-US" sz="2400" dirty="0" err="1"/>
              <a:t>thymeleaf</a:t>
            </a:r>
            <a:r>
              <a:rPr lang="en-US" sz="2400" dirty="0"/>
              <a:t>&lt;/</a:t>
            </a:r>
            <a:r>
              <a:rPr lang="en-US" sz="2400" dirty="0" err="1"/>
              <a:t>artifactId</a:t>
            </a:r>
            <a:r>
              <a:rPr lang="en-US" sz="2400" dirty="0"/>
              <a:t>&gt;</a:t>
            </a:r>
          </a:p>
          <a:p>
            <a:pPr marL="0" indent="0">
              <a:buNone/>
            </a:pPr>
            <a:r>
              <a:rPr lang="en-US" sz="2400" dirty="0"/>
              <a:t>&lt;/dependency&gt;</a:t>
            </a:r>
          </a:p>
          <a:p>
            <a:endParaRPr lang="en-US" sz="2400" dirty="0"/>
          </a:p>
          <a:p>
            <a:r>
              <a:rPr lang="en-US" sz="2400" b="1" dirty="0"/>
              <a:t>Spring Boot Starter Test dependency</a:t>
            </a:r>
            <a:r>
              <a:rPr lang="en-US" sz="2400" dirty="0"/>
              <a:t> is used for writing Test cases. Its code is shown below −</a:t>
            </a:r>
          </a:p>
          <a:p>
            <a:pPr marL="0" indent="0">
              <a:buNone/>
            </a:pPr>
            <a:r>
              <a:rPr lang="en-US" sz="2400" dirty="0"/>
              <a:t>&lt;</a:t>
            </a:r>
            <a:r>
              <a:rPr lang="en-US" sz="2400" dirty="0" err="1"/>
              <a:t>dependency&amp;gt</a:t>
            </a:r>
            <a:endParaRPr lang="en-US" sz="2400" dirty="0"/>
          </a:p>
          <a:p>
            <a:pPr marL="0" indent="0">
              <a:buNone/>
            </a:pPr>
            <a:r>
              <a:rPr lang="en-US" sz="2400" dirty="0"/>
              <a:t>   &lt;</a:t>
            </a:r>
            <a:r>
              <a:rPr lang="en-US" sz="2400" dirty="0" err="1"/>
              <a:t>groupId</a:t>
            </a:r>
            <a:r>
              <a:rPr lang="en-US" sz="2400" dirty="0"/>
              <a:t>&gt;</a:t>
            </a:r>
            <a:r>
              <a:rPr lang="en-US" sz="2400" dirty="0" err="1"/>
              <a:t>org.springframework.boot</a:t>
            </a:r>
            <a:r>
              <a:rPr lang="en-US" sz="2400" dirty="0"/>
              <a:t>&lt;/</a:t>
            </a:r>
            <a:r>
              <a:rPr lang="en-US" sz="2400" dirty="0" err="1"/>
              <a:t>groupId</a:t>
            </a:r>
            <a:r>
              <a:rPr lang="en-US" sz="2400" dirty="0"/>
              <a:t>&gt;</a:t>
            </a:r>
          </a:p>
          <a:p>
            <a:pPr marL="0" indent="0">
              <a:buNone/>
            </a:pPr>
            <a:r>
              <a:rPr lang="en-US" sz="2400" dirty="0"/>
              <a:t>   &lt;</a:t>
            </a:r>
            <a:r>
              <a:rPr lang="en-US" sz="2400" dirty="0" err="1"/>
              <a:t>artifactId</a:t>
            </a:r>
            <a:r>
              <a:rPr lang="en-US" sz="2400" dirty="0"/>
              <a:t>&gt;spring-boot-starter-test&lt;/</a:t>
            </a:r>
            <a:r>
              <a:rPr lang="en-US" sz="2400" dirty="0" err="1"/>
              <a:t>artifactId</a:t>
            </a:r>
            <a:r>
              <a:rPr lang="en-US" sz="2400" dirty="0"/>
              <a:t>&gt;</a:t>
            </a:r>
          </a:p>
          <a:p>
            <a:pPr marL="0" indent="0">
              <a:buNone/>
            </a:pPr>
            <a:r>
              <a:rPr lang="en-US" sz="2400" dirty="0"/>
              <a:t>&lt;/dependency&gt;</a:t>
            </a:r>
          </a:p>
          <a:p>
            <a:pPr marL="0" indent="0">
              <a:buNone/>
            </a:pPr>
            <a:br>
              <a:rPr lang="en-US" sz="2400" dirty="0"/>
            </a:br>
            <a:endParaRPr lang="en-US" sz="2400" dirty="0"/>
          </a:p>
        </p:txBody>
      </p:sp>
    </p:spTree>
    <p:extLst>
      <p:ext uri="{BB962C8B-B14F-4D97-AF65-F5344CB8AC3E}">
        <p14:creationId xmlns:p14="http://schemas.microsoft.com/office/powerpoint/2010/main" val="32875084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6F9EB-E82F-35B7-484E-E6212C40E2EB}"/>
              </a:ext>
            </a:extLst>
          </p:cNvPr>
          <p:cNvSpPr>
            <a:spLocks noGrp="1"/>
          </p:cNvSpPr>
          <p:nvPr>
            <p:ph type="title"/>
          </p:nvPr>
        </p:nvSpPr>
        <p:spPr/>
        <p:txBody>
          <a:bodyPr>
            <a:normAutofit/>
          </a:bodyPr>
          <a:lstStyle/>
          <a:p>
            <a:r>
              <a:rPr lang="en-US" sz="3600" dirty="0"/>
              <a:t>Spring Boot Application</a:t>
            </a:r>
            <a:br>
              <a:rPr lang="en-US" sz="3600" dirty="0"/>
            </a:br>
            <a:endParaRPr lang="en-US" sz="3600" dirty="0"/>
          </a:p>
        </p:txBody>
      </p:sp>
      <p:sp>
        <p:nvSpPr>
          <p:cNvPr id="3" name="Content Placeholder 2">
            <a:extLst>
              <a:ext uri="{FF2B5EF4-FFF2-40B4-BE49-F238E27FC236}">
                <a16:creationId xmlns:a16="http://schemas.microsoft.com/office/drawing/2014/main" id="{80914FAA-B24A-C77D-82F6-60144693FA5F}"/>
              </a:ext>
            </a:extLst>
          </p:cNvPr>
          <p:cNvSpPr>
            <a:spLocks noGrp="1"/>
          </p:cNvSpPr>
          <p:nvPr>
            <p:ph idx="1"/>
          </p:nvPr>
        </p:nvSpPr>
        <p:spPr>
          <a:xfrm>
            <a:off x="838200" y="1353312"/>
            <a:ext cx="10515600" cy="4823651"/>
          </a:xfrm>
        </p:spPr>
        <p:txBody>
          <a:bodyPr>
            <a:noAutofit/>
          </a:bodyPr>
          <a:lstStyle/>
          <a:p>
            <a:pPr algn="just"/>
            <a:r>
              <a:rPr lang="en-US" sz="2400" dirty="0"/>
              <a:t>The entry point of the Spring Boot Application is the class contains </a:t>
            </a:r>
            <a:r>
              <a:rPr lang="en-US" sz="2400" b="1" dirty="0"/>
              <a:t>@SpringBootApplication</a:t>
            </a:r>
            <a:r>
              <a:rPr lang="en-US" sz="2400" dirty="0"/>
              <a:t> annotation. This class should have the main method to run the Spring Boot application. </a:t>
            </a:r>
          </a:p>
          <a:p>
            <a:pPr algn="just"/>
            <a:r>
              <a:rPr lang="en-US" sz="2400" b="1" dirty="0"/>
              <a:t>@SpringBootApplication</a:t>
            </a:r>
            <a:r>
              <a:rPr lang="en-US" sz="2400" dirty="0"/>
              <a:t> annotation includes </a:t>
            </a:r>
          </a:p>
          <a:p>
            <a:pPr marL="914400" lvl="1" indent="-457200" algn="just">
              <a:buFont typeface="+mj-lt"/>
              <a:buAutoNum type="alphaLcParenR"/>
            </a:pPr>
            <a:r>
              <a:rPr lang="en-US" dirty="0"/>
              <a:t>Auto- Configuration</a:t>
            </a:r>
          </a:p>
          <a:p>
            <a:pPr marL="914400" lvl="1" indent="-457200" algn="just">
              <a:buFont typeface="+mj-lt"/>
              <a:buAutoNum type="alphaLcParenR"/>
            </a:pPr>
            <a:r>
              <a:rPr lang="en-US" dirty="0"/>
              <a:t>Component Scan</a:t>
            </a:r>
          </a:p>
          <a:p>
            <a:pPr marL="914400" lvl="1" indent="-457200" algn="just">
              <a:buFont typeface="+mj-lt"/>
              <a:buAutoNum type="alphaLcParenR"/>
            </a:pPr>
            <a:r>
              <a:rPr lang="en-US" dirty="0"/>
              <a:t>Spring Boot Configuration.</a:t>
            </a:r>
          </a:p>
          <a:p>
            <a:pPr algn="just"/>
            <a:r>
              <a:rPr lang="en-US" sz="2400" dirty="0"/>
              <a:t>If you added </a:t>
            </a:r>
            <a:r>
              <a:rPr lang="en-US" sz="2400" b="1" dirty="0"/>
              <a:t>@SpringBootApplication</a:t>
            </a:r>
            <a:r>
              <a:rPr lang="en-US" sz="2400" dirty="0"/>
              <a:t> annotation to the class, you do not need to add the : </a:t>
            </a:r>
          </a:p>
          <a:p>
            <a:pPr marL="914400" lvl="1" indent="-457200" algn="just">
              <a:buFont typeface="+mj-lt"/>
              <a:buAutoNum type="alphaLcParenR"/>
            </a:pPr>
            <a:r>
              <a:rPr lang="en-US" b="1" dirty="0"/>
              <a:t>@EnableAutoConfiguration </a:t>
            </a:r>
          </a:p>
          <a:p>
            <a:pPr marL="914400" lvl="1" indent="-457200" algn="just">
              <a:buFont typeface="+mj-lt"/>
              <a:buAutoNum type="alphaLcParenR"/>
            </a:pPr>
            <a:r>
              <a:rPr lang="en-US" b="1" dirty="0"/>
              <a:t>@ComponentScan</a:t>
            </a:r>
            <a:r>
              <a:rPr lang="en-US" dirty="0"/>
              <a:t> </a:t>
            </a:r>
          </a:p>
          <a:p>
            <a:pPr marL="914400" lvl="1" indent="-457200" algn="just">
              <a:buFont typeface="+mj-lt"/>
              <a:buAutoNum type="alphaLcParenR"/>
            </a:pPr>
            <a:r>
              <a:rPr lang="en-US" b="1" dirty="0"/>
              <a:t>@SpringBootConfiguration</a:t>
            </a:r>
            <a:r>
              <a:rPr lang="en-US" dirty="0"/>
              <a:t> annotation.</a:t>
            </a:r>
            <a:endParaRPr lang="en-US" sz="2400" dirty="0"/>
          </a:p>
          <a:p>
            <a:pPr algn="just"/>
            <a:r>
              <a:rPr lang="en-US" sz="2400" dirty="0"/>
              <a:t>The </a:t>
            </a:r>
            <a:r>
              <a:rPr lang="en-US" sz="2400" b="1" dirty="0"/>
              <a:t>@SpringBootApplication</a:t>
            </a:r>
            <a:r>
              <a:rPr lang="en-US" sz="2400" dirty="0"/>
              <a:t> annotation includes all other annotations.</a:t>
            </a:r>
          </a:p>
          <a:p>
            <a:pPr algn="just"/>
            <a:endParaRPr lang="en-US" sz="2400" dirty="0"/>
          </a:p>
        </p:txBody>
      </p:sp>
    </p:spTree>
    <p:extLst>
      <p:ext uri="{BB962C8B-B14F-4D97-AF65-F5344CB8AC3E}">
        <p14:creationId xmlns:p14="http://schemas.microsoft.com/office/powerpoint/2010/main" val="704970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643D0-BA32-BC11-1594-7DD48FDCFA10}"/>
              </a:ext>
            </a:extLst>
          </p:cNvPr>
          <p:cNvSpPr>
            <a:spLocks noGrp="1"/>
          </p:cNvSpPr>
          <p:nvPr>
            <p:ph type="title"/>
          </p:nvPr>
        </p:nvSpPr>
        <p:spPr/>
        <p:txBody>
          <a:bodyPr>
            <a:normAutofit/>
          </a:bodyPr>
          <a:lstStyle/>
          <a:p>
            <a:r>
              <a:rPr lang="en-US" sz="2800" dirty="0"/>
              <a:t>Observe the following code for a better understanding −</a:t>
            </a:r>
          </a:p>
        </p:txBody>
      </p:sp>
      <p:sp>
        <p:nvSpPr>
          <p:cNvPr id="3" name="Content Placeholder 2">
            <a:extLst>
              <a:ext uri="{FF2B5EF4-FFF2-40B4-BE49-F238E27FC236}">
                <a16:creationId xmlns:a16="http://schemas.microsoft.com/office/drawing/2014/main" id="{17A30A92-A02C-D5C4-3A95-4AE0E36CDA8B}"/>
              </a:ext>
            </a:extLst>
          </p:cNvPr>
          <p:cNvSpPr>
            <a:spLocks noGrp="1"/>
          </p:cNvSpPr>
          <p:nvPr>
            <p:ph idx="1"/>
          </p:nvPr>
        </p:nvSpPr>
        <p:spPr>
          <a:xfrm>
            <a:off x="838200" y="1353312"/>
            <a:ext cx="11131296" cy="5276087"/>
          </a:xfrm>
        </p:spPr>
        <p:txBody>
          <a:bodyPr>
            <a:noAutofit/>
          </a:bodyPr>
          <a:lstStyle/>
          <a:p>
            <a:pPr marL="0" indent="0">
              <a:buNone/>
            </a:pPr>
            <a:r>
              <a:rPr lang="en-US" sz="2400" b="1" dirty="0"/>
              <a:t>DemoApplication.java</a:t>
            </a:r>
          </a:p>
          <a:p>
            <a:pPr marL="0" indent="0">
              <a:buNone/>
            </a:pPr>
            <a:endParaRPr lang="en-US" sz="2400" dirty="0"/>
          </a:p>
          <a:p>
            <a:pPr marL="0" indent="0">
              <a:buNone/>
            </a:pPr>
            <a:r>
              <a:rPr lang="en-US" sz="2400" dirty="0"/>
              <a:t>package </a:t>
            </a:r>
            <a:r>
              <a:rPr lang="en-US" sz="2400" dirty="0" err="1"/>
              <a:t>com.packageName</a:t>
            </a:r>
            <a:r>
              <a:rPr lang="en-US" sz="2400" dirty="0"/>
              <a:t>; </a:t>
            </a:r>
          </a:p>
          <a:p>
            <a:pPr marL="0" indent="0">
              <a:buNone/>
            </a:pPr>
            <a:r>
              <a:rPr lang="en-US" sz="2400" dirty="0"/>
              <a:t>import </a:t>
            </a:r>
            <a:r>
              <a:rPr lang="en-US" sz="2400" dirty="0" err="1"/>
              <a:t>org.springframework.boot.SpringApplication</a:t>
            </a:r>
            <a:r>
              <a:rPr lang="en-US" sz="2400" dirty="0"/>
              <a:t>; </a:t>
            </a:r>
          </a:p>
          <a:p>
            <a:pPr marL="0" indent="0">
              <a:buNone/>
            </a:pPr>
            <a:r>
              <a:rPr lang="en-US" sz="2400" dirty="0"/>
              <a:t>import </a:t>
            </a:r>
            <a:r>
              <a:rPr lang="en-US" sz="2400" dirty="0" err="1"/>
              <a:t>org.springframework.boot.autoconfigure.SpringBootApplication</a:t>
            </a:r>
            <a:r>
              <a:rPr lang="en-US" sz="2400" dirty="0"/>
              <a:t>;</a:t>
            </a:r>
          </a:p>
          <a:p>
            <a:pPr marL="0" indent="0">
              <a:buNone/>
            </a:pPr>
            <a:endParaRPr lang="en-US" sz="2400" dirty="0"/>
          </a:p>
          <a:p>
            <a:pPr marL="0" indent="0">
              <a:buNone/>
            </a:pPr>
            <a:r>
              <a:rPr lang="en-US" sz="2400" dirty="0"/>
              <a:t>@SpringBootApplication </a:t>
            </a:r>
          </a:p>
          <a:p>
            <a:pPr marL="0" indent="0">
              <a:buNone/>
            </a:pPr>
            <a:r>
              <a:rPr lang="en-US" sz="2400" dirty="0"/>
              <a:t>public class </a:t>
            </a:r>
            <a:r>
              <a:rPr lang="en-US" sz="2400" dirty="0" err="1"/>
              <a:t>DemoApplication</a:t>
            </a:r>
            <a:r>
              <a:rPr lang="en-US" sz="2400" dirty="0"/>
              <a:t> { </a:t>
            </a:r>
          </a:p>
          <a:p>
            <a:pPr marL="0" indent="0">
              <a:buNone/>
            </a:pPr>
            <a:r>
              <a:rPr lang="en-US" sz="2400" dirty="0"/>
              <a:t>	public static void main(String[] </a:t>
            </a:r>
            <a:r>
              <a:rPr lang="en-US" sz="2400" dirty="0" err="1"/>
              <a:t>args</a:t>
            </a:r>
            <a:r>
              <a:rPr lang="en-US" sz="2400" dirty="0"/>
              <a:t>) { 						           </a:t>
            </a:r>
            <a:r>
              <a:rPr lang="en-US" sz="2400" dirty="0" err="1"/>
              <a:t>SpringApplication.run</a:t>
            </a:r>
            <a:r>
              <a:rPr lang="en-US" sz="2400" dirty="0"/>
              <a:t>(</a:t>
            </a:r>
            <a:r>
              <a:rPr lang="en-US" sz="2400" dirty="0" err="1"/>
              <a:t>DemoApplication.class</a:t>
            </a:r>
            <a:r>
              <a:rPr lang="en-US" sz="2400" dirty="0"/>
              <a:t>, </a:t>
            </a:r>
            <a:r>
              <a:rPr lang="en-US" sz="2400" dirty="0" err="1"/>
              <a:t>args</a:t>
            </a:r>
            <a:r>
              <a:rPr lang="en-US" sz="2400" dirty="0"/>
              <a:t>); </a:t>
            </a:r>
          </a:p>
          <a:p>
            <a:pPr marL="0" indent="0">
              <a:buNone/>
            </a:pPr>
            <a:r>
              <a:rPr lang="en-US" sz="2400" dirty="0"/>
              <a:t>	}	</a:t>
            </a:r>
          </a:p>
          <a:p>
            <a:pPr marL="0" indent="0">
              <a:buNone/>
            </a:pPr>
            <a:r>
              <a:rPr lang="en-US" sz="2400" dirty="0"/>
              <a:t> }</a:t>
            </a:r>
          </a:p>
        </p:txBody>
      </p:sp>
    </p:spTree>
    <p:extLst>
      <p:ext uri="{BB962C8B-B14F-4D97-AF65-F5344CB8AC3E}">
        <p14:creationId xmlns:p14="http://schemas.microsoft.com/office/powerpoint/2010/main" val="27243505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68B85-5EE0-C13A-F884-BF4F9AF12D1E}"/>
              </a:ext>
            </a:extLst>
          </p:cNvPr>
          <p:cNvSpPr>
            <a:spLocks noGrp="1"/>
          </p:cNvSpPr>
          <p:nvPr>
            <p:ph type="title"/>
          </p:nvPr>
        </p:nvSpPr>
        <p:spPr>
          <a:xfrm>
            <a:off x="838200" y="1"/>
            <a:ext cx="10515600" cy="1690688"/>
          </a:xfrm>
        </p:spPr>
        <p:txBody>
          <a:bodyPr>
            <a:normAutofit/>
          </a:bodyPr>
          <a:lstStyle/>
          <a:p>
            <a:r>
              <a:rPr lang="en-US" sz="3600" dirty="0"/>
              <a:t>Ways to Create a Spring Boot Project Structure</a:t>
            </a:r>
          </a:p>
        </p:txBody>
      </p:sp>
      <p:sp>
        <p:nvSpPr>
          <p:cNvPr id="3" name="Content Placeholder 2">
            <a:extLst>
              <a:ext uri="{FF2B5EF4-FFF2-40B4-BE49-F238E27FC236}">
                <a16:creationId xmlns:a16="http://schemas.microsoft.com/office/drawing/2014/main" id="{480BCC0B-B6D2-0551-9B3A-7828BF7C3D6C}"/>
              </a:ext>
            </a:extLst>
          </p:cNvPr>
          <p:cNvSpPr>
            <a:spLocks noGrp="1"/>
          </p:cNvSpPr>
          <p:nvPr>
            <p:ph idx="1"/>
          </p:nvPr>
        </p:nvSpPr>
        <p:spPr>
          <a:xfrm>
            <a:off x="838200" y="1362456"/>
            <a:ext cx="10515600" cy="4814507"/>
          </a:xfrm>
        </p:spPr>
        <p:txBody>
          <a:bodyPr>
            <a:noAutofit/>
          </a:bodyPr>
          <a:lstStyle/>
          <a:p>
            <a:pPr marL="0" indent="0" algn="just">
              <a:buNone/>
            </a:pPr>
            <a:r>
              <a:rPr lang="en-US" sz="2400" dirty="0"/>
              <a:t>There are three ways to create a Spring Boot project structure:</a:t>
            </a:r>
          </a:p>
          <a:p>
            <a:pPr marL="0" indent="0" algn="just">
              <a:buNone/>
            </a:pPr>
            <a:r>
              <a:rPr lang="en-US" sz="2400" b="1" dirty="0"/>
              <a:t>1. Using Spring Boot CLI :</a:t>
            </a:r>
            <a:r>
              <a:rPr lang="en-US" sz="2400" dirty="0"/>
              <a:t> We can create a Spring Boot project structure using the Spring Boot Command Line Interface (CLI).</a:t>
            </a:r>
            <a:br>
              <a:rPr lang="en-US" sz="2400" dirty="0"/>
            </a:br>
            <a:endParaRPr lang="en-US" sz="2400" dirty="0"/>
          </a:p>
          <a:p>
            <a:pPr marL="0" indent="0" algn="just">
              <a:buNone/>
            </a:pPr>
            <a:r>
              <a:rPr lang="en-US" sz="2400" b="1" dirty="0"/>
              <a:t>2. Using Spring Initializer (Recommended) :</a:t>
            </a:r>
            <a:r>
              <a:rPr lang="en-US" sz="2400" dirty="0"/>
              <a:t> We can create a Spring Boot project structure using Spring Initializer, which is the most recommended and widely used approach.</a:t>
            </a:r>
          </a:p>
          <a:p>
            <a:pPr marL="0" indent="0">
              <a:buNone/>
            </a:pPr>
            <a:r>
              <a:rPr lang="en-US" sz="2400" b="1" dirty="0"/>
              <a:t>3. Using STS (Spring Tool Suite) : </a:t>
            </a:r>
            <a:r>
              <a:rPr lang="en-US" sz="2400" dirty="0"/>
              <a:t>We can also create a Spring Boot project structure using </a:t>
            </a:r>
            <a:r>
              <a:rPr lang="en-US" sz="2400" b="1" dirty="0"/>
              <a:t>Spring Tool Suite (STS)</a:t>
            </a:r>
            <a:r>
              <a:rPr lang="en-US" sz="2400" dirty="0"/>
              <a:t>. </a:t>
            </a:r>
            <a:r>
              <a:rPr lang="en-US" sz="2400" b="1" dirty="0"/>
              <a:t>STS can be used in the following ways:</a:t>
            </a:r>
          </a:p>
          <a:p>
            <a:pPr marL="914400" lvl="1" indent="-457200">
              <a:buFont typeface="+mj-lt"/>
              <a:buAutoNum type="alphaLcParenR"/>
            </a:pPr>
            <a:r>
              <a:rPr lang="en-US" dirty="0"/>
              <a:t>STS as a standalone IDE</a:t>
            </a:r>
          </a:p>
          <a:p>
            <a:pPr marL="914400" lvl="1" indent="-457200">
              <a:buFont typeface="+mj-lt"/>
              <a:buAutoNum type="alphaLcParenR"/>
            </a:pPr>
            <a:r>
              <a:rPr lang="en-US" dirty="0"/>
              <a:t>STS with IntelliJ IDEA</a:t>
            </a:r>
          </a:p>
          <a:p>
            <a:pPr marL="914400" lvl="1" indent="-457200">
              <a:buFont typeface="+mj-lt"/>
              <a:buAutoNum type="alphaLcParenR"/>
            </a:pPr>
            <a:r>
              <a:rPr lang="en-US" dirty="0"/>
              <a:t>STS plugin for Eclipse</a:t>
            </a:r>
          </a:p>
          <a:p>
            <a:pPr marL="0" indent="0" algn="just">
              <a:buNone/>
            </a:pPr>
            <a:endParaRPr lang="en-US" sz="2400" dirty="0"/>
          </a:p>
          <a:p>
            <a:pPr algn="just"/>
            <a:endParaRPr lang="en-US" sz="2400" dirty="0"/>
          </a:p>
        </p:txBody>
      </p:sp>
    </p:spTree>
    <p:extLst>
      <p:ext uri="{BB962C8B-B14F-4D97-AF65-F5344CB8AC3E}">
        <p14:creationId xmlns:p14="http://schemas.microsoft.com/office/powerpoint/2010/main" val="36870769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070C9-9F19-78CE-F3FC-392CED65CF9B}"/>
              </a:ext>
            </a:extLst>
          </p:cNvPr>
          <p:cNvSpPr>
            <a:spLocks noGrp="1"/>
          </p:cNvSpPr>
          <p:nvPr>
            <p:ph type="title"/>
          </p:nvPr>
        </p:nvSpPr>
        <p:spPr/>
        <p:txBody>
          <a:bodyPr>
            <a:noAutofit/>
          </a:bodyPr>
          <a:lstStyle/>
          <a:p>
            <a:r>
              <a:rPr lang="en-US" sz="3200" dirty="0"/>
              <a:t>Steps to Create a Spring Boot Application using Spring Initializer</a:t>
            </a:r>
            <a:br>
              <a:rPr lang="en-US" sz="3200" dirty="0"/>
            </a:br>
            <a:endParaRPr lang="en-US" sz="3200" dirty="0"/>
          </a:p>
        </p:txBody>
      </p:sp>
      <p:sp>
        <p:nvSpPr>
          <p:cNvPr id="3" name="Content Placeholder 2">
            <a:extLst>
              <a:ext uri="{FF2B5EF4-FFF2-40B4-BE49-F238E27FC236}">
                <a16:creationId xmlns:a16="http://schemas.microsoft.com/office/drawing/2014/main" id="{C993585A-FAFF-9274-B680-823A9FA903D2}"/>
              </a:ext>
            </a:extLst>
          </p:cNvPr>
          <p:cNvSpPr>
            <a:spLocks noGrp="1"/>
          </p:cNvSpPr>
          <p:nvPr>
            <p:ph idx="1"/>
          </p:nvPr>
        </p:nvSpPr>
        <p:spPr>
          <a:xfrm>
            <a:off x="838200" y="1371600"/>
            <a:ext cx="10515600" cy="4805363"/>
          </a:xfrm>
        </p:spPr>
        <p:txBody>
          <a:bodyPr>
            <a:noAutofit/>
          </a:bodyPr>
          <a:lstStyle/>
          <a:p>
            <a:pPr marL="0" indent="0">
              <a:buNone/>
            </a:pPr>
            <a:r>
              <a:rPr lang="en-US" sz="2400" b="1" dirty="0"/>
              <a:t>Step 1:</a:t>
            </a:r>
            <a:r>
              <a:rPr lang="en-US" sz="2400" dirty="0"/>
              <a:t> Open Spring Initializer in a browser </a:t>
            </a:r>
            <a:r>
              <a:rPr lang="en-US" sz="2400" dirty="0">
                <a:hlinkClick r:id="rId2"/>
              </a:rPr>
              <a:t>https://start.spring.io</a:t>
            </a:r>
            <a:endParaRPr lang="en-US" sz="2400" dirty="0"/>
          </a:p>
          <a:p>
            <a:pPr marL="0" indent="0">
              <a:buNone/>
            </a:pPr>
            <a:r>
              <a:rPr lang="en-US" sz="2400" b="1" dirty="0"/>
              <a:t>Step 2:</a:t>
            </a:r>
            <a:r>
              <a:rPr lang="en-US" sz="2400" dirty="0"/>
              <a:t> Configure Project Metadata</a:t>
            </a:r>
          </a:p>
          <a:p>
            <a:pPr marL="0" indent="0">
              <a:buNone/>
            </a:pPr>
            <a:r>
              <a:rPr lang="en-US" sz="2400" dirty="0"/>
              <a:t>	  Fill the required details:</a:t>
            </a:r>
          </a:p>
          <a:p>
            <a:pPr marL="1714500" lvl="3" indent="-342900">
              <a:buFont typeface="+mj-lt"/>
              <a:buAutoNum type="alphaLcParenR"/>
            </a:pPr>
            <a:r>
              <a:rPr lang="en-US" sz="2400" b="1" dirty="0"/>
              <a:t>Project:</a:t>
            </a:r>
            <a:r>
              <a:rPr lang="en-US" sz="2400" dirty="0"/>
              <a:t> Maven Project</a:t>
            </a:r>
          </a:p>
          <a:p>
            <a:pPr marL="1714500" lvl="3" indent="-342900">
              <a:buFont typeface="+mj-lt"/>
              <a:buAutoNum type="alphaLcParenR"/>
            </a:pPr>
            <a:r>
              <a:rPr lang="en-US" sz="2400" b="1" dirty="0"/>
              <a:t>Language:</a:t>
            </a:r>
            <a:r>
              <a:rPr lang="en-US" sz="2400" dirty="0"/>
              <a:t> Java</a:t>
            </a:r>
          </a:p>
          <a:p>
            <a:pPr marL="1714500" lvl="3" indent="-342900">
              <a:buFont typeface="+mj-lt"/>
              <a:buAutoNum type="alphaLcParenR"/>
            </a:pPr>
            <a:r>
              <a:rPr lang="en-US" sz="2400" b="1" dirty="0"/>
              <a:t>Spring Boot Version:</a:t>
            </a:r>
            <a:r>
              <a:rPr lang="en-US" sz="2400" dirty="0"/>
              <a:t> Default (recommended)</a:t>
            </a:r>
          </a:p>
          <a:p>
            <a:pPr marL="1714500" lvl="3" indent="-342900">
              <a:buFont typeface="+mj-lt"/>
              <a:buAutoNum type="alphaLcParenR"/>
            </a:pPr>
            <a:r>
              <a:rPr lang="en-US" sz="2400" b="1" dirty="0"/>
              <a:t>Group:</a:t>
            </a:r>
            <a:r>
              <a:rPr lang="en-US" sz="2400" dirty="0"/>
              <a:t> </a:t>
            </a:r>
            <a:r>
              <a:rPr lang="en-US" sz="2400" dirty="0" err="1"/>
              <a:t>com.example</a:t>
            </a:r>
            <a:endParaRPr lang="en-US" sz="2400" dirty="0"/>
          </a:p>
          <a:p>
            <a:pPr marL="1714500" lvl="3" indent="-342900">
              <a:buFont typeface="+mj-lt"/>
              <a:buAutoNum type="alphaLcParenR"/>
            </a:pPr>
            <a:r>
              <a:rPr lang="en-US" sz="2400" b="1" dirty="0"/>
              <a:t>Artifact:</a:t>
            </a:r>
            <a:r>
              <a:rPr lang="en-US" sz="2400" dirty="0"/>
              <a:t> demo</a:t>
            </a:r>
          </a:p>
          <a:p>
            <a:pPr marL="1714500" lvl="3" indent="-342900">
              <a:buFont typeface="+mj-lt"/>
              <a:buAutoNum type="alphaLcParenR"/>
            </a:pPr>
            <a:r>
              <a:rPr lang="en-US" sz="2400" b="1" dirty="0"/>
              <a:t>Name:</a:t>
            </a:r>
            <a:r>
              <a:rPr lang="en-US" sz="2400" dirty="0"/>
              <a:t> demo</a:t>
            </a:r>
          </a:p>
          <a:p>
            <a:pPr marL="1714500" lvl="3" indent="-342900">
              <a:buFont typeface="+mj-lt"/>
              <a:buAutoNum type="alphaLcParenR"/>
            </a:pPr>
            <a:r>
              <a:rPr lang="en-US" sz="2400" b="1" dirty="0"/>
              <a:t>Packaging:</a:t>
            </a:r>
            <a:r>
              <a:rPr lang="en-US" sz="2400" dirty="0"/>
              <a:t> Jar</a:t>
            </a:r>
          </a:p>
          <a:p>
            <a:pPr marL="1714500" lvl="3" indent="-342900">
              <a:buFont typeface="+mj-lt"/>
              <a:buAutoNum type="alphaLcParenR"/>
            </a:pPr>
            <a:r>
              <a:rPr lang="en-US" sz="2400" b="1" dirty="0"/>
              <a:t>Java Version:</a:t>
            </a:r>
            <a:r>
              <a:rPr lang="en-US" sz="2400" dirty="0"/>
              <a:t> 17 (or as required)</a:t>
            </a:r>
          </a:p>
          <a:p>
            <a:endParaRPr lang="en-US" sz="2400" dirty="0"/>
          </a:p>
        </p:txBody>
      </p:sp>
    </p:spTree>
    <p:extLst>
      <p:ext uri="{BB962C8B-B14F-4D97-AF65-F5344CB8AC3E}">
        <p14:creationId xmlns:p14="http://schemas.microsoft.com/office/powerpoint/2010/main" val="14613504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935203-43CA-C3F5-688F-0B79E2431354}"/>
              </a:ext>
            </a:extLst>
          </p:cNvPr>
          <p:cNvSpPr>
            <a:spLocks noGrp="1"/>
          </p:cNvSpPr>
          <p:nvPr>
            <p:ph idx="1"/>
          </p:nvPr>
        </p:nvSpPr>
        <p:spPr>
          <a:xfrm>
            <a:off x="676656" y="274320"/>
            <a:ext cx="10677144" cy="5902643"/>
          </a:xfrm>
        </p:spPr>
        <p:txBody>
          <a:bodyPr>
            <a:noAutofit/>
          </a:bodyPr>
          <a:lstStyle/>
          <a:p>
            <a:pPr marL="0" indent="0">
              <a:buNone/>
            </a:pPr>
            <a:r>
              <a:rPr lang="en-US" sz="2400" b="1" dirty="0"/>
              <a:t>Step 3 : Add Dependencies</a:t>
            </a:r>
          </a:p>
          <a:p>
            <a:pPr marL="0" indent="0">
              <a:buNone/>
            </a:pPr>
            <a:r>
              <a:rPr lang="en-US" sz="2400" dirty="0"/>
              <a:t>	Select required dependencies such as:</a:t>
            </a:r>
          </a:p>
          <a:p>
            <a:pPr lvl="2"/>
            <a:r>
              <a:rPr lang="en-US" sz="2400" dirty="0"/>
              <a:t>Spring Web</a:t>
            </a:r>
          </a:p>
          <a:p>
            <a:pPr lvl="2"/>
            <a:r>
              <a:rPr lang="en-US" sz="2400" dirty="0"/>
              <a:t>Spring Data JPA</a:t>
            </a:r>
          </a:p>
          <a:p>
            <a:pPr lvl="2"/>
            <a:r>
              <a:rPr lang="en-US" sz="2400" dirty="0"/>
              <a:t>MySQL Driver</a:t>
            </a:r>
          </a:p>
          <a:p>
            <a:pPr lvl="2"/>
            <a:r>
              <a:rPr lang="en-US" sz="2400" dirty="0"/>
              <a:t>Spring Security (optional)</a:t>
            </a:r>
          </a:p>
          <a:p>
            <a:pPr lvl="2"/>
            <a:r>
              <a:rPr lang="en-US" sz="2400" dirty="0" err="1"/>
              <a:t>Thymeleaf</a:t>
            </a:r>
            <a:r>
              <a:rPr lang="en-US" sz="2400" dirty="0"/>
              <a:t> (optional)</a:t>
            </a:r>
          </a:p>
          <a:p>
            <a:pPr marL="0" indent="0">
              <a:buNone/>
            </a:pPr>
            <a:r>
              <a:rPr lang="en-US" sz="2400" dirty="0"/>
              <a:t>	Click </a:t>
            </a:r>
            <a:r>
              <a:rPr lang="en-US" sz="2400" b="1" dirty="0"/>
              <a:t>Add Dependencies</a:t>
            </a:r>
            <a:endParaRPr lang="en-US" sz="2400" dirty="0"/>
          </a:p>
          <a:p>
            <a:pPr marL="0" indent="0">
              <a:buNone/>
            </a:pPr>
            <a:r>
              <a:rPr lang="en-US" sz="2400" b="1" dirty="0"/>
              <a:t>Step 4 : Generate the Project</a:t>
            </a:r>
          </a:p>
          <a:p>
            <a:pPr marL="0" indent="0">
              <a:buNone/>
            </a:pPr>
            <a:r>
              <a:rPr lang="en-US" sz="2400" dirty="0"/>
              <a:t>	Click on </a:t>
            </a:r>
            <a:r>
              <a:rPr lang="en-US" sz="2400" b="1" dirty="0"/>
              <a:t>Generate</a:t>
            </a:r>
            <a:br>
              <a:rPr lang="en-US" sz="2400" dirty="0"/>
            </a:br>
            <a:r>
              <a:rPr lang="en-US" sz="2400" dirty="0"/>
              <a:t>	A </a:t>
            </a:r>
            <a:r>
              <a:rPr lang="en-US" sz="2400" b="1" dirty="0"/>
              <a:t>ZIP file</a:t>
            </a:r>
            <a:r>
              <a:rPr lang="en-US" sz="2400" dirty="0"/>
              <a:t> will be downloaded.</a:t>
            </a:r>
          </a:p>
          <a:p>
            <a:pPr marL="0" indent="0">
              <a:buNone/>
            </a:pPr>
            <a:r>
              <a:rPr lang="en-US" sz="2400" b="1" dirty="0"/>
              <a:t>Step 5 : Extract the Project</a:t>
            </a:r>
          </a:p>
          <a:p>
            <a:pPr marL="0" indent="0">
              <a:buNone/>
            </a:pPr>
            <a:r>
              <a:rPr lang="en-US" sz="2400" dirty="0"/>
              <a:t>	Unzip the downloaded file into your preferred directory.</a:t>
            </a:r>
          </a:p>
          <a:p>
            <a:pPr marL="0" indent="0">
              <a:buNone/>
            </a:pPr>
            <a:endParaRPr lang="en-US" sz="2400" dirty="0"/>
          </a:p>
        </p:txBody>
      </p:sp>
    </p:spTree>
    <p:extLst>
      <p:ext uri="{BB962C8B-B14F-4D97-AF65-F5344CB8AC3E}">
        <p14:creationId xmlns:p14="http://schemas.microsoft.com/office/powerpoint/2010/main" val="10509580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C08FB9-8617-F187-469B-1FD32A64057E}"/>
              </a:ext>
            </a:extLst>
          </p:cNvPr>
          <p:cNvSpPr>
            <a:spLocks noGrp="1"/>
          </p:cNvSpPr>
          <p:nvPr>
            <p:ph idx="1"/>
          </p:nvPr>
        </p:nvSpPr>
        <p:spPr>
          <a:xfrm>
            <a:off x="785091" y="526473"/>
            <a:ext cx="10568709" cy="5650490"/>
          </a:xfrm>
        </p:spPr>
        <p:txBody>
          <a:bodyPr>
            <a:normAutofit fontScale="85000" lnSpcReduction="20000"/>
          </a:bodyPr>
          <a:lstStyle/>
          <a:p>
            <a:pPr marL="0" indent="0">
              <a:buNone/>
            </a:pPr>
            <a:r>
              <a:rPr lang="en-US" b="1" dirty="0"/>
              <a:t>Step 6 :  Import Project into IDE</a:t>
            </a:r>
          </a:p>
          <a:p>
            <a:pPr marL="0" indent="0">
              <a:buNone/>
            </a:pPr>
            <a:r>
              <a:rPr lang="en-US" dirty="0"/>
              <a:t>	Import the project into your IDE:</a:t>
            </a:r>
          </a:p>
          <a:p>
            <a:pPr marL="0" indent="0">
              <a:buNone/>
            </a:pPr>
            <a:r>
              <a:rPr lang="en-US" b="1" dirty="0"/>
              <a:t>	Eclipse / STS</a:t>
            </a:r>
            <a:r>
              <a:rPr lang="en-US" dirty="0"/>
              <a:t> → Import → Maven -&gt; Existing Maven Project</a:t>
            </a:r>
          </a:p>
          <a:p>
            <a:pPr marL="0" indent="0">
              <a:buNone/>
            </a:pPr>
            <a:r>
              <a:rPr lang="en-US" b="1" dirty="0"/>
              <a:t>	IntelliJ</a:t>
            </a:r>
            <a:r>
              <a:rPr lang="en-US" dirty="0"/>
              <a:t> → Open Project</a:t>
            </a:r>
            <a:br>
              <a:rPr lang="en-US" dirty="0"/>
            </a:br>
            <a:endParaRPr lang="en-US" dirty="0"/>
          </a:p>
          <a:p>
            <a:pPr marL="0" indent="0">
              <a:buNone/>
            </a:pPr>
            <a:r>
              <a:rPr lang="en-US" b="1" dirty="0"/>
              <a:t>Step 7 : Run the Application</a:t>
            </a:r>
          </a:p>
          <a:p>
            <a:pPr marL="0" indent="0">
              <a:buNone/>
            </a:pPr>
            <a:r>
              <a:rPr lang="en-US" dirty="0"/>
              <a:t>	Run the main class:</a:t>
            </a:r>
          </a:p>
          <a:p>
            <a:pPr marL="0" indent="0">
              <a:buNone/>
            </a:pPr>
            <a:r>
              <a:rPr lang="en-US" dirty="0"/>
              <a:t>	@SpringBootApplication</a:t>
            </a:r>
          </a:p>
          <a:p>
            <a:pPr marL="0" indent="0">
              <a:buNone/>
            </a:pPr>
            <a:r>
              <a:rPr lang="en-US" dirty="0"/>
              <a:t>	public class </a:t>
            </a:r>
            <a:r>
              <a:rPr lang="en-US" dirty="0" err="1"/>
              <a:t>DemoApplication</a:t>
            </a:r>
            <a:r>
              <a:rPr lang="en-US" dirty="0"/>
              <a:t>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SpringApplication.run</a:t>
            </a:r>
            <a:r>
              <a:rPr lang="en-US" dirty="0"/>
              <a:t>(</a:t>
            </a:r>
            <a:r>
              <a:rPr lang="en-US" dirty="0" err="1"/>
              <a:t>DemoApplication.class</a:t>
            </a:r>
            <a:r>
              <a:rPr lang="en-US" dirty="0"/>
              <a:t>, </a:t>
            </a:r>
            <a:r>
              <a:rPr lang="en-US" dirty="0" err="1"/>
              <a:t>args</a:t>
            </a:r>
            <a:r>
              <a:rPr lang="en-US" dirty="0"/>
              <a:t>);</a:t>
            </a:r>
          </a:p>
          <a:p>
            <a:pPr marL="0" indent="0">
              <a:buNone/>
            </a:pPr>
            <a:r>
              <a:rPr lang="en-US" dirty="0"/>
              <a:t>    		}</a:t>
            </a:r>
          </a:p>
          <a:p>
            <a:pPr marL="0" indent="0">
              <a:buNone/>
            </a:pPr>
            <a:r>
              <a:rPr lang="en-US" dirty="0"/>
              <a:t>	}</a:t>
            </a:r>
          </a:p>
          <a:p>
            <a:pPr marL="0" indent="0">
              <a:buNone/>
            </a:pPr>
            <a:r>
              <a:rPr lang="en-US" dirty="0"/>
              <a:t>Right-click → </a:t>
            </a:r>
            <a:r>
              <a:rPr lang="en-US" b="1" dirty="0"/>
              <a:t>Run as → Java Application</a:t>
            </a:r>
            <a:endParaRPr lang="en-US" dirty="0"/>
          </a:p>
          <a:p>
            <a:pPr marL="0" indent="0">
              <a:buNone/>
            </a:pPr>
            <a:endParaRPr lang="en-US" dirty="0"/>
          </a:p>
        </p:txBody>
      </p:sp>
    </p:spTree>
    <p:extLst>
      <p:ext uri="{BB962C8B-B14F-4D97-AF65-F5344CB8AC3E}">
        <p14:creationId xmlns:p14="http://schemas.microsoft.com/office/powerpoint/2010/main" val="18717166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03A2D8-1C13-3065-364A-D123A8987B0F}"/>
              </a:ext>
            </a:extLst>
          </p:cNvPr>
          <p:cNvSpPr>
            <a:spLocks noGrp="1"/>
          </p:cNvSpPr>
          <p:nvPr>
            <p:ph idx="1"/>
          </p:nvPr>
        </p:nvSpPr>
        <p:spPr>
          <a:xfrm>
            <a:off x="748145" y="544945"/>
            <a:ext cx="10605655" cy="5632018"/>
          </a:xfrm>
        </p:spPr>
        <p:txBody>
          <a:bodyPr>
            <a:normAutofit/>
          </a:bodyPr>
          <a:lstStyle/>
          <a:p>
            <a:pPr marL="0" indent="0">
              <a:buNone/>
            </a:pPr>
            <a:r>
              <a:rPr lang="en-US" sz="2400" b="1" dirty="0"/>
              <a:t>Step 8 : Verify the Application</a:t>
            </a:r>
          </a:p>
          <a:p>
            <a:pPr marL="0" indent="0">
              <a:buNone/>
            </a:pPr>
            <a:r>
              <a:rPr lang="en-US" sz="2400" dirty="0"/>
              <a:t>	Check the console: Tomcat started on port 8080</a:t>
            </a:r>
          </a:p>
          <a:p>
            <a:pPr marL="0" indent="0">
              <a:buNone/>
            </a:pPr>
            <a:r>
              <a:rPr lang="en-US" sz="2400" dirty="0"/>
              <a:t>	Open browser: http://localhost:8080</a:t>
            </a:r>
          </a:p>
          <a:p>
            <a:pPr marL="0" indent="0">
              <a:buNone/>
            </a:pPr>
            <a:endParaRPr lang="en-US" sz="2400" dirty="0"/>
          </a:p>
        </p:txBody>
      </p:sp>
      <p:pic>
        <p:nvPicPr>
          <p:cNvPr id="5" name="Picture 4">
            <a:extLst>
              <a:ext uri="{FF2B5EF4-FFF2-40B4-BE49-F238E27FC236}">
                <a16:creationId xmlns:a16="http://schemas.microsoft.com/office/drawing/2014/main" id="{11C83941-72BD-DAA4-0110-53B6C9D183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781" y="2015980"/>
            <a:ext cx="10926982" cy="4698855"/>
          </a:xfrm>
          <a:prstGeom prst="rect">
            <a:avLst/>
          </a:prstGeom>
        </p:spPr>
      </p:pic>
    </p:spTree>
    <p:extLst>
      <p:ext uri="{BB962C8B-B14F-4D97-AF65-F5344CB8AC3E}">
        <p14:creationId xmlns:p14="http://schemas.microsoft.com/office/powerpoint/2010/main" val="41316952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0D5AF-8213-00EC-A879-FDA97C38603B}"/>
              </a:ext>
            </a:extLst>
          </p:cNvPr>
          <p:cNvSpPr>
            <a:spLocks noGrp="1"/>
          </p:cNvSpPr>
          <p:nvPr>
            <p:ph type="title"/>
          </p:nvPr>
        </p:nvSpPr>
        <p:spPr>
          <a:xfrm>
            <a:off x="754912" y="-180753"/>
            <a:ext cx="10598888" cy="1871441"/>
          </a:xfrm>
        </p:spPr>
        <p:txBody>
          <a:bodyPr>
            <a:normAutofit/>
          </a:bodyPr>
          <a:lstStyle/>
          <a:p>
            <a:r>
              <a:rPr lang="en-US" sz="3600" dirty="0"/>
              <a:t>What Eclipse “Maven Project” gives you ?</a:t>
            </a:r>
          </a:p>
        </p:txBody>
      </p:sp>
      <p:sp>
        <p:nvSpPr>
          <p:cNvPr id="3" name="Content Placeholder 2">
            <a:extLst>
              <a:ext uri="{FF2B5EF4-FFF2-40B4-BE49-F238E27FC236}">
                <a16:creationId xmlns:a16="http://schemas.microsoft.com/office/drawing/2014/main" id="{C8E39F6E-98C9-12A9-7E68-87067E9D248A}"/>
              </a:ext>
            </a:extLst>
          </p:cNvPr>
          <p:cNvSpPr>
            <a:spLocks noGrp="1"/>
          </p:cNvSpPr>
          <p:nvPr>
            <p:ph idx="1"/>
          </p:nvPr>
        </p:nvSpPr>
        <p:spPr>
          <a:xfrm>
            <a:off x="914400" y="1169581"/>
            <a:ext cx="10439400" cy="5007382"/>
          </a:xfrm>
        </p:spPr>
        <p:txBody>
          <a:bodyPr>
            <a:noAutofit/>
          </a:bodyPr>
          <a:lstStyle/>
          <a:p>
            <a:r>
              <a:rPr lang="en-US" sz="2400" dirty="0"/>
              <a:t>When you create </a:t>
            </a:r>
            <a:r>
              <a:rPr lang="en-US" sz="2400" b="1" dirty="0"/>
              <a:t>File → New → Maven Project</a:t>
            </a:r>
            <a:r>
              <a:rPr lang="en-US" sz="2400" dirty="0"/>
              <a:t> in Eclipse:</a:t>
            </a:r>
          </a:p>
          <a:p>
            <a:r>
              <a:rPr lang="en-US" sz="2400" b="1" dirty="0"/>
              <a:t>You get:</a:t>
            </a:r>
          </a:p>
          <a:p>
            <a:pPr marL="914400" lvl="1" indent="-457200">
              <a:buFont typeface="+mj-lt"/>
              <a:buAutoNum type="alphaLcParenR"/>
            </a:pPr>
            <a:r>
              <a:rPr lang="en-US" dirty="0"/>
              <a:t>Basic Maven structure</a:t>
            </a:r>
          </a:p>
          <a:p>
            <a:pPr marL="914400" lvl="1" indent="-457200">
              <a:buFont typeface="+mj-lt"/>
              <a:buAutoNum type="alphaLcParenR"/>
            </a:pPr>
            <a:r>
              <a:rPr lang="en-US" dirty="0"/>
              <a:t>Empty pom.xml</a:t>
            </a:r>
          </a:p>
          <a:p>
            <a:pPr marL="914400" lvl="1" indent="-457200">
              <a:buFont typeface="+mj-lt"/>
              <a:buAutoNum type="alphaLcParenR"/>
            </a:pPr>
            <a:r>
              <a:rPr lang="en-US" dirty="0"/>
              <a:t>No framework setup</a:t>
            </a:r>
          </a:p>
          <a:p>
            <a:r>
              <a:rPr lang="en-US" sz="2400" b="1" dirty="0"/>
              <a:t>You must do EVERYTHING manually:</a:t>
            </a:r>
          </a:p>
          <a:p>
            <a:pPr marL="914400" lvl="1" indent="-457200">
              <a:buFont typeface="+mj-lt"/>
              <a:buAutoNum type="alphaLcParenR"/>
            </a:pPr>
            <a:r>
              <a:rPr lang="en-US" dirty="0"/>
              <a:t>Add Spring dependencies</a:t>
            </a:r>
          </a:p>
          <a:p>
            <a:pPr marL="914400" lvl="1" indent="-457200">
              <a:buFont typeface="+mj-lt"/>
              <a:buAutoNum type="alphaLcParenR"/>
            </a:pPr>
            <a:r>
              <a:rPr lang="en-US" dirty="0"/>
              <a:t>Add Spring Boot parent</a:t>
            </a:r>
          </a:p>
          <a:p>
            <a:pPr marL="914400" lvl="1" indent="-457200">
              <a:buFont typeface="+mj-lt"/>
              <a:buAutoNum type="alphaLcParenR"/>
            </a:pPr>
            <a:r>
              <a:rPr lang="en-US" dirty="0"/>
              <a:t>Add main class</a:t>
            </a:r>
          </a:p>
          <a:p>
            <a:pPr marL="914400" lvl="1" indent="-457200">
              <a:buFont typeface="+mj-lt"/>
              <a:buAutoNum type="alphaLcParenR"/>
            </a:pPr>
            <a:r>
              <a:rPr lang="en-US" dirty="0"/>
              <a:t>Configure server</a:t>
            </a:r>
          </a:p>
          <a:p>
            <a:pPr marL="914400" lvl="1" indent="-457200">
              <a:buFont typeface="+mj-lt"/>
              <a:buAutoNum type="alphaLcParenR"/>
            </a:pPr>
            <a:r>
              <a:rPr lang="en-US" dirty="0"/>
              <a:t>Configure plugins</a:t>
            </a:r>
          </a:p>
          <a:p>
            <a:pPr marL="914400" lvl="1" indent="-457200">
              <a:buFont typeface="+mj-lt"/>
              <a:buAutoNum type="alphaLcParenR"/>
            </a:pPr>
            <a:r>
              <a:rPr lang="en-US" dirty="0"/>
              <a:t>Configure application startup</a:t>
            </a:r>
          </a:p>
          <a:p>
            <a:pPr marL="914400" lvl="1" indent="-457200">
              <a:buFont typeface="+mj-lt"/>
              <a:buAutoNum type="alphaLcParenR"/>
            </a:pPr>
            <a:r>
              <a:rPr lang="en-US" dirty="0"/>
              <a:t>Example: </a:t>
            </a:r>
            <a:r>
              <a:rPr lang="en-US" b="1" dirty="0"/>
              <a:t>NO main class by default</a:t>
            </a:r>
            <a:endParaRPr lang="en-US" dirty="0"/>
          </a:p>
          <a:p>
            <a:endParaRPr lang="en-US" sz="2400" dirty="0"/>
          </a:p>
        </p:txBody>
      </p:sp>
    </p:spTree>
    <p:extLst>
      <p:ext uri="{BB962C8B-B14F-4D97-AF65-F5344CB8AC3E}">
        <p14:creationId xmlns:p14="http://schemas.microsoft.com/office/powerpoint/2010/main" val="41032613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C76E9-3F92-4D85-BE5D-2225F8961A19}"/>
              </a:ext>
            </a:extLst>
          </p:cNvPr>
          <p:cNvSpPr>
            <a:spLocks noGrp="1"/>
          </p:cNvSpPr>
          <p:nvPr>
            <p:ph type="title"/>
          </p:nvPr>
        </p:nvSpPr>
        <p:spPr>
          <a:xfrm>
            <a:off x="723014" y="-520995"/>
            <a:ext cx="10630786" cy="2211683"/>
          </a:xfrm>
        </p:spPr>
        <p:txBody>
          <a:bodyPr>
            <a:normAutofit/>
          </a:bodyPr>
          <a:lstStyle/>
          <a:p>
            <a:r>
              <a:rPr lang="en-US" sz="3600" dirty="0"/>
              <a:t>What Spring </a:t>
            </a:r>
            <a:r>
              <a:rPr lang="en-US" sz="3600" dirty="0" err="1"/>
              <a:t>Initializr</a:t>
            </a:r>
            <a:r>
              <a:rPr lang="en-US" sz="3600" dirty="0"/>
              <a:t> gives you (BIG difference)</a:t>
            </a:r>
          </a:p>
        </p:txBody>
      </p:sp>
      <p:sp>
        <p:nvSpPr>
          <p:cNvPr id="3" name="Content Placeholder 2">
            <a:extLst>
              <a:ext uri="{FF2B5EF4-FFF2-40B4-BE49-F238E27FC236}">
                <a16:creationId xmlns:a16="http://schemas.microsoft.com/office/drawing/2014/main" id="{AF8B8AD2-FA97-B7E4-CFE7-06B197456279}"/>
              </a:ext>
            </a:extLst>
          </p:cNvPr>
          <p:cNvSpPr>
            <a:spLocks noGrp="1"/>
          </p:cNvSpPr>
          <p:nvPr>
            <p:ph idx="1"/>
          </p:nvPr>
        </p:nvSpPr>
        <p:spPr>
          <a:xfrm>
            <a:off x="838200" y="967563"/>
            <a:ext cx="10515600" cy="5209400"/>
          </a:xfrm>
        </p:spPr>
        <p:txBody>
          <a:bodyPr>
            <a:noAutofit/>
          </a:bodyPr>
          <a:lstStyle/>
          <a:p>
            <a:pPr marL="0" indent="0">
              <a:buNone/>
            </a:pPr>
            <a:r>
              <a:rPr lang="en-US" sz="2400" dirty="0"/>
              <a:t>Spring </a:t>
            </a:r>
            <a:r>
              <a:rPr lang="en-US" sz="2400" dirty="0" err="1"/>
              <a:t>Initializr</a:t>
            </a:r>
            <a:r>
              <a:rPr lang="en-US" sz="2400" dirty="0"/>
              <a:t> gives you:</a:t>
            </a:r>
          </a:p>
          <a:p>
            <a:pPr marL="0" indent="0">
              <a:buNone/>
            </a:pPr>
            <a:r>
              <a:rPr lang="en-US" sz="2400" b="1" dirty="0"/>
              <a:t>✔ Ready-to-run project</a:t>
            </a:r>
          </a:p>
          <a:p>
            <a:pPr marL="914400" lvl="1" indent="-457200">
              <a:buFont typeface="+mj-lt"/>
              <a:buAutoNum type="alphaLcParenR"/>
            </a:pPr>
            <a:r>
              <a:rPr lang="en-US" dirty="0"/>
              <a:t>@SpringBootApplication class</a:t>
            </a:r>
          </a:p>
          <a:p>
            <a:pPr marL="914400" lvl="1" indent="-457200">
              <a:buFont typeface="+mj-lt"/>
              <a:buAutoNum type="alphaLcParenR"/>
            </a:pPr>
            <a:r>
              <a:rPr lang="en-US" dirty="0"/>
              <a:t>main() method</a:t>
            </a:r>
          </a:p>
          <a:p>
            <a:pPr marL="914400" lvl="1" indent="-457200">
              <a:buFont typeface="+mj-lt"/>
              <a:buAutoNum type="alphaLcParenR"/>
            </a:pPr>
            <a:r>
              <a:rPr lang="en-US" dirty="0"/>
              <a:t>Embedded server support</a:t>
            </a:r>
          </a:p>
          <a:p>
            <a:pPr marL="914400" lvl="1" indent="-457200">
              <a:buFont typeface="+mj-lt"/>
              <a:buAutoNum type="alphaLcParenR"/>
            </a:pPr>
            <a:r>
              <a:rPr lang="en-US" dirty="0"/>
              <a:t>Auto-configuration enabled</a:t>
            </a:r>
          </a:p>
          <a:p>
            <a:pPr marL="0" indent="0">
              <a:buNone/>
            </a:pPr>
            <a:r>
              <a:rPr lang="en-US" sz="2400" b="1" dirty="0"/>
              <a:t>✔ Preconfigured pom.xml</a:t>
            </a:r>
          </a:p>
          <a:p>
            <a:pPr marL="457200" lvl="1" indent="0">
              <a:buNone/>
            </a:pPr>
            <a:r>
              <a:rPr lang="en-US" dirty="0"/>
              <a:t>&lt;parent&gt;</a:t>
            </a:r>
          </a:p>
          <a:p>
            <a:pPr marL="457200" lvl="1" indent="0">
              <a:buNone/>
            </a:pPr>
            <a:r>
              <a:rPr lang="en-US" dirty="0"/>
              <a:t>  &lt;</a:t>
            </a:r>
            <a:r>
              <a:rPr lang="en-US" dirty="0" err="1"/>
              <a:t>groupId</a:t>
            </a:r>
            <a:r>
              <a:rPr lang="en-US" dirty="0"/>
              <a:t>&gt;</a:t>
            </a:r>
            <a:r>
              <a:rPr lang="en-US" dirty="0" err="1"/>
              <a:t>org.springframework.boot</a:t>
            </a:r>
            <a:r>
              <a:rPr lang="en-US" dirty="0"/>
              <a:t>&lt;/</a:t>
            </a:r>
            <a:r>
              <a:rPr lang="en-US" dirty="0" err="1"/>
              <a:t>groupId</a:t>
            </a:r>
            <a:r>
              <a:rPr lang="en-US" dirty="0"/>
              <a:t>&gt;</a:t>
            </a:r>
          </a:p>
          <a:p>
            <a:pPr marL="457200" lvl="1" indent="0">
              <a:buNone/>
            </a:pPr>
            <a:r>
              <a:rPr lang="en-US" dirty="0"/>
              <a:t>  &lt;</a:t>
            </a:r>
            <a:r>
              <a:rPr lang="en-US" dirty="0" err="1"/>
              <a:t>artifactId</a:t>
            </a:r>
            <a:r>
              <a:rPr lang="en-US" dirty="0"/>
              <a:t>&gt;spring-boot-starter-parent&lt;/</a:t>
            </a:r>
            <a:r>
              <a:rPr lang="en-US" dirty="0" err="1"/>
              <a:t>artifactId</a:t>
            </a:r>
            <a:r>
              <a:rPr lang="en-US" dirty="0"/>
              <a:t>&gt;</a:t>
            </a:r>
          </a:p>
          <a:p>
            <a:pPr marL="457200" lvl="1" indent="0">
              <a:buNone/>
            </a:pPr>
            <a:r>
              <a:rPr lang="en-US" dirty="0"/>
              <a:t>  &lt;version&gt;...&lt;/version&gt;</a:t>
            </a:r>
          </a:p>
          <a:p>
            <a:pPr marL="457200" lvl="1" indent="0">
              <a:buNone/>
            </a:pPr>
            <a:r>
              <a:rPr lang="en-US" dirty="0"/>
              <a:t>&lt;/parent&gt;</a:t>
            </a:r>
          </a:p>
          <a:p>
            <a:pPr marL="0" indent="0">
              <a:buNone/>
            </a:pPr>
            <a:r>
              <a:rPr lang="en-US" sz="2400" b="1" dirty="0"/>
              <a:t>✔ Dependency management</a:t>
            </a:r>
          </a:p>
          <a:p>
            <a:pPr marL="0" indent="0">
              <a:buNone/>
            </a:pPr>
            <a:r>
              <a:rPr lang="en-US" sz="2400" b="1" dirty="0"/>
              <a:t>✔ Convention over configuration</a:t>
            </a:r>
          </a:p>
          <a:p>
            <a:pPr marL="0" indent="0">
              <a:buNone/>
            </a:pPr>
            <a:endParaRPr lang="en-US" sz="2400" dirty="0"/>
          </a:p>
        </p:txBody>
      </p:sp>
    </p:spTree>
    <p:extLst>
      <p:ext uri="{BB962C8B-B14F-4D97-AF65-F5344CB8AC3E}">
        <p14:creationId xmlns:p14="http://schemas.microsoft.com/office/powerpoint/2010/main" val="28908971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317</TotalTime>
  <Words>3205</Words>
  <Application>Microsoft Office PowerPoint</Application>
  <PresentationFormat>Widescreen</PresentationFormat>
  <Paragraphs>410</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Aptos</vt:lpstr>
      <vt:lpstr>Aptos Display</vt:lpstr>
      <vt:lpstr>Arial</vt:lpstr>
      <vt:lpstr>Courier New</vt:lpstr>
      <vt:lpstr>Office Theme</vt:lpstr>
      <vt:lpstr>What is Spring Boot? </vt:lpstr>
      <vt:lpstr>Goals </vt:lpstr>
      <vt:lpstr>Spring Boot - Architecture </vt:lpstr>
      <vt:lpstr>PowerPoint Presentation</vt:lpstr>
      <vt:lpstr>PowerPoint Presentation</vt:lpstr>
      <vt:lpstr>Spring Boot Flow Architecture </vt:lpstr>
      <vt:lpstr>Explanation: </vt:lpstr>
      <vt:lpstr>Why to Learn Spring Boot? </vt:lpstr>
      <vt:lpstr>PowerPoint Presentation</vt:lpstr>
      <vt:lpstr>Why Spring Boot? (Need of Spring Boot)</vt:lpstr>
      <vt:lpstr>Applications of Spring Boot </vt:lpstr>
      <vt:lpstr>PowerPoint Presentation</vt:lpstr>
      <vt:lpstr>Position of Spring Boot in Technology Stack</vt:lpstr>
      <vt:lpstr>Where Can We Use Spring Boot?</vt:lpstr>
      <vt:lpstr>What Can We Build Using Spring Boot?</vt:lpstr>
      <vt:lpstr>Spring Boot in Modern Application Development</vt:lpstr>
      <vt:lpstr>Real-World Example</vt:lpstr>
      <vt:lpstr>What is Micro Service? </vt:lpstr>
      <vt:lpstr>Advantages of Microservices </vt:lpstr>
      <vt:lpstr>Some Key Points : </vt:lpstr>
      <vt:lpstr>PowerPoint Presentation</vt:lpstr>
      <vt:lpstr>Traditional Spring vs Spring Boot (Server Aspect)</vt:lpstr>
      <vt:lpstr>Why “Run as → Java Application” in Spring Boot? </vt:lpstr>
      <vt:lpstr>Recall ApplicationContext</vt:lpstr>
      <vt:lpstr>Types of ApplicationContext  </vt:lpstr>
      <vt:lpstr>Traditional Spring / Servlet Project (Comparison)</vt:lpstr>
      <vt:lpstr>Spring Boot Starters </vt:lpstr>
      <vt:lpstr>Examples </vt:lpstr>
      <vt:lpstr>PowerPoint Presentation</vt:lpstr>
      <vt:lpstr>PowerPoint Presentation</vt:lpstr>
      <vt:lpstr>Spring Boot Application </vt:lpstr>
      <vt:lpstr>Observe the following code for a better understanding −</vt:lpstr>
      <vt:lpstr>Ways to Create a Spring Boot Project Structure</vt:lpstr>
      <vt:lpstr>Steps to Create a Spring Boot Application using Spring Initializer </vt:lpstr>
      <vt:lpstr>PowerPoint Presentation</vt:lpstr>
      <vt:lpstr>PowerPoint Presentation</vt:lpstr>
      <vt:lpstr>PowerPoint Presentation</vt:lpstr>
      <vt:lpstr>What Eclipse “Maven Project” gives you ?</vt:lpstr>
      <vt:lpstr>What Spring Initializr gives you (BIG difference)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Kothari</dc:creator>
  <cp:lastModifiedBy>Gaurav Kothari</cp:lastModifiedBy>
  <cp:revision>45</cp:revision>
  <dcterms:created xsi:type="dcterms:W3CDTF">2025-12-15T19:40:36Z</dcterms:created>
  <dcterms:modified xsi:type="dcterms:W3CDTF">2026-01-22T20:04:18Z</dcterms:modified>
</cp:coreProperties>
</file>